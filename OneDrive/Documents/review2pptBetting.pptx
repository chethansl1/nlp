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7" r:id="rId7"/>
    <p:sldId id="268" r:id="rId8"/>
    <p:sldId id="269" r:id="rId9"/>
    <p:sldId id="262" r:id="rId10"/>
    <p:sldId id="263" r:id="rId11"/>
    <p:sldId id="264" r:id="rId12"/>
    <p:sldId id="265" r:id="rId13"/>
    <p:sldId id="266" r:id="rId14"/>
    <p:sldId id="270" r:id="rId15"/>
    <p:sldId id="271" r:id="rId16"/>
    <p:sldId id="272" r:id="rId17"/>
    <p:sldId id="274" r:id="rId18"/>
    <p:sldId id="273" r:id="rId19"/>
    <p:sldId id="275" r:id="rId20"/>
    <p:sldId id="276" r:id="rId21"/>
    <p:sldId id="277" r:id="rId22"/>
  </p:sldIdLst>
  <p:sldSz cx="9144000" cy="6858000" type="screen4x3"/>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89" autoAdjust="0"/>
  </p:normalViewPr>
  <p:slideViewPr>
    <p:cSldViewPr snapToGrid="0">
      <p:cViewPr varScale="1">
        <p:scale>
          <a:sx n="107" d="100"/>
          <a:sy n="107" d="100"/>
        </p:scale>
        <p:origin x="114"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panose="020B0604020202020204"/>
            </a:endParaRPr>
          </a:p>
        </p:txBody>
      </p:sp>
      <p:sp>
        <p:nvSpPr>
          <p:cNvPr id="7"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panose="020B0604020202020204"/>
            </a:endParaRPr>
          </a:p>
        </p:txBody>
      </p:sp>
      <p:sp>
        <p:nvSpPr>
          <p:cNvPr id="9"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IN" sz="3200" b="0" strike="noStrike" spc="-1">
              <a:latin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panose="020B0604020202020204"/>
            </a:endParaRPr>
          </a:p>
        </p:txBody>
      </p:sp>
      <p:sp>
        <p:nvSpPr>
          <p:cNvPr id="11"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IN" sz="3200" b="0" strike="noStrike" spc="-1">
              <a:latin typeface="Arial" panose="020B0604020202020204"/>
            </a:endParaRPr>
          </a:p>
        </p:txBody>
      </p:sp>
      <p:sp>
        <p:nvSpPr>
          <p:cNvPr id="12"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IN" sz="3200" b="0" strike="noStrike" spc="-1">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panose="020B0604020202020204"/>
            </a:endParaRPr>
          </a:p>
        </p:txBody>
      </p:sp>
      <p:sp>
        <p:nvSpPr>
          <p:cNvPr id="16"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17"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IN" sz="3200" b="0" strike="noStrike" spc="-1">
              <a:latin typeface="Arial" panose="020B0604020202020204"/>
            </a:endParaRPr>
          </a:p>
        </p:txBody>
      </p:sp>
      <p:sp>
        <p:nvSpPr>
          <p:cNvPr id="18"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IN" sz="3200" b="0" strike="noStrike" spc="-1">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panose="020B0604020202020204"/>
            </a:endParaRPr>
          </a:p>
        </p:txBody>
      </p:sp>
      <p:sp>
        <p:nvSpPr>
          <p:cNvPr id="20"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IN" sz="3200" b="0" strike="noStrike" spc="-1">
              <a:latin typeface="Arial" panose="020B0604020202020204"/>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22"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IN" sz="3200" b="0" strike="noStrike" spc="-1">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panose="020B0604020202020204"/>
            </a:endParaRPr>
          </a:p>
        </p:txBody>
      </p:sp>
      <p:sp>
        <p:nvSpPr>
          <p:cNvPr id="24"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2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26"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IN" sz="3200" b="0" strike="noStrike" spc="-1">
              <a:latin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panose="020B0604020202020204"/>
            </a:endParaRPr>
          </a:p>
        </p:txBody>
      </p:sp>
      <p:sp>
        <p:nvSpPr>
          <p:cNvPr id="28"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29"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IN" sz="3200" b="0" strike="noStrike" spc="-1">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panose="020B0604020202020204"/>
            </a:endParaRPr>
          </a:p>
        </p:txBody>
      </p:sp>
      <p:sp>
        <p:nvSpPr>
          <p:cNvPr id="31"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3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33"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34"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IN" sz="3200" b="0" strike="noStrike" spc="-1">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panose="020B0604020202020204"/>
            </a:endParaRPr>
          </a:p>
        </p:txBody>
      </p:sp>
      <p:sp>
        <p:nvSpPr>
          <p:cNvPr id="36"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37"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38"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39"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40"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IN" sz="3200" b="0" strike="noStrike" spc="-1">
              <a:latin typeface="Arial" panose="020B0604020202020204"/>
            </a:endParaRPr>
          </a:p>
        </p:txBody>
      </p:sp>
      <p:sp>
        <p:nvSpPr>
          <p:cNvPr id="41"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IN" sz="3200" b="0" strike="noStrike" spc="-1">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CustomShape 1"/>
          <p:cNvSpPr/>
          <p:nvPr/>
        </p:nvSpPr>
        <p:spPr>
          <a:xfrm>
            <a:off x="0" y="639000"/>
            <a:ext cx="9143280" cy="6210000"/>
          </a:xfrm>
          <a:prstGeom prst="rect">
            <a:avLst/>
          </a:prstGeom>
          <a:blipFill rotWithShape="0">
            <a:blip r:embed="rId14"/>
          </a:blipFill>
          <a:effectLst>
            <a:glow>
              <a:schemeClr val="accent1"/>
            </a:glow>
          </a:effectLst>
        </p:spPr>
        <p:style>
          <a:lnRef idx="2">
            <a:schemeClr val="accent1">
              <a:shade val="50000"/>
            </a:schemeClr>
          </a:lnRef>
          <a:fillRef idx="1">
            <a:schemeClr val="accent1"/>
          </a:fillRef>
          <a:effectRef idx="0">
            <a:schemeClr val="accent1"/>
          </a:effectRef>
          <a:fontRef idx="minor"/>
        </p:style>
      </p:sp>
      <p:sp>
        <p:nvSpPr>
          <p:cNvPr id="2" name="CustomShape 2"/>
          <p:cNvSpPr/>
          <p:nvPr/>
        </p:nvSpPr>
        <p:spPr>
          <a:xfrm>
            <a:off x="0" y="-26640"/>
            <a:ext cx="9143280" cy="638640"/>
          </a:xfrm>
          <a:prstGeom prst="rect">
            <a:avLst/>
          </a:prstGeom>
        </p:spPr>
        <p:style>
          <a:lnRef idx="2">
            <a:schemeClr val="accent2"/>
          </a:lnRef>
          <a:fillRef idx="1">
            <a:schemeClr val="lt1"/>
          </a:fillRef>
          <a:effectRef idx="0">
            <a:schemeClr val="accent2"/>
          </a:effectRef>
          <a:fontRef idx="minor"/>
        </p:style>
        <p:txBody>
          <a:bodyPr lIns="90000" tIns="45000" rIns="90000" bIns="45000">
            <a:spAutoFit/>
          </a:bodyPr>
          <a:lstStyle/>
          <a:p>
            <a:pPr algn="ctr">
              <a:lnSpc>
                <a:spcPct val="100000"/>
              </a:lnSpc>
              <a:spcAft>
                <a:spcPts val="200"/>
              </a:spcAft>
            </a:pPr>
            <a:r>
              <a:rPr lang="en-US" sz="3600" b="1" strike="noStrike" spc="-1">
                <a:solidFill>
                  <a:srgbClr val="F10000"/>
                </a:solidFill>
                <a:latin typeface="Lucida Sans" panose="020B0602030504020204"/>
                <a:ea typeface="DejaVu Sans"/>
              </a:rPr>
              <a:t>BMS</a:t>
            </a:r>
            <a:r>
              <a:rPr lang="en-US" sz="2700" b="1" strike="noStrike" spc="-1">
                <a:solidFill>
                  <a:srgbClr val="F10000"/>
                </a:solidFill>
                <a:latin typeface="Lucida Sans" panose="020B0602030504020204"/>
                <a:ea typeface="DejaVu Sans"/>
              </a:rPr>
              <a:t> </a:t>
            </a:r>
            <a:r>
              <a:rPr lang="en-US" sz="2000" b="1" strike="noStrike" spc="-1">
                <a:solidFill>
                  <a:srgbClr val="001E5A"/>
                </a:solidFill>
                <a:latin typeface="Lucida Sans" panose="020B0602030504020204"/>
                <a:ea typeface="DejaVu Sans"/>
              </a:rPr>
              <a:t>INSTITUTE OF TECHNOLOGY AND MANAGEMENT</a:t>
            </a:r>
            <a:endParaRPr lang="en-IN" sz="2000" b="0" strike="noStrike" spc="-1">
              <a:latin typeface="Arial" panose="020B0604020202020204"/>
            </a:endParaRPr>
          </a:p>
        </p:txBody>
      </p:sp>
      <p:pic>
        <p:nvPicPr>
          <p:cNvPr id="3" name="Picture 9" descr="C:\Users\Placement\Downloads\Logos\BMSIT LOGO Sept 2015.jpg"/>
          <p:cNvPicPr/>
          <p:nvPr/>
        </p:nvPicPr>
        <p:blipFill>
          <a:blip r:embed="rId15"/>
          <a:stretch>
            <a:fillRect/>
          </a:stretch>
        </p:blipFill>
        <p:spPr>
          <a:xfrm>
            <a:off x="139320" y="17640"/>
            <a:ext cx="627480" cy="578880"/>
          </a:xfrm>
          <a:prstGeom prst="rect">
            <a:avLst/>
          </a:prstGeom>
          <a:ln>
            <a:noFill/>
          </a:ln>
        </p:spPr>
      </p:pic>
      <p:pic>
        <p:nvPicPr>
          <p:cNvPr id="4" name="Picture 3" descr="Image result for india"/>
          <p:cNvPicPr/>
          <p:nvPr/>
        </p:nvPicPr>
        <p:blipFill>
          <a:blip r:embed="rId16"/>
          <a:srcRect l="19689" r="16352" b="17185"/>
          <a:stretch>
            <a:fillRect/>
          </a:stretch>
        </p:blipFill>
        <p:spPr>
          <a:xfrm>
            <a:off x="8503560" y="104040"/>
            <a:ext cx="460800" cy="488520"/>
          </a:xfrm>
          <a:prstGeom prst="rect">
            <a:avLst/>
          </a:prstGeom>
          <a:ln>
            <a:noFill/>
          </a:ln>
        </p:spPr>
      </p:pic>
      <p:sp>
        <p:nvSpPr>
          <p:cNvPr id="5" name="PlaceHolder 3"/>
          <p:cNvSpPr>
            <a:spLocks noGrp="1"/>
          </p:cNvSpPr>
          <p:nvPr>
            <p:ph type="title"/>
          </p:nvPr>
        </p:nvSpPr>
        <p:spPr>
          <a:xfrm>
            <a:off x="457200" y="273600"/>
            <a:ext cx="8229240" cy="1144800"/>
          </a:xfrm>
          <a:prstGeom prst="rect">
            <a:avLst/>
          </a:prstGeom>
        </p:spPr>
        <p:txBody>
          <a:bodyPr lIns="0" tIns="0" rIns="0" bIns="0" anchor="ctr">
            <a:noAutofit/>
          </a:bodyPr>
          <a:lstStyle/>
          <a:p>
            <a:pPr algn="ctr"/>
            <a:r>
              <a:rPr lang="en-IN" sz="4400" b="0" strike="noStrike" spc="-1">
                <a:latin typeface="Arial" panose="020B0604020202020204"/>
              </a:rPr>
              <a:t>Click to edit the title text format</a:t>
            </a:r>
          </a:p>
        </p:txBody>
      </p:sp>
      <p:sp>
        <p:nvSpPr>
          <p:cNvPr id="6" name="PlaceHolder 4"/>
          <p:cNvSpPr>
            <a:spLocks noGrp="1"/>
          </p:cNvSpPr>
          <p:nvPr>
            <p:ph type="body"/>
          </p:nvPr>
        </p:nvSpPr>
        <p:spPr>
          <a:xfrm>
            <a:off x="457200" y="1604520"/>
            <a:ext cx="82292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en-IN" sz="3200" b="0" strike="noStrike" spc="-1">
                <a:latin typeface="Arial" panose="020B0604020202020204"/>
              </a:rPr>
              <a:t>Click to edit the outline text format</a:t>
            </a:r>
          </a:p>
          <a:p>
            <a:pPr marL="864235" lvl="1" indent="-323850">
              <a:spcBef>
                <a:spcPts val="1135"/>
              </a:spcBef>
              <a:buClr>
                <a:srgbClr val="000000"/>
              </a:buClr>
              <a:buSzPct val="75000"/>
              <a:buFont typeface="Symbol" panose="05050102010706020507" charset="2"/>
              <a:buChar char=""/>
            </a:pPr>
            <a:r>
              <a:rPr lang="en-IN" sz="2800" b="0" strike="noStrike" spc="-1">
                <a:latin typeface="Arial" panose="020B0604020202020204"/>
              </a:rPr>
              <a:t>Second Outline Level</a:t>
            </a:r>
          </a:p>
          <a:p>
            <a:pPr marL="1296035" lvl="2" indent="-288290">
              <a:spcBef>
                <a:spcPts val="850"/>
              </a:spcBef>
              <a:buClr>
                <a:srgbClr val="000000"/>
              </a:buClr>
              <a:buSzPct val="45000"/>
              <a:buFont typeface="Wingdings" panose="05000000000000000000" pitchFamily="2" charset="2"/>
              <a:buChar char=""/>
            </a:pPr>
            <a:r>
              <a:rPr lang="en-IN" sz="2400" b="0" strike="noStrike" spc="-1">
                <a:latin typeface="Arial" panose="020B0604020202020204"/>
              </a:rPr>
              <a:t>Third Outline Level</a:t>
            </a:r>
          </a:p>
          <a:p>
            <a:pPr marL="1727835" lvl="3" indent="-215900">
              <a:spcBef>
                <a:spcPts val="565"/>
              </a:spcBef>
              <a:buClr>
                <a:srgbClr val="000000"/>
              </a:buClr>
              <a:buSzPct val="75000"/>
              <a:buFont typeface="Symbol" panose="05050102010706020507" charset="2"/>
              <a:buChar char=""/>
            </a:pPr>
            <a:r>
              <a:rPr lang="en-IN" sz="2000" b="0" strike="noStrike" spc="-1">
                <a:latin typeface="Arial" panose="020B0604020202020204"/>
              </a:rPr>
              <a:t>Fourth Outline Level</a:t>
            </a:r>
          </a:p>
          <a:p>
            <a:pPr marL="2160270" lvl="4"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Fifth Outline Level</a:t>
            </a:r>
          </a:p>
          <a:p>
            <a:pPr marL="2592070" lvl="5"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Sixth Outline Level</a:t>
            </a:r>
          </a:p>
          <a:p>
            <a:pPr marL="3023870" lvl="6" indent="-215900">
              <a:spcBef>
                <a:spcPts val="285"/>
              </a:spcBef>
              <a:buClr>
                <a:srgbClr val="000000"/>
              </a:buClr>
              <a:buSzPct val="45000"/>
              <a:buFont typeface="Wingdings" panose="05000000000000000000" pitchFamily="2" charset="2"/>
              <a:buChar char=""/>
            </a:pPr>
            <a:r>
              <a:rPr lang="en-IN" sz="2000" b="0" strike="noStrike" spc="-1">
                <a:latin typeface="Arial" panose="020B06040202020202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CD6AF0BD-047D-4BF1-893C-FA5F6A3F923D}"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43"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1A8AC5DD-DFBD-4E32-9511-FDF0621C6B2B}" type="slidenum">
              <a:rPr lang="en-IN" sz="900" b="0" strike="noStrike" spc="-1">
                <a:solidFill>
                  <a:srgbClr val="8B8B8B"/>
                </a:solidFill>
                <a:latin typeface="Calibri" panose="020F0502020204030204"/>
              </a:rPr>
              <a:t>1</a:t>
            </a:fld>
            <a:endParaRPr lang="en-IN" sz="900" b="0" strike="noStrike" spc="-1">
              <a:latin typeface="Arial" panose="020B0604020202020204"/>
            </a:endParaRPr>
          </a:p>
        </p:txBody>
      </p:sp>
      <p:sp>
        <p:nvSpPr>
          <p:cNvPr id="44" name="CustomShape 3"/>
          <p:cNvSpPr/>
          <p:nvPr/>
        </p:nvSpPr>
        <p:spPr>
          <a:xfrm>
            <a:off x="398844" y="3218265"/>
            <a:ext cx="8322120" cy="3322533"/>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pPr>
            <a:r>
              <a:rPr lang="en-US" sz="1800" b="1" strike="noStrike" spc="-1" dirty="0">
                <a:solidFill>
                  <a:srgbClr val="000000"/>
                </a:solidFill>
                <a:latin typeface="Open Sans"/>
                <a:ea typeface="Open Sans"/>
              </a:rPr>
              <a:t>Presented By</a:t>
            </a:r>
            <a:endParaRPr lang="en-IN" sz="1800" b="0" strike="noStrike" spc="-1" dirty="0">
              <a:latin typeface="Arial" panose="020B0604020202020204"/>
            </a:endParaRPr>
          </a:p>
          <a:p>
            <a:pPr algn="ctr">
              <a:lnSpc>
                <a:spcPct val="100000"/>
              </a:lnSpc>
            </a:pPr>
            <a:endParaRPr lang="en-IN" sz="1800" b="0" strike="noStrike" spc="-1" dirty="0">
              <a:latin typeface="Arial" panose="020B0604020202020204"/>
            </a:endParaRPr>
          </a:p>
          <a:p>
            <a:pPr algn="ctr">
              <a:lnSpc>
                <a:spcPct val="100000"/>
              </a:lnSpc>
            </a:pPr>
            <a:r>
              <a:rPr lang="en-US" sz="1800" b="1" strike="noStrike" spc="-1" dirty="0">
                <a:solidFill>
                  <a:srgbClr val="000000"/>
                </a:solidFill>
                <a:latin typeface="Open Sans"/>
                <a:ea typeface="Open Sans"/>
              </a:rPr>
              <a:t> </a:t>
            </a:r>
            <a:r>
              <a:rPr lang="en-US" sz="1800" b="1" strike="noStrike" spc="-1" dirty="0" smtClean="0">
                <a:solidFill>
                  <a:srgbClr val="000000"/>
                </a:solidFill>
                <a:latin typeface="Open Sans"/>
                <a:ea typeface="Open Sans"/>
              </a:rPr>
              <a:t> </a:t>
            </a:r>
            <a:r>
              <a:rPr lang="en-US" sz="1800" b="1" strike="noStrike" spc="-1" dirty="0">
                <a:solidFill>
                  <a:srgbClr val="000000"/>
                </a:solidFill>
                <a:latin typeface="Open Sans"/>
                <a:ea typeface="Open Sans"/>
              </a:rPr>
              <a:t>Mr. </a:t>
            </a:r>
            <a:r>
              <a:rPr lang="en-US" b="1" spc="-1" dirty="0" smtClean="0">
                <a:solidFill>
                  <a:srgbClr val="000000"/>
                </a:solidFill>
                <a:latin typeface="Open Sans"/>
                <a:ea typeface="Open Sans"/>
              </a:rPr>
              <a:t>Aditya P </a:t>
            </a:r>
            <a:r>
              <a:rPr lang="en-US" b="1" spc="-1" dirty="0" err="1" smtClean="0">
                <a:solidFill>
                  <a:srgbClr val="000000"/>
                </a:solidFill>
                <a:latin typeface="Open Sans"/>
                <a:ea typeface="Open Sans"/>
              </a:rPr>
              <a:t>karchi</a:t>
            </a:r>
            <a:r>
              <a:rPr lang="en-US" sz="1800" b="1" strike="noStrike" spc="-1" dirty="0">
                <a:solidFill>
                  <a:srgbClr val="000000"/>
                </a:solidFill>
                <a:latin typeface="Open Sans"/>
                <a:ea typeface="Open Sans"/>
              </a:rPr>
              <a:t>	              	                  </a:t>
            </a:r>
            <a:r>
              <a:rPr lang="en-US" sz="1800" b="1" strike="noStrike" spc="-1" dirty="0" smtClean="0">
                <a:solidFill>
                  <a:srgbClr val="000000"/>
                </a:solidFill>
                <a:latin typeface="Open Sans"/>
                <a:ea typeface="Open Sans"/>
              </a:rPr>
              <a:t>USN</a:t>
            </a:r>
            <a:r>
              <a:rPr lang="en-US" sz="1800" b="1" strike="noStrike" spc="-1" dirty="0">
                <a:solidFill>
                  <a:srgbClr val="000000"/>
                </a:solidFill>
                <a:latin typeface="Open Sans"/>
                <a:ea typeface="Open Sans"/>
              </a:rPr>
              <a:t>: </a:t>
            </a:r>
            <a:r>
              <a:rPr lang="en-US" sz="1800" b="1" strike="noStrike" spc="-1" dirty="0" smtClean="0">
                <a:solidFill>
                  <a:srgbClr val="000000"/>
                </a:solidFill>
                <a:latin typeface="Open Sans"/>
                <a:ea typeface="Open Sans"/>
              </a:rPr>
              <a:t>1BY23AI010</a:t>
            </a:r>
            <a:endParaRPr lang="en-IN" sz="1800" b="0" strike="noStrike" spc="-1" dirty="0">
              <a:latin typeface="Arial" panose="020B0604020202020204"/>
            </a:endParaRPr>
          </a:p>
          <a:p>
            <a:pPr algn="ctr">
              <a:lnSpc>
                <a:spcPct val="100000"/>
              </a:lnSpc>
            </a:pPr>
            <a:r>
              <a:rPr lang="en-US" sz="1800" b="1" strike="noStrike" spc="-1" dirty="0">
                <a:solidFill>
                  <a:srgbClr val="000000"/>
                </a:solidFill>
                <a:latin typeface="Open Sans"/>
                <a:ea typeface="Open Sans"/>
              </a:rPr>
              <a:t> </a:t>
            </a:r>
            <a:r>
              <a:rPr lang="en-US" sz="1800" b="1" strike="noStrike" spc="-1" dirty="0" smtClean="0">
                <a:solidFill>
                  <a:srgbClr val="000000"/>
                </a:solidFill>
                <a:latin typeface="Open Sans"/>
                <a:ea typeface="Open Sans"/>
              </a:rPr>
              <a:t>Mr</a:t>
            </a:r>
            <a:r>
              <a:rPr lang="en-US" sz="1800" b="1" strike="noStrike" spc="-1" dirty="0">
                <a:solidFill>
                  <a:srgbClr val="000000"/>
                </a:solidFill>
                <a:latin typeface="Open Sans"/>
                <a:ea typeface="Open Sans"/>
              </a:rPr>
              <a:t>. </a:t>
            </a:r>
            <a:r>
              <a:rPr lang="en-US" sz="1800" b="1" strike="noStrike" spc="-1" dirty="0" smtClean="0">
                <a:solidFill>
                  <a:srgbClr val="000000"/>
                </a:solidFill>
                <a:latin typeface="Open Sans"/>
                <a:ea typeface="Open Sans"/>
              </a:rPr>
              <a:t>B </a:t>
            </a:r>
            <a:r>
              <a:rPr lang="en-US" sz="1800" b="1" strike="noStrike" spc="-1" dirty="0" err="1" smtClean="0">
                <a:solidFill>
                  <a:srgbClr val="000000"/>
                </a:solidFill>
                <a:latin typeface="Open Sans"/>
                <a:ea typeface="Open Sans"/>
              </a:rPr>
              <a:t>Sudharshan</a:t>
            </a:r>
            <a:r>
              <a:rPr lang="en-US" sz="1800" b="1" strike="noStrike" spc="-1" dirty="0" smtClean="0">
                <a:solidFill>
                  <a:srgbClr val="000000"/>
                </a:solidFill>
                <a:latin typeface="Open Sans"/>
                <a:ea typeface="Open Sans"/>
              </a:rPr>
              <a:t>    </a:t>
            </a:r>
            <a:r>
              <a:rPr lang="en-US" sz="1800" b="1" strike="noStrike" spc="-1" dirty="0">
                <a:solidFill>
                  <a:srgbClr val="000000"/>
                </a:solidFill>
                <a:latin typeface="Open Sans"/>
                <a:ea typeface="Open Sans"/>
              </a:rPr>
              <a:t>		                  </a:t>
            </a:r>
            <a:r>
              <a:rPr lang="en-US" sz="1800" b="1" strike="noStrike" spc="-1" dirty="0" smtClean="0">
                <a:solidFill>
                  <a:srgbClr val="000000"/>
                </a:solidFill>
                <a:latin typeface="Open Sans"/>
                <a:ea typeface="Open Sans"/>
              </a:rPr>
              <a:t>USN</a:t>
            </a:r>
            <a:r>
              <a:rPr lang="en-US" sz="1800" b="1" strike="noStrike" spc="-1" dirty="0">
                <a:solidFill>
                  <a:srgbClr val="000000"/>
                </a:solidFill>
                <a:latin typeface="Open Sans"/>
                <a:ea typeface="Open Sans"/>
              </a:rPr>
              <a:t>: </a:t>
            </a:r>
            <a:r>
              <a:rPr lang="en-US" sz="1800" b="1" strike="noStrike" spc="-1" dirty="0" smtClean="0">
                <a:solidFill>
                  <a:srgbClr val="000000"/>
                </a:solidFill>
                <a:latin typeface="Open Sans"/>
                <a:ea typeface="Open Sans"/>
              </a:rPr>
              <a:t>1BY23AI025</a:t>
            </a:r>
            <a:endParaRPr lang="en-IN" spc="-1" dirty="0">
              <a:latin typeface="Arial" panose="020B0604020202020204"/>
            </a:endParaRPr>
          </a:p>
          <a:p>
            <a:pPr algn="ctr">
              <a:lnSpc>
                <a:spcPct val="100000"/>
              </a:lnSpc>
            </a:pPr>
            <a:r>
              <a:rPr lang="en-US" sz="1800" b="1" strike="noStrike" spc="-1" dirty="0" smtClean="0">
                <a:solidFill>
                  <a:srgbClr val="000000"/>
                </a:solidFill>
                <a:latin typeface="Open Sans"/>
                <a:ea typeface="Open Sans"/>
              </a:rPr>
              <a:t> </a:t>
            </a:r>
            <a:r>
              <a:rPr lang="en-US" sz="1800" b="1" strike="noStrike" spc="-1" dirty="0">
                <a:solidFill>
                  <a:srgbClr val="000000"/>
                </a:solidFill>
                <a:latin typeface="Open Sans"/>
                <a:ea typeface="Open Sans"/>
              </a:rPr>
              <a:t>Mr. </a:t>
            </a:r>
            <a:r>
              <a:rPr lang="en-US" b="1" spc="-1" dirty="0" smtClean="0">
                <a:solidFill>
                  <a:srgbClr val="000000"/>
                </a:solidFill>
                <a:latin typeface="Open Sans"/>
                <a:ea typeface="Open Sans"/>
              </a:rPr>
              <a:t>C R </a:t>
            </a:r>
            <a:r>
              <a:rPr lang="en-US" b="1" spc="-1" dirty="0" err="1" smtClean="0">
                <a:solidFill>
                  <a:srgbClr val="000000"/>
                </a:solidFill>
                <a:latin typeface="Open Sans"/>
                <a:ea typeface="Open Sans"/>
              </a:rPr>
              <a:t>Tarun</a:t>
            </a:r>
            <a:r>
              <a:rPr lang="en-US" sz="1800" b="1" strike="noStrike" spc="-1" dirty="0" smtClean="0">
                <a:solidFill>
                  <a:srgbClr val="000000"/>
                </a:solidFill>
                <a:latin typeface="Open Sans"/>
                <a:ea typeface="Open Sans"/>
              </a:rPr>
              <a:t>                      </a:t>
            </a:r>
            <a:r>
              <a:rPr lang="en-US" sz="1800" b="1" strike="noStrike" spc="-1" dirty="0">
                <a:solidFill>
                  <a:srgbClr val="000000"/>
                </a:solidFill>
                <a:latin typeface="Open Sans"/>
                <a:ea typeface="Open Sans"/>
              </a:rPr>
              <a:t>	              </a:t>
            </a:r>
            <a:r>
              <a:rPr lang="en-US" sz="1800" b="1" strike="noStrike" spc="-1" dirty="0" smtClean="0">
                <a:solidFill>
                  <a:srgbClr val="000000"/>
                </a:solidFill>
                <a:latin typeface="Open Sans"/>
                <a:ea typeface="Open Sans"/>
              </a:rPr>
              <a:t>    USN</a:t>
            </a:r>
            <a:r>
              <a:rPr lang="en-US" sz="1800" b="1" strike="noStrike" spc="-1" dirty="0">
                <a:solidFill>
                  <a:srgbClr val="000000"/>
                </a:solidFill>
                <a:latin typeface="Open Sans"/>
                <a:ea typeface="Open Sans"/>
              </a:rPr>
              <a:t>: </a:t>
            </a:r>
            <a:r>
              <a:rPr lang="en-US" sz="1800" b="1" strike="noStrike" spc="-1" dirty="0" smtClean="0">
                <a:solidFill>
                  <a:srgbClr val="000000"/>
                </a:solidFill>
                <a:latin typeface="Open Sans"/>
                <a:ea typeface="Open Sans"/>
              </a:rPr>
              <a:t>1BY23AI034</a:t>
            </a:r>
          </a:p>
          <a:p>
            <a:pPr algn="ctr">
              <a:lnSpc>
                <a:spcPct val="100000"/>
              </a:lnSpc>
            </a:pPr>
            <a:r>
              <a:rPr lang="en-US" b="1" spc="-1" dirty="0">
                <a:solidFill>
                  <a:srgbClr val="000000"/>
                </a:solidFill>
                <a:latin typeface="Open Sans"/>
                <a:ea typeface="Open Sans"/>
              </a:rPr>
              <a:t> Mr. </a:t>
            </a:r>
            <a:r>
              <a:rPr lang="en-US" b="1" spc="-1" dirty="0" err="1" smtClean="0">
                <a:solidFill>
                  <a:srgbClr val="000000"/>
                </a:solidFill>
                <a:latin typeface="Open Sans"/>
                <a:ea typeface="Open Sans"/>
              </a:rPr>
              <a:t>Chethan</a:t>
            </a:r>
            <a:r>
              <a:rPr lang="en-US" b="1" spc="-1" dirty="0" smtClean="0">
                <a:solidFill>
                  <a:srgbClr val="000000"/>
                </a:solidFill>
                <a:latin typeface="Open Sans"/>
                <a:ea typeface="Open Sans"/>
              </a:rPr>
              <a:t> S L                 </a:t>
            </a:r>
            <a:r>
              <a:rPr lang="en-US" b="1" spc="-1" dirty="0">
                <a:solidFill>
                  <a:srgbClr val="000000"/>
                </a:solidFill>
                <a:latin typeface="Open Sans"/>
                <a:ea typeface="Open Sans"/>
              </a:rPr>
              <a:t>	               </a:t>
            </a:r>
            <a:r>
              <a:rPr lang="en-US" b="1" spc="-1" dirty="0" smtClean="0">
                <a:solidFill>
                  <a:srgbClr val="000000"/>
                </a:solidFill>
                <a:latin typeface="Open Sans"/>
                <a:ea typeface="Open Sans"/>
              </a:rPr>
              <a:t>   </a:t>
            </a:r>
            <a:r>
              <a:rPr lang="en-US" b="1" spc="-1" dirty="0">
                <a:solidFill>
                  <a:srgbClr val="000000"/>
                </a:solidFill>
                <a:latin typeface="Open Sans"/>
                <a:ea typeface="Open Sans"/>
              </a:rPr>
              <a:t>USN: </a:t>
            </a:r>
            <a:r>
              <a:rPr lang="en-US" b="1" spc="-1" dirty="0" smtClean="0">
                <a:solidFill>
                  <a:srgbClr val="000000"/>
                </a:solidFill>
                <a:latin typeface="Open Sans"/>
                <a:ea typeface="Open Sans"/>
              </a:rPr>
              <a:t>1BY23AI037</a:t>
            </a:r>
            <a:endParaRPr lang="en-IN" sz="1800" b="0" strike="noStrike" spc="-1" dirty="0">
              <a:latin typeface="Arial" panose="020B0604020202020204"/>
            </a:endParaRPr>
          </a:p>
          <a:p>
            <a:pPr algn="ctr">
              <a:lnSpc>
                <a:spcPct val="100000"/>
              </a:lnSpc>
            </a:pPr>
            <a:r>
              <a:rPr lang="en-US" sz="1800" b="1" strike="noStrike" spc="-1" dirty="0">
                <a:solidFill>
                  <a:srgbClr val="000000"/>
                </a:solidFill>
                <a:latin typeface="Open Sans"/>
                <a:ea typeface="Open Sans"/>
              </a:rPr>
              <a:t> </a:t>
            </a:r>
            <a:endParaRPr lang="en-IN" sz="1800" b="0" strike="noStrike" spc="-1" dirty="0">
              <a:latin typeface="Arial" panose="020B0604020202020204"/>
            </a:endParaRPr>
          </a:p>
          <a:p>
            <a:pPr algn="ctr">
              <a:lnSpc>
                <a:spcPct val="100000"/>
              </a:lnSpc>
            </a:pPr>
            <a:r>
              <a:rPr lang="en-US" sz="2800" b="0" strike="noStrike" spc="-1" dirty="0">
                <a:solidFill>
                  <a:srgbClr val="000000"/>
                </a:solidFill>
                <a:latin typeface="Open Sans"/>
                <a:ea typeface="Open Sans"/>
              </a:rPr>
              <a:t>Under the guidance of</a:t>
            </a:r>
            <a:endParaRPr lang="en-IN" sz="2800" b="0" strike="noStrike" spc="-1" dirty="0">
              <a:latin typeface="Arial" panose="020B0604020202020204"/>
            </a:endParaRPr>
          </a:p>
          <a:p>
            <a:pPr algn="ctr">
              <a:lnSpc>
                <a:spcPct val="100000"/>
              </a:lnSpc>
            </a:pPr>
            <a:r>
              <a:rPr lang="en-US" sz="2800" b="1" strike="noStrike" spc="-1" dirty="0" smtClean="0">
                <a:solidFill>
                  <a:srgbClr val="C55A11"/>
                </a:solidFill>
                <a:latin typeface="Open Sans"/>
                <a:ea typeface="Open Sans"/>
              </a:rPr>
              <a:t>Dr. </a:t>
            </a:r>
            <a:r>
              <a:rPr lang="en-US" sz="2800" b="1" strike="noStrike" spc="-1" dirty="0" err="1" smtClean="0">
                <a:solidFill>
                  <a:srgbClr val="C55A11"/>
                </a:solidFill>
                <a:latin typeface="Open Sans"/>
                <a:ea typeface="Open Sans"/>
              </a:rPr>
              <a:t>Manoj</a:t>
            </a:r>
            <a:r>
              <a:rPr lang="en-US" sz="2800" b="1" strike="noStrike" spc="-1" dirty="0" smtClean="0">
                <a:solidFill>
                  <a:srgbClr val="C55A11"/>
                </a:solidFill>
                <a:latin typeface="Open Sans"/>
                <a:ea typeface="Open Sans"/>
              </a:rPr>
              <a:t> H M</a:t>
            </a:r>
            <a:endParaRPr lang="en-IN" sz="2800" b="0" strike="noStrike" spc="-1" dirty="0">
              <a:latin typeface="Arial" panose="020B0604020202020204"/>
            </a:endParaRPr>
          </a:p>
          <a:p>
            <a:pPr algn="ctr">
              <a:lnSpc>
                <a:spcPct val="100000"/>
              </a:lnSpc>
            </a:pPr>
            <a:r>
              <a:rPr lang="en-US" sz="2800" b="0" strike="noStrike" spc="-1" dirty="0" smtClean="0">
                <a:solidFill>
                  <a:srgbClr val="000000"/>
                </a:solidFill>
                <a:latin typeface="Open Sans"/>
                <a:ea typeface="Open Sans"/>
              </a:rPr>
              <a:t>Associate Professor</a:t>
            </a:r>
            <a:endParaRPr lang="en-IN" sz="2800" b="0" strike="noStrike" spc="-1" dirty="0">
              <a:latin typeface="Arial" panose="020B0604020202020204"/>
            </a:endParaRPr>
          </a:p>
        </p:txBody>
      </p:sp>
      <p:sp>
        <p:nvSpPr>
          <p:cNvPr id="45" name="CustomShape 4"/>
          <p:cNvSpPr/>
          <p:nvPr/>
        </p:nvSpPr>
        <p:spPr>
          <a:xfrm>
            <a:off x="990720" y="897480"/>
            <a:ext cx="7458480" cy="2399203"/>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pPr>
            <a:r>
              <a:rPr lang="en-IN" sz="3200" b="0" strike="noStrike" spc="-1" dirty="0">
                <a:solidFill>
                  <a:srgbClr val="FF0000"/>
                </a:solidFill>
                <a:latin typeface="Open Sans"/>
                <a:ea typeface="Open Sans"/>
              </a:rPr>
              <a:t>Mini Project Presentation Review – 02</a:t>
            </a:r>
            <a:endParaRPr lang="en-IN" sz="3200" b="0" strike="noStrike" spc="-1" dirty="0">
              <a:latin typeface="Arial" panose="020B0604020202020204"/>
            </a:endParaRPr>
          </a:p>
          <a:p>
            <a:pPr algn="ctr">
              <a:lnSpc>
                <a:spcPct val="100000"/>
              </a:lnSpc>
            </a:pPr>
            <a:endParaRPr lang="en-IN" sz="4000" b="0" strike="noStrike" spc="-1" dirty="0">
              <a:latin typeface="Arial" panose="020B0604020202020204"/>
            </a:endParaRPr>
          </a:p>
          <a:p>
            <a:pPr algn="ctr">
              <a:lnSpc>
                <a:spcPct val="100000"/>
              </a:lnSpc>
            </a:pPr>
            <a:r>
              <a:rPr lang="en-IN" sz="2400" b="0" strike="noStrike" spc="-1" dirty="0" smtClean="0">
                <a:solidFill>
                  <a:srgbClr val="385623"/>
                </a:solidFill>
                <a:latin typeface="Open Sans"/>
                <a:ea typeface="Open Sans"/>
              </a:rPr>
              <a:t> </a:t>
            </a:r>
            <a:r>
              <a:rPr lang="en-US" b="1" dirty="0">
                <a:latin typeface="Times New Roman" panose="02020603050405020304" pitchFamily="18" charset="0"/>
                <a:cs typeface="Times New Roman" panose="02020603050405020304" pitchFamily="18" charset="0"/>
              </a:rPr>
              <a:t>UNVEILING THE ECONOMIC AND ADDICTIVE TRAPS OF MANIPULATED ODDS IN INDIA'S ONLINE BETTING LANDSCAPE</a:t>
            </a:r>
            <a:endParaRPr lang="en-IN" sz="4000" b="0" strike="noStrike" spc="-1" dirty="0">
              <a:latin typeface="Times New Roman" panose="02020603050405020304" pitchFamily="18" charset="0"/>
              <a:cs typeface="Times New Roman" panose="02020603050405020304" pitchFamily="18" charset="0"/>
            </a:endParaRPr>
          </a:p>
          <a:p>
            <a:pPr>
              <a:lnSpc>
                <a:spcPct val="100000"/>
              </a:lnSpc>
            </a:pPr>
            <a:endParaRPr lang="en-IN" sz="3600" b="0" strike="noStrike" spc="-1" dirty="0">
              <a:latin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71F52202-04B3-4262-BA5C-6E33FEB1747B}"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47"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28882536-0609-4C67-92DD-F73D0B4AECF2}" type="slidenum">
              <a:rPr lang="en-IN" sz="900" b="0" strike="noStrike" spc="-1">
                <a:solidFill>
                  <a:srgbClr val="8B8B8B"/>
                </a:solidFill>
                <a:latin typeface="Calibri" panose="020F0502020204030204"/>
              </a:rPr>
              <a:t>2</a:t>
            </a:fld>
            <a:endParaRPr lang="en-IN" sz="900" b="0" strike="noStrike" spc="-1">
              <a:latin typeface="Arial" panose="020B0604020202020204"/>
            </a:endParaRPr>
          </a:p>
        </p:txBody>
      </p:sp>
      <p:sp>
        <p:nvSpPr>
          <p:cNvPr id="48" name="CustomShape 3"/>
          <p:cNvSpPr/>
          <p:nvPr/>
        </p:nvSpPr>
        <p:spPr>
          <a:xfrm>
            <a:off x="2395440" y="862920"/>
            <a:ext cx="3798720" cy="4885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gn="ctr">
              <a:lnSpc>
                <a:spcPct val="90000"/>
              </a:lnSpc>
            </a:pPr>
            <a:r>
              <a:rPr lang="en-US" sz="4400" b="1" strike="noStrike" spc="-1" dirty="0">
                <a:solidFill>
                  <a:srgbClr val="5092CF"/>
                </a:solidFill>
                <a:latin typeface="Open Sans"/>
                <a:ea typeface="Open Sans"/>
              </a:rPr>
              <a:t>Content</a:t>
            </a:r>
            <a:r>
              <a:rPr lang="en-US" sz="4400" b="1" strike="noStrike" spc="-1" dirty="0">
                <a:solidFill>
                  <a:srgbClr val="F10000"/>
                </a:solidFill>
                <a:latin typeface="Cambria" panose="02040503050406030204"/>
                <a:ea typeface="Open Sans"/>
              </a:rPr>
              <a:t> </a:t>
            </a:r>
            <a:endParaRPr lang="en-IN" sz="4400" b="0" strike="noStrike" spc="-1" dirty="0">
              <a:latin typeface="Arial" panose="020B0604020202020204"/>
            </a:endParaRPr>
          </a:p>
        </p:txBody>
      </p:sp>
      <p:sp>
        <p:nvSpPr>
          <p:cNvPr id="49" name="CustomShape 4"/>
          <p:cNvSpPr/>
          <p:nvPr/>
        </p:nvSpPr>
        <p:spPr>
          <a:xfrm>
            <a:off x="900720" y="1995120"/>
            <a:ext cx="7217640" cy="396684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pP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Introduction</a:t>
            </a: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Problem Statement</a:t>
            </a: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Objectives</a:t>
            </a: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Existing System :Literature Survey</a:t>
            </a: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System Architecture:</a:t>
            </a: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Methodology :</a:t>
            </a: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Tools and Technologies System Requirement Specifications </a:t>
            </a: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Results/Outcome of the project </a:t>
            </a: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Applications of the Project</a:t>
            </a: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Conclusion </a:t>
            </a:r>
            <a:endParaRPr lang="en-IN" sz="1800" b="0" strike="noStrike" spc="-1" dirty="0">
              <a:latin typeface="Arial" panose="020B0604020202020204"/>
            </a:endParaRPr>
          </a:p>
          <a:p>
            <a:pPr marL="717550" lvl="2" indent="-285750">
              <a:lnSpc>
                <a:spcPct val="100000"/>
              </a:lnSpc>
              <a:buClr>
                <a:srgbClr val="000000"/>
              </a:buClr>
              <a:buSzPct val="45000"/>
              <a:buFont typeface="Wingdings" panose="05000000000000000000" pitchFamily="2" charset="2"/>
              <a:buChar char="Ø"/>
            </a:pPr>
            <a:r>
              <a:rPr lang="en-US" sz="1800" b="1" strike="noStrike" spc="-1" dirty="0">
                <a:solidFill>
                  <a:srgbClr val="000000"/>
                </a:solidFill>
                <a:latin typeface="Calibri" panose="020F0502020204030204"/>
                <a:ea typeface="DejaVu Sans"/>
              </a:rPr>
              <a:t>References : (IEEE format)</a:t>
            </a:r>
            <a:endParaRPr lang="en-IN" sz="1800" b="0" strike="noStrike" spc="-1" dirty="0">
              <a:latin typeface="Arial" panose="020B0604020202020204"/>
            </a:endParaRPr>
          </a:p>
          <a:p>
            <a:pPr marL="285750" indent="-285750">
              <a:lnSpc>
                <a:spcPct val="100000"/>
              </a:lnSpc>
              <a:buFont typeface="Wingdings" panose="05000000000000000000" pitchFamily="2" charset="2"/>
              <a:buChar char="Ø"/>
            </a:pPr>
            <a:endParaRPr lang="en-IN" sz="1800" b="0" strike="noStrike" spc="-1" dirty="0">
              <a:latin typeface="Arial" panose="020B0604020202020204"/>
            </a:endParaRPr>
          </a:p>
          <a:p>
            <a:pPr>
              <a:lnSpc>
                <a:spcPct val="100000"/>
              </a:lnSpc>
            </a:pPr>
            <a:endParaRPr lang="en-IN" sz="1800" b="0" strike="noStrike" spc="-1" dirty="0">
              <a:latin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3</a:t>
            </a:fld>
            <a:endParaRPr lang="en-IN" sz="900" b="0" strike="noStrike" spc="-1">
              <a:latin typeface="Arial" panose="020B0604020202020204"/>
            </a:endParaRPr>
          </a:p>
        </p:txBody>
      </p:sp>
      <p:sp>
        <p:nvSpPr>
          <p:cNvPr id="2" name="Rectangle 1"/>
          <p:cNvSpPr/>
          <p:nvPr/>
        </p:nvSpPr>
        <p:spPr>
          <a:xfrm>
            <a:off x="2948372" y="868688"/>
            <a:ext cx="2860757" cy="523220"/>
          </a:xfrm>
          <a:prstGeom prst="rect">
            <a:avLst/>
          </a:prstGeom>
        </p:spPr>
        <p:txBody>
          <a:bodyPr wrap="square">
            <a:spAutoFit/>
          </a:bodyPr>
          <a:lstStyle/>
          <a:p>
            <a:pPr marL="431800" lvl="2">
              <a:lnSpc>
                <a:spcPct val="100000"/>
              </a:lnSpc>
              <a:buClr>
                <a:srgbClr val="000000"/>
              </a:buClr>
              <a:buSzPct val="45000"/>
            </a:pPr>
            <a:r>
              <a:rPr lang="en-US" sz="2800" b="1" spc="-1" dirty="0">
                <a:solidFill>
                  <a:srgbClr val="000000"/>
                </a:solidFill>
                <a:latin typeface="Calibri" panose="020F0502020204030204"/>
              </a:rPr>
              <a:t>Introduction</a:t>
            </a:r>
            <a:endParaRPr lang="en-IN" spc="-1" dirty="0"/>
          </a:p>
        </p:txBody>
      </p:sp>
      <p:sp>
        <p:nvSpPr>
          <p:cNvPr id="4" name="Rectangle 3"/>
          <p:cNvSpPr/>
          <p:nvPr/>
        </p:nvSpPr>
        <p:spPr>
          <a:xfrm>
            <a:off x="628560" y="1983578"/>
            <a:ext cx="8112028" cy="3785652"/>
          </a:xfrm>
          <a:prstGeom prst="rect">
            <a:avLst/>
          </a:prstGeom>
        </p:spPr>
        <p:txBody>
          <a:bodyPr wrap="square">
            <a:spAutoFit/>
          </a:bodyPr>
          <a:lstStyle/>
          <a:p>
            <a:pPr>
              <a:lnSpc>
                <a:spcPct val="150000"/>
              </a:lnSpc>
            </a:pPr>
            <a:r>
              <a:rPr lang="en-US" sz="1600" dirty="0">
                <a:latin typeface="Times New Roman"/>
              </a:rPr>
              <a:t>The online betting industry in India is growing rapidly. However, it is difficult to determine the exact size and value of the market for 2025 because a large portion of it operates illegally with worth over ₹3 trillion (about $40 billion) each year. The growth in online gaming has been significant over the past ten years, driven by digital access, smartphone use, and the fun of gaming. The COVID-19 pandemic also led to an increase in online betting, as more people were online and aware of these </a:t>
            </a:r>
            <a:r>
              <a:rPr lang="en-US" sz="1600" dirty="0" smtClean="0">
                <a:latin typeface="Times New Roman"/>
              </a:rPr>
              <a:t>plat-forms.</a:t>
            </a:r>
          </a:p>
          <a:p>
            <a:pPr>
              <a:lnSpc>
                <a:spcPct val="150000"/>
              </a:lnSpc>
            </a:pPr>
            <a:r>
              <a:rPr lang="en-US" sz="1600" dirty="0" smtClean="0">
                <a:latin typeface="Times New Roman"/>
                <a:ea typeface="+mn-lt"/>
                <a:cs typeface="+mn-lt"/>
              </a:rPr>
              <a:t>The </a:t>
            </a:r>
            <a:r>
              <a:rPr lang="en-US" sz="1600" dirty="0">
                <a:latin typeface="Times New Roman"/>
                <a:ea typeface="+mn-lt"/>
                <a:cs typeface="+mn-lt"/>
              </a:rPr>
              <a:t>core problem this presentation addresses is how betting companies can manipulate odds and design unfair platforms, creating a significant disadvantage for users and leading to inflated profits for the companies. This investigation aims to unveil these manipulative practices to better protect consumers in a global market that is projected to grow to over $57 billion.</a:t>
            </a:r>
            <a:endParaRPr lang="en-US" sz="1600" dirty="0">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4</a:t>
            </a:fld>
            <a:endParaRPr lang="en-IN" sz="900" b="0" strike="noStrike" spc="-1">
              <a:latin typeface="Arial" panose="020B0604020202020204"/>
            </a:endParaRPr>
          </a:p>
        </p:txBody>
      </p:sp>
      <p:sp>
        <p:nvSpPr>
          <p:cNvPr id="2" name="Rectangle 1"/>
          <p:cNvSpPr/>
          <p:nvPr/>
        </p:nvSpPr>
        <p:spPr>
          <a:xfrm>
            <a:off x="2685240" y="841794"/>
            <a:ext cx="3730334" cy="800219"/>
          </a:xfrm>
          <a:prstGeom prst="rect">
            <a:avLst/>
          </a:prstGeom>
        </p:spPr>
        <p:txBody>
          <a:bodyPr wrap="square">
            <a:spAutoFit/>
          </a:bodyPr>
          <a:lstStyle/>
          <a:p>
            <a:pPr marL="431800" lvl="2">
              <a:buClr>
                <a:srgbClr val="000000"/>
              </a:buClr>
              <a:buSzPct val="45000"/>
            </a:pPr>
            <a:r>
              <a:rPr lang="en-US" sz="2800" b="1" spc="-1" dirty="0">
                <a:solidFill>
                  <a:srgbClr val="000000"/>
                </a:solidFill>
                <a:latin typeface="Calibri" panose="020F0502020204030204"/>
              </a:rPr>
              <a:t>Problem Statement</a:t>
            </a:r>
            <a:endParaRPr lang="en-IN" sz="2800" spc="-1" dirty="0"/>
          </a:p>
          <a:p>
            <a:pPr marL="431800" lvl="2">
              <a:lnSpc>
                <a:spcPct val="100000"/>
              </a:lnSpc>
              <a:buClr>
                <a:srgbClr val="000000"/>
              </a:buClr>
              <a:buSzPct val="45000"/>
            </a:pPr>
            <a:endParaRPr lang="en-IN" spc="-1" dirty="0"/>
          </a:p>
        </p:txBody>
      </p:sp>
      <p:sp>
        <p:nvSpPr>
          <p:cNvPr id="3" name="Rectangle 2"/>
          <p:cNvSpPr/>
          <p:nvPr/>
        </p:nvSpPr>
        <p:spPr>
          <a:xfrm>
            <a:off x="251012" y="2551837"/>
            <a:ext cx="8695764" cy="1569660"/>
          </a:xfrm>
          <a:prstGeom prst="rect">
            <a:avLst/>
          </a:prstGeom>
        </p:spPr>
        <p:txBody>
          <a:bodyPr wrap="square">
            <a:spAutoFit/>
          </a:bodyPr>
          <a:lstStyle/>
          <a:p>
            <a:r>
              <a:rPr lang="en-US" sz="2400" dirty="0">
                <a:latin typeface="Times New Roman"/>
                <a:cs typeface="Times New Roman"/>
              </a:rPr>
              <a:t>The main</a:t>
            </a:r>
            <a:r>
              <a:rPr lang="en-US" sz="2400" dirty="0">
                <a:latin typeface="Times New Roman"/>
                <a:ea typeface="+mn-lt"/>
                <a:cs typeface="Times New Roman"/>
              </a:rPr>
              <a:t> problem this project looks at is how betting companies can manipulate odds and design their platforms in ways that are unfair to users, that can lead to bigger profits for the companies and put consumers at a disadvantage.</a:t>
            </a:r>
            <a:endParaRPr lang="en-US" sz="2400" dirty="0">
              <a:latin typeface="Times New Roman"/>
              <a:cs typeface="Times New Roman"/>
            </a:endParaRPr>
          </a:p>
        </p:txBody>
      </p:sp>
    </p:spTree>
    <p:extLst>
      <p:ext uri="{BB962C8B-B14F-4D97-AF65-F5344CB8AC3E}">
        <p14:creationId xmlns:p14="http://schemas.microsoft.com/office/powerpoint/2010/main" val="13638919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5</a:t>
            </a:fld>
            <a:endParaRPr lang="en-IN" sz="900" b="0" strike="noStrike" spc="-1">
              <a:latin typeface="Arial" panose="020B0604020202020204"/>
            </a:endParaRPr>
          </a:p>
        </p:txBody>
      </p:sp>
      <p:sp>
        <p:nvSpPr>
          <p:cNvPr id="2" name="Rectangle 1"/>
          <p:cNvSpPr/>
          <p:nvPr/>
        </p:nvSpPr>
        <p:spPr>
          <a:xfrm>
            <a:off x="2948373" y="868688"/>
            <a:ext cx="2717322" cy="800219"/>
          </a:xfrm>
          <a:prstGeom prst="rect">
            <a:avLst/>
          </a:prstGeom>
        </p:spPr>
        <p:txBody>
          <a:bodyPr wrap="square">
            <a:spAutoFit/>
          </a:bodyPr>
          <a:lstStyle/>
          <a:p>
            <a:pPr marL="431800" lvl="2">
              <a:buClr>
                <a:srgbClr val="000000"/>
              </a:buClr>
              <a:buSzPct val="45000"/>
            </a:pPr>
            <a:r>
              <a:rPr lang="en-US" sz="2800" b="1" spc="-1" dirty="0">
                <a:solidFill>
                  <a:srgbClr val="000000"/>
                </a:solidFill>
                <a:latin typeface="Calibri" panose="020F0502020204030204"/>
              </a:rPr>
              <a:t>Objectives</a:t>
            </a:r>
            <a:endParaRPr lang="en-IN" sz="2800" spc="-1" dirty="0"/>
          </a:p>
          <a:p>
            <a:pPr marL="431800" lvl="2">
              <a:lnSpc>
                <a:spcPct val="100000"/>
              </a:lnSpc>
              <a:buClr>
                <a:srgbClr val="000000"/>
              </a:buClr>
              <a:buSzPct val="45000"/>
            </a:pPr>
            <a:endParaRPr lang="en-IN" spc="-1" dirty="0"/>
          </a:p>
        </p:txBody>
      </p:sp>
      <p:sp>
        <p:nvSpPr>
          <p:cNvPr id="3" name="Rectangle 2"/>
          <p:cNvSpPr/>
          <p:nvPr/>
        </p:nvSpPr>
        <p:spPr>
          <a:xfrm>
            <a:off x="222367" y="1966516"/>
            <a:ext cx="8921633" cy="3416320"/>
          </a:xfrm>
          <a:prstGeom prst="rect">
            <a:avLst/>
          </a:prstGeom>
        </p:spPr>
        <p:txBody>
          <a:bodyPr wrap="square">
            <a:spAutoFit/>
          </a:bodyPr>
          <a:lstStyle/>
          <a:p>
            <a:pPr marL="457200" indent="-457200">
              <a:buAutoNum type="arabicPeriod"/>
            </a:pPr>
            <a:r>
              <a:rPr lang="en-US" dirty="0">
                <a:latin typeface="Times New Roman"/>
                <a:ea typeface="+mn-lt"/>
                <a:cs typeface="+mn-lt"/>
              </a:rPr>
              <a:t>To build an informational website or platform that educates the public on the mechanics of betting odds, the risks of the unregulated market, and how data can reveal unfair practices.</a:t>
            </a:r>
            <a:endParaRPr lang="en-US" dirty="0">
              <a:latin typeface="Times New Roman"/>
            </a:endParaRPr>
          </a:p>
          <a:p>
            <a:pPr marL="457200" indent="-457200">
              <a:buAutoNum type="arabicPeriod"/>
            </a:pPr>
            <a:endParaRPr lang="en-US" dirty="0">
              <a:latin typeface="Times New Roman"/>
              <a:ea typeface="+mn-lt"/>
              <a:cs typeface="+mn-lt"/>
            </a:endParaRPr>
          </a:p>
          <a:p>
            <a:pPr marL="457200" indent="-457200">
              <a:buAutoNum type="arabicPeriod"/>
            </a:pPr>
            <a:r>
              <a:rPr lang="en-US" dirty="0">
                <a:latin typeface="Times New Roman"/>
                <a:ea typeface="+mn-lt"/>
                <a:cs typeface="+mn-lt"/>
              </a:rPr>
              <a:t>Establish a "True Odds" Baseline: To use the validated prediction model to generate unbiased, data-driven probabilities for race outcomes, establishing a "true odds" benchmark for fair betting.</a:t>
            </a:r>
          </a:p>
          <a:p>
            <a:pPr marL="457200" indent="-457200">
              <a:buAutoNum type="arabicPeriod"/>
            </a:pPr>
            <a:endParaRPr lang="en-US" dirty="0">
              <a:latin typeface="Times New Roman"/>
              <a:ea typeface="+mn-lt"/>
              <a:cs typeface="+mn-lt"/>
            </a:endParaRPr>
          </a:p>
          <a:p>
            <a:pPr marL="457200" indent="-457200">
              <a:buAutoNum type="arabicPeriod"/>
            </a:pPr>
            <a:r>
              <a:rPr lang="en-US" dirty="0">
                <a:latin typeface="Times New Roman"/>
                <a:ea typeface="+mn-lt"/>
                <a:cs typeface="+mn-lt"/>
              </a:rPr>
              <a:t>To develop and validate a high-accuracy machine learning framework capable of predicting horse racing outcomes, and to leverage this model to systematically identify and expose manipulated odds and unfair practices within the online betting market, thereby promoting consumer protection.</a:t>
            </a:r>
            <a:endParaRPr lang="en-US" dirty="0">
              <a:latin typeface="Times New Roman"/>
              <a:ea typeface="+mn-lt"/>
              <a:cs typeface="+mn-lt"/>
            </a:endParaRPr>
          </a:p>
        </p:txBody>
      </p:sp>
    </p:spTree>
    <p:extLst>
      <p:ext uri="{BB962C8B-B14F-4D97-AF65-F5344CB8AC3E}">
        <p14:creationId xmlns:p14="http://schemas.microsoft.com/office/powerpoint/2010/main" val="18431063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2F4664-CB42-DAEA-5AE0-1A6633DB887A}"/>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xmlns="" id="{76DA806E-42EF-BCB2-33C5-6A27C5223B2A}"/>
              </a:ext>
            </a:extLst>
          </p:cNvPr>
          <p:cNvSpPr txBox="1"/>
          <p:nvPr/>
        </p:nvSpPr>
        <p:spPr>
          <a:xfrm>
            <a:off x="628560" y="6356520"/>
            <a:ext cx="2057040" cy="364680"/>
          </a:xfrm>
          <a:prstGeom prst="rect">
            <a:avLst/>
          </a:prstGeom>
          <a:noFill/>
          <a:ln>
            <a:noFill/>
          </a:ln>
        </p:spPr>
        <p:txBody>
          <a:bodyPr anchor="ctr">
            <a:noAutofit/>
          </a:bodyPr>
          <a:lstStyle/>
          <a:p>
            <a:pPr>
              <a:lnSpc>
                <a:spcPct val="100000"/>
              </a:lnSpc>
            </a:pPr>
            <a:fld id="{054DD8FE-CF07-45CF-B923-833FF4B076CF}" type="datetime1">
              <a:rPr lang="en-IN" sz="900" b="0" strike="noStrike" spc="-1">
                <a:solidFill>
                  <a:srgbClr val="8B8B8B"/>
                </a:solidFill>
                <a:latin typeface="Calibri"/>
              </a:rPr>
              <a:t>15-11-2025</a:t>
            </a:fld>
            <a:endParaRPr lang="en-IN" sz="900" b="0" strike="noStrike" spc="-1">
              <a:latin typeface="Times New Roman"/>
            </a:endParaRPr>
          </a:p>
        </p:txBody>
      </p:sp>
      <p:sp>
        <p:nvSpPr>
          <p:cNvPr id="54" name="TextShape 2">
            <a:extLst>
              <a:ext uri="{FF2B5EF4-FFF2-40B4-BE49-F238E27FC236}">
                <a16:creationId xmlns:a16="http://schemas.microsoft.com/office/drawing/2014/main" xmlns="" id="{E0C63166-ED7D-D79E-6F1E-3FEA4376F27E}"/>
              </a:ext>
            </a:extLst>
          </p:cNvPr>
          <p:cNvSpPr txBox="1"/>
          <p:nvPr/>
        </p:nvSpPr>
        <p:spPr>
          <a:xfrm>
            <a:off x="6458040" y="6356520"/>
            <a:ext cx="2057040" cy="364680"/>
          </a:xfrm>
          <a:prstGeom prst="rect">
            <a:avLst/>
          </a:prstGeom>
          <a:noFill/>
          <a:ln>
            <a:noFill/>
          </a:ln>
        </p:spPr>
        <p:txBody>
          <a:bodyPr anchor="ctr">
            <a:noAutofit/>
          </a:bodyPr>
          <a:lstStyle/>
          <a:p>
            <a:pPr algn="r">
              <a:lnSpc>
                <a:spcPct val="100000"/>
              </a:lnSpc>
            </a:pPr>
            <a:fld id="{87702EE6-03C5-4479-9169-3E95CD032EDE}" type="slidenum">
              <a:rPr lang="en-IN" sz="900" b="0" strike="noStrike" spc="-1">
                <a:solidFill>
                  <a:srgbClr val="8B8B8B"/>
                </a:solidFill>
                <a:latin typeface="Calibri"/>
              </a:rPr>
              <a:t>6</a:t>
            </a:fld>
            <a:endParaRPr lang="en-IN" sz="900" b="0" strike="noStrike" spc="-1">
              <a:latin typeface="Times New Roman"/>
            </a:endParaRPr>
          </a:p>
        </p:txBody>
      </p:sp>
      <p:sp>
        <p:nvSpPr>
          <p:cNvPr id="3" name="TextBox 2">
            <a:extLst>
              <a:ext uri="{FF2B5EF4-FFF2-40B4-BE49-F238E27FC236}">
                <a16:creationId xmlns:a16="http://schemas.microsoft.com/office/drawing/2014/main" xmlns="" id="{0F98F695-E357-68BE-238B-7059BDB1735E}"/>
              </a:ext>
            </a:extLst>
          </p:cNvPr>
          <p:cNvSpPr txBox="1"/>
          <p:nvPr/>
        </p:nvSpPr>
        <p:spPr>
          <a:xfrm>
            <a:off x="1658345" y="789586"/>
            <a:ext cx="5686815"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31800" lvl="2"/>
            <a:r>
              <a:rPr lang="en-US" sz="2800" b="1" dirty="0">
                <a:latin typeface="Calibri"/>
                <a:ea typeface="Calibri"/>
                <a:cs typeface="Calibri"/>
              </a:rPr>
              <a:t>Existing System :Literature Survey</a:t>
            </a:r>
            <a:endParaRPr lang="en-IN" sz="2800" dirty="0">
              <a:latin typeface="Calibri"/>
              <a:ea typeface="Calibri"/>
              <a:cs typeface="Calibri"/>
            </a:endParaRPr>
          </a:p>
          <a:p>
            <a:pPr algn="ctr"/>
            <a:endParaRPr lang="en-US" sz="2800" b="1" dirty="0"/>
          </a:p>
        </p:txBody>
      </p:sp>
      <p:sp>
        <p:nvSpPr>
          <p:cNvPr id="5" name="TextBox 4">
            <a:extLst>
              <a:ext uri="{FF2B5EF4-FFF2-40B4-BE49-F238E27FC236}">
                <a16:creationId xmlns:a16="http://schemas.microsoft.com/office/drawing/2014/main" xmlns="" id="{2BD37B99-5CD9-E357-FB0F-13857E825076}"/>
              </a:ext>
            </a:extLst>
          </p:cNvPr>
          <p:cNvSpPr txBox="1"/>
          <p:nvPr/>
        </p:nvSpPr>
        <p:spPr>
          <a:xfrm>
            <a:off x="186325" y="1744250"/>
            <a:ext cx="8959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latin typeface="Times New Roman"/>
              <a:cs typeface="Arial"/>
            </a:endParaRPr>
          </a:p>
        </p:txBody>
      </p:sp>
      <p:graphicFrame>
        <p:nvGraphicFramePr>
          <p:cNvPr id="6" name="Table 5">
            <a:extLst>
              <a:ext uri="{FF2B5EF4-FFF2-40B4-BE49-F238E27FC236}">
                <a16:creationId xmlns:a16="http://schemas.microsoft.com/office/drawing/2014/main" xmlns="" id="{60412664-240B-54FE-EBE0-65ABD5B6610F}"/>
              </a:ext>
            </a:extLst>
          </p:cNvPr>
          <p:cNvGraphicFramePr>
            <a:graphicFrameLocks noGrp="1"/>
          </p:cNvGraphicFramePr>
          <p:nvPr>
            <p:extLst/>
          </p:nvPr>
        </p:nvGraphicFramePr>
        <p:xfrm>
          <a:off x="44353" y="1268261"/>
          <a:ext cx="9051732" cy="5612130"/>
        </p:xfrm>
        <a:graphic>
          <a:graphicData uri="http://schemas.openxmlformats.org/drawingml/2006/table">
            <a:tbl>
              <a:tblPr bandRow="1">
                <a:tableStyleId>{5C22544A-7EE6-4342-B048-85BDC9FD1C3A}</a:tableStyleId>
              </a:tblPr>
              <a:tblGrid>
                <a:gridCol w="1132475">
                  <a:extLst>
                    <a:ext uri="{9D8B030D-6E8A-4147-A177-3AD203B41FA5}">
                      <a16:colId xmlns:a16="http://schemas.microsoft.com/office/drawing/2014/main" xmlns="" val="2269033865"/>
                    </a:ext>
                  </a:extLst>
                </a:gridCol>
                <a:gridCol w="1830261">
                  <a:extLst>
                    <a:ext uri="{9D8B030D-6E8A-4147-A177-3AD203B41FA5}">
                      <a16:colId xmlns:a16="http://schemas.microsoft.com/office/drawing/2014/main" xmlns="" val="2776337526"/>
                    </a:ext>
                  </a:extLst>
                </a:gridCol>
                <a:gridCol w="1150420">
                  <a:extLst>
                    <a:ext uri="{9D8B030D-6E8A-4147-A177-3AD203B41FA5}">
                      <a16:colId xmlns:a16="http://schemas.microsoft.com/office/drawing/2014/main" xmlns="" val="3143939554"/>
                    </a:ext>
                  </a:extLst>
                </a:gridCol>
                <a:gridCol w="769965">
                  <a:extLst>
                    <a:ext uri="{9D8B030D-6E8A-4147-A177-3AD203B41FA5}">
                      <a16:colId xmlns:a16="http://schemas.microsoft.com/office/drawing/2014/main" xmlns="" val="103085107"/>
                    </a:ext>
                  </a:extLst>
                </a:gridCol>
                <a:gridCol w="1367821">
                  <a:extLst>
                    <a:ext uri="{9D8B030D-6E8A-4147-A177-3AD203B41FA5}">
                      <a16:colId xmlns:a16="http://schemas.microsoft.com/office/drawing/2014/main" xmlns="" val="1726740018"/>
                    </a:ext>
                  </a:extLst>
                </a:gridCol>
                <a:gridCol w="2800790">
                  <a:extLst>
                    <a:ext uri="{9D8B030D-6E8A-4147-A177-3AD203B41FA5}">
                      <a16:colId xmlns:a16="http://schemas.microsoft.com/office/drawing/2014/main" xmlns="" val="2921270270"/>
                    </a:ext>
                  </a:extLst>
                </a:gridCol>
              </a:tblGrid>
              <a:tr h="941892">
                <a:tc>
                  <a:txBody>
                    <a:bodyPr/>
                    <a:lstStyle/>
                    <a:p>
                      <a:pPr>
                        <a:buNone/>
                      </a:pPr>
                      <a:r>
                        <a:rPr lang="en-US">
                          <a:effectLst/>
                        </a:rPr>
                        <a:t>Ref</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Project Title</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Author(s)</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Year</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Technologies / Methods Used</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Limitations &amp; Gaps</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980199501"/>
                  </a:ext>
                </a:extLst>
              </a:tr>
              <a:tr h="2197756">
                <a:tc>
                  <a:txBody>
                    <a:bodyPr/>
                    <a:lstStyle/>
                    <a:p>
                      <a:pPr>
                        <a:buNone/>
                      </a:pPr>
                      <a:r>
                        <a:rPr lang="en-US">
                          <a:effectLst/>
                        </a:rPr>
                        <a:t>[1]</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Fair and easy: the effect of perceived fairness, effort expectancy and user experience on online slot machine gambling intention</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J. Konietzny, A. Caruana</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2018</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Survey-based analysis, statistical modeling</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Focused only on slot machines; lacks AI or digital intervention studies.</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395076446"/>
                  </a:ext>
                </a:extLst>
              </a:tr>
              <a:tr h="1360513">
                <a:tc>
                  <a:txBody>
                    <a:bodyPr/>
                    <a:lstStyle/>
                    <a:p>
                      <a:pPr>
                        <a:buNone/>
                      </a:pPr>
                      <a:r>
                        <a:rPr lang="en-US">
                          <a:effectLst/>
                        </a:rPr>
                        <a:t>[2]</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The structural characteristics of online sports betting</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J. Torrance</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2024</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Behavioral analysis, gambling psychology frameworks</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Descriptive only; no predictive or AI/ML models applied.</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962585866"/>
                  </a:ext>
                </a:extLst>
              </a:tr>
            </a:tbl>
          </a:graphicData>
        </a:graphic>
      </p:graphicFrame>
    </p:spTree>
    <p:extLst>
      <p:ext uri="{BB962C8B-B14F-4D97-AF65-F5344CB8AC3E}">
        <p14:creationId xmlns:p14="http://schemas.microsoft.com/office/powerpoint/2010/main" val="3419743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C8D53F20-10AF-4850-A865-976E1DAE065A}"/>
              </a:ext>
            </a:extLst>
          </p:cNvPr>
          <p:cNvGraphicFramePr>
            <a:graphicFrameLocks noGrp="1"/>
          </p:cNvGraphicFramePr>
          <p:nvPr>
            <p:extLst/>
          </p:nvPr>
        </p:nvGraphicFramePr>
        <p:xfrm>
          <a:off x="0" y="649787"/>
          <a:ext cx="9137674" cy="6335810"/>
        </p:xfrm>
        <a:graphic>
          <a:graphicData uri="http://schemas.openxmlformats.org/drawingml/2006/table">
            <a:tbl>
              <a:tblPr bandRow="1">
                <a:tableStyleId>{5C22544A-7EE6-4342-B048-85BDC9FD1C3A}</a:tableStyleId>
              </a:tblPr>
              <a:tblGrid>
                <a:gridCol w="1143227">
                  <a:extLst>
                    <a:ext uri="{9D8B030D-6E8A-4147-A177-3AD203B41FA5}">
                      <a16:colId xmlns:a16="http://schemas.microsoft.com/office/drawing/2014/main" xmlns="" val="2893544708"/>
                    </a:ext>
                  </a:extLst>
                </a:gridCol>
                <a:gridCol w="1847636">
                  <a:extLst>
                    <a:ext uri="{9D8B030D-6E8A-4147-A177-3AD203B41FA5}">
                      <a16:colId xmlns:a16="http://schemas.microsoft.com/office/drawing/2014/main" xmlns="" val="3757608260"/>
                    </a:ext>
                  </a:extLst>
                </a:gridCol>
                <a:gridCol w="1161339">
                  <a:extLst>
                    <a:ext uri="{9D8B030D-6E8A-4147-A177-3AD203B41FA5}">
                      <a16:colId xmlns:a16="http://schemas.microsoft.com/office/drawing/2014/main" xmlns="" val="1240498509"/>
                    </a:ext>
                  </a:extLst>
                </a:gridCol>
                <a:gridCol w="777270">
                  <a:extLst>
                    <a:ext uri="{9D8B030D-6E8A-4147-A177-3AD203B41FA5}">
                      <a16:colId xmlns:a16="http://schemas.microsoft.com/office/drawing/2014/main" xmlns="" val="1567318353"/>
                    </a:ext>
                  </a:extLst>
                </a:gridCol>
                <a:gridCol w="1380815">
                  <a:extLst>
                    <a:ext uri="{9D8B030D-6E8A-4147-A177-3AD203B41FA5}">
                      <a16:colId xmlns:a16="http://schemas.microsoft.com/office/drawing/2014/main" xmlns="" val="3276818720"/>
                    </a:ext>
                  </a:extLst>
                </a:gridCol>
                <a:gridCol w="2827387">
                  <a:extLst>
                    <a:ext uri="{9D8B030D-6E8A-4147-A177-3AD203B41FA5}">
                      <a16:colId xmlns:a16="http://schemas.microsoft.com/office/drawing/2014/main" xmlns="" val="2110686060"/>
                    </a:ext>
                  </a:extLst>
                </a:gridCol>
              </a:tblGrid>
              <a:tr h="2319765">
                <a:tc>
                  <a:txBody>
                    <a:bodyPr/>
                    <a:lstStyle/>
                    <a:p>
                      <a:pPr algn="l" rtl="0" fontAlgn="base">
                        <a:lnSpc>
                          <a:spcPts val="2660"/>
                        </a:lnSpc>
                        <a:buNone/>
                      </a:pPr>
                      <a:r>
                        <a:rPr lang="en-US" sz="1800" b="0" i="0" dirty="0">
                          <a:solidFill>
                            <a:srgbClr val="000000"/>
                          </a:solidFill>
                          <a:effectLst/>
                          <a:latin typeface="Arial"/>
                        </a:rPr>
                        <a:t>[3]</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Identifying online sports betting motivations associated with betting intention</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H. Song, K. K. Byon, P. M. Pedersen</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2024 (pre-pub online 2025)</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Quantitative surveys, regression analysis</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Links motivations with intentions but lacks long-term or tech-driven insights.</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793205106"/>
                  </a:ext>
                </a:extLst>
              </a:tr>
              <a:tr h="2158903">
                <a:tc>
                  <a:txBody>
                    <a:bodyPr/>
                    <a:lstStyle/>
                    <a:p>
                      <a:pPr algn="l" rtl="0" fontAlgn="base">
                        <a:lnSpc>
                          <a:spcPts val="2660"/>
                        </a:lnSpc>
                        <a:buNone/>
                      </a:pPr>
                      <a:r>
                        <a:rPr lang="en-US" sz="1800" b="0" i="0" dirty="0">
                          <a:solidFill>
                            <a:srgbClr val="000000"/>
                          </a:solidFill>
                          <a:effectLst/>
                          <a:latin typeface="Arial"/>
                        </a:rPr>
                        <a:t>[4]</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AI-based betting anomaly detection system to ensure ...</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C. Kim et al.</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2024</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Artificial Intelligence, anomaly detection, machine learning</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Technical focus; limited to anomaly detection; fairness/ethics not addressed.</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698189734"/>
                  </a:ext>
                </a:extLst>
              </a:tr>
              <a:tr h="1794853">
                <a:tc>
                  <a:txBody>
                    <a:bodyPr/>
                    <a:lstStyle/>
                    <a:p>
                      <a:pPr algn="l" rtl="0" fontAlgn="base">
                        <a:lnSpc>
                          <a:spcPts val="2660"/>
                        </a:lnSpc>
                        <a:buNone/>
                      </a:pPr>
                      <a:r>
                        <a:rPr lang="en-US" sz="1800" b="0" i="0" dirty="0">
                          <a:solidFill>
                            <a:srgbClr val="000000"/>
                          </a:solidFill>
                          <a:effectLst/>
                          <a:latin typeface="Arial"/>
                        </a:rPr>
                        <a:t>[5]</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Youth Sports Betting and Problem Gambling</a:t>
                      </a: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F. M. Daniel</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2024</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Literature review, global data synthesis</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Review-only; lacks new experimental or AI-driven interventions.</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012930096"/>
                  </a:ext>
                </a:extLst>
              </a:tr>
            </a:tbl>
          </a:graphicData>
        </a:graphic>
      </p:graphicFrame>
    </p:spTree>
    <p:extLst>
      <p:ext uri="{BB962C8B-B14F-4D97-AF65-F5344CB8AC3E}">
        <p14:creationId xmlns:p14="http://schemas.microsoft.com/office/powerpoint/2010/main" val="945896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152335D-D39B-829B-4D21-3BE789478B09}"/>
              </a:ext>
            </a:extLst>
          </p:cNvPr>
          <p:cNvSpPr txBox="1"/>
          <p:nvPr/>
        </p:nvSpPr>
        <p:spPr>
          <a:xfrm>
            <a:off x="320467" y="117504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aphicFrame>
        <p:nvGraphicFramePr>
          <p:cNvPr id="4" name="Table 3">
            <a:extLst>
              <a:ext uri="{FF2B5EF4-FFF2-40B4-BE49-F238E27FC236}">
                <a16:creationId xmlns:a16="http://schemas.microsoft.com/office/drawing/2014/main" xmlns="" id="{241C44C0-1D31-8940-7E28-9006CBCECB9B}"/>
              </a:ext>
            </a:extLst>
          </p:cNvPr>
          <p:cNvGraphicFramePr>
            <a:graphicFrameLocks noGrp="1"/>
          </p:cNvGraphicFramePr>
          <p:nvPr>
            <p:extLst/>
          </p:nvPr>
        </p:nvGraphicFramePr>
        <p:xfrm>
          <a:off x="17026" y="638615"/>
          <a:ext cx="9109947" cy="5721883"/>
        </p:xfrm>
        <a:graphic>
          <a:graphicData uri="http://schemas.openxmlformats.org/drawingml/2006/table">
            <a:tbl>
              <a:tblPr bandRow="1">
                <a:tableStyleId>{5C22544A-7EE6-4342-B048-85BDC9FD1C3A}</a:tableStyleId>
              </a:tblPr>
              <a:tblGrid>
                <a:gridCol w="1139762">
                  <a:extLst>
                    <a:ext uri="{9D8B030D-6E8A-4147-A177-3AD203B41FA5}">
                      <a16:colId xmlns:a16="http://schemas.microsoft.com/office/drawing/2014/main" xmlns="" val="2632063732"/>
                    </a:ext>
                  </a:extLst>
                </a:gridCol>
                <a:gridCol w="1842030">
                  <a:extLst>
                    <a:ext uri="{9D8B030D-6E8A-4147-A177-3AD203B41FA5}">
                      <a16:colId xmlns:a16="http://schemas.microsoft.com/office/drawing/2014/main" xmlns="" val="3700362035"/>
                    </a:ext>
                  </a:extLst>
                </a:gridCol>
                <a:gridCol w="1157811">
                  <a:extLst>
                    <a:ext uri="{9D8B030D-6E8A-4147-A177-3AD203B41FA5}">
                      <a16:colId xmlns:a16="http://schemas.microsoft.com/office/drawing/2014/main" xmlns="" val="534316033"/>
                    </a:ext>
                  </a:extLst>
                </a:gridCol>
                <a:gridCol w="774906">
                  <a:extLst>
                    <a:ext uri="{9D8B030D-6E8A-4147-A177-3AD203B41FA5}">
                      <a16:colId xmlns:a16="http://schemas.microsoft.com/office/drawing/2014/main" xmlns="" val="2699846507"/>
                    </a:ext>
                  </a:extLst>
                </a:gridCol>
                <a:gridCol w="1376629">
                  <a:extLst>
                    <a:ext uri="{9D8B030D-6E8A-4147-A177-3AD203B41FA5}">
                      <a16:colId xmlns:a16="http://schemas.microsoft.com/office/drawing/2014/main" xmlns="" val="2233799403"/>
                    </a:ext>
                  </a:extLst>
                </a:gridCol>
                <a:gridCol w="2818809">
                  <a:extLst>
                    <a:ext uri="{9D8B030D-6E8A-4147-A177-3AD203B41FA5}">
                      <a16:colId xmlns:a16="http://schemas.microsoft.com/office/drawing/2014/main" xmlns="" val="923594551"/>
                    </a:ext>
                  </a:extLst>
                </a:gridCol>
              </a:tblGrid>
              <a:tr h="1675827">
                <a:tc>
                  <a:txBody>
                    <a:bodyPr/>
                    <a:lstStyle/>
                    <a:p>
                      <a:pPr algn="l" rtl="0" fontAlgn="base">
                        <a:lnSpc>
                          <a:spcPts val="2948"/>
                        </a:lnSpc>
                        <a:buNone/>
                      </a:pPr>
                      <a:r>
                        <a:rPr lang="en-US" sz="1800" b="0" i="0">
                          <a:solidFill>
                            <a:srgbClr val="000000"/>
                          </a:solidFill>
                          <a:effectLst/>
                          <a:latin typeface="Arial" panose="020B0604020202020204" pitchFamily="34" charset="0"/>
                        </a:rPr>
                        <a:t>[6]</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Auditing Fairness by Betting</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B. Chugg</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2023</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Statistical auditing, fairness in ML</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Theoretical; not tested on large-scale real betting platforms.</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386726357"/>
                  </a:ext>
                </a:extLst>
              </a:tr>
              <a:tr h="1856299">
                <a:tc>
                  <a:txBody>
                    <a:bodyPr/>
                    <a:lstStyle/>
                    <a:p>
                      <a:pPr algn="l" rtl="0" fontAlgn="base">
                        <a:lnSpc>
                          <a:spcPts val="2948"/>
                        </a:lnSpc>
                        <a:buNone/>
                      </a:pPr>
                      <a:r>
                        <a:rPr lang="en-US" sz="1800" b="0" i="0">
                          <a:solidFill>
                            <a:srgbClr val="000000"/>
                          </a:solidFill>
                          <a:effectLst/>
                          <a:latin typeface="Arial" panose="020B0604020202020204" pitchFamily="34" charset="0"/>
                        </a:rPr>
                        <a:t>[7]</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How structural changes in online gambling are shaping the ...</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N. Hing et al.</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2022</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Policy review, structural gambling analysis</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Focuses on market/regulatory aspects; lacks technical prevention measures.</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492895688"/>
                  </a:ext>
                </a:extLst>
              </a:tr>
              <a:tr h="1856299">
                <a:tc>
                  <a:txBody>
                    <a:bodyPr/>
                    <a:lstStyle/>
                    <a:p>
                      <a:pPr algn="l" rtl="0" fontAlgn="base">
                        <a:lnSpc>
                          <a:spcPts val="2948"/>
                        </a:lnSpc>
                        <a:buNone/>
                      </a:pPr>
                      <a:r>
                        <a:rPr lang="en-US" sz="1800" b="0" i="0">
                          <a:solidFill>
                            <a:srgbClr val="000000"/>
                          </a:solidFill>
                          <a:effectLst/>
                          <a:latin typeface="Arial" panose="020B0604020202020204" pitchFamily="34" charset="0"/>
                        </a:rPr>
                        <a:t>[8]</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Favorite-longshot bias</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Wikipedia</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2024 (accessed 2025)</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General reference, statistical gambling bias</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Informational only; no new empirical research.</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657001607"/>
                  </a:ext>
                </a:extLst>
              </a:tr>
            </a:tbl>
          </a:graphicData>
        </a:graphic>
      </p:graphicFrame>
    </p:spTree>
    <p:extLst>
      <p:ext uri="{BB962C8B-B14F-4D97-AF65-F5344CB8AC3E}">
        <p14:creationId xmlns:p14="http://schemas.microsoft.com/office/powerpoint/2010/main" val="880513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9</a:t>
            </a:fld>
            <a:endParaRPr lang="en-IN" sz="900" b="0" strike="noStrike" spc="-1">
              <a:latin typeface="Arial" panose="020B0604020202020204"/>
            </a:endParaRPr>
          </a:p>
        </p:txBody>
      </p:sp>
      <p:sp>
        <p:nvSpPr>
          <p:cNvPr id="2" name="Rectangle 1"/>
          <p:cNvSpPr/>
          <p:nvPr/>
        </p:nvSpPr>
        <p:spPr>
          <a:xfrm>
            <a:off x="2948372" y="868688"/>
            <a:ext cx="3954452" cy="800219"/>
          </a:xfrm>
          <a:prstGeom prst="rect">
            <a:avLst/>
          </a:prstGeom>
        </p:spPr>
        <p:txBody>
          <a:bodyPr wrap="square">
            <a:spAutoFit/>
          </a:bodyPr>
          <a:lstStyle/>
          <a:p>
            <a:pPr marL="431800" lvl="2">
              <a:buClr>
                <a:srgbClr val="000000"/>
              </a:buClr>
              <a:buSzPct val="45000"/>
            </a:pPr>
            <a:r>
              <a:rPr lang="en-US" sz="2800" b="1" spc="-1" dirty="0">
                <a:solidFill>
                  <a:srgbClr val="000000"/>
                </a:solidFill>
                <a:latin typeface="Calibri" panose="020F0502020204030204"/>
              </a:rPr>
              <a:t>System Architecture:</a:t>
            </a:r>
            <a:endParaRPr lang="en-IN" sz="2800" spc="-1" dirty="0"/>
          </a:p>
          <a:p>
            <a:pPr marL="431800" lvl="2">
              <a:lnSpc>
                <a:spcPct val="100000"/>
              </a:lnSpc>
              <a:buClr>
                <a:srgbClr val="000000"/>
              </a:buClr>
              <a:buSzPct val="45000"/>
            </a:pPr>
            <a:endParaRPr lang="en-IN" spc="-1" dirty="0"/>
          </a:p>
        </p:txBody>
      </p:sp>
      <p:pic>
        <p:nvPicPr>
          <p:cNvPr id="4" name="Picture 3"/>
          <p:cNvPicPr>
            <a:picLocks noChangeAspect="1"/>
          </p:cNvPicPr>
          <p:nvPr/>
        </p:nvPicPr>
        <p:blipFill>
          <a:blip r:embed="rId2"/>
          <a:stretch>
            <a:fillRect/>
          </a:stretch>
        </p:blipFill>
        <p:spPr>
          <a:xfrm>
            <a:off x="339645" y="1555643"/>
            <a:ext cx="8526450" cy="5165197"/>
          </a:xfrm>
          <a:prstGeom prst="rect">
            <a:avLst/>
          </a:prstGeom>
        </p:spPr>
      </p:pic>
    </p:spTree>
    <p:extLst>
      <p:ext uri="{BB962C8B-B14F-4D97-AF65-F5344CB8AC3E}">
        <p14:creationId xmlns:p14="http://schemas.microsoft.com/office/powerpoint/2010/main" val="30782280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10</a:t>
            </a:fld>
            <a:endParaRPr lang="en-IN" sz="900" b="0" strike="noStrike" spc="-1">
              <a:latin typeface="Arial" panose="020B0604020202020204"/>
            </a:endParaRPr>
          </a:p>
        </p:txBody>
      </p:sp>
      <p:sp>
        <p:nvSpPr>
          <p:cNvPr id="2" name="Rectangle 1"/>
          <p:cNvSpPr/>
          <p:nvPr/>
        </p:nvSpPr>
        <p:spPr>
          <a:xfrm>
            <a:off x="2948372" y="868688"/>
            <a:ext cx="2824899" cy="800219"/>
          </a:xfrm>
          <a:prstGeom prst="rect">
            <a:avLst/>
          </a:prstGeom>
        </p:spPr>
        <p:txBody>
          <a:bodyPr wrap="square">
            <a:spAutoFit/>
          </a:bodyPr>
          <a:lstStyle/>
          <a:p>
            <a:pPr marL="431800" lvl="2">
              <a:buClr>
                <a:srgbClr val="000000"/>
              </a:buClr>
              <a:buSzPct val="45000"/>
            </a:pPr>
            <a:r>
              <a:rPr lang="en-US" sz="2800" b="1" spc="-1" dirty="0">
                <a:solidFill>
                  <a:srgbClr val="000000"/>
                </a:solidFill>
                <a:latin typeface="Calibri" panose="020F0502020204030204"/>
              </a:rPr>
              <a:t>Methodology :</a:t>
            </a:r>
            <a:endParaRPr lang="en-IN" sz="2800" spc="-1" dirty="0"/>
          </a:p>
          <a:p>
            <a:pPr marL="431800" lvl="2">
              <a:lnSpc>
                <a:spcPct val="100000"/>
              </a:lnSpc>
              <a:buClr>
                <a:srgbClr val="000000"/>
              </a:buClr>
              <a:buSzPct val="45000"/>
            </a:pPr>
            <a:endParaRPr lang="en-IN" spc="-1" dirty="0"/>
          </a:p>
        </p:txBody>
      </p:sp>
      <p:sp>
        <p:nvSpPr>
          <p:cNvPr id="3" name="Rectangle 2"/>
          <p:cNvSpPr/>
          <p:nvPr/>
        </p:nvSpPr>
        <p:spPr>
          <a:xfrm>
            <a:off x="358588" y="1268797"/>
            <a:ext cx="8722659" cy="5186035"/>
          </a:xfrm>
          <a:prstGeom prst="rect">
            <a:avLst/>
          </a:prstGeom>
        </p:spPr>
        <p:txBody>
          <a:bodyPr wrap="square">
            <a:spAutoFit/>
          </a:bodyPr>
          <a:lstStyle/>
          <a:p>
            <a:r>
              <a:rPr lang="en-US" sz="1600" dirty="0">
                <a:latin typeface="Times New Roman"/>
                <a:ea typeface="+mn-lt"/>
                <a:cs typeface="+mn-lt"/>
              </a:rPr>
              <a:t>Our solution is a unified framework that uses machine learning to bring transparency to the online betting market. It establishes a "fair odds" benchmark to historically analyze market manipulation and assess platform fairness.</a:t>
            </a:r>
          </a:p>
          <a:p>
            <a:endParaRPr lang="en-US" sz="1600" dirty="0">
              <a:latin typeface="Times New Roman"/>
              <a:ea typeface="+mn-lt"/>
              <a:cs typeface="+mn-lt"/>
            </a:endParaRPr>
          </a:p>
          <a:p>
            <a:r>
              <a:rPr lang="en-US" sz="1600" b="1" dirty="0">
                <a:latin typeface="Times New Roman"/>
                <a:ea typeface="+mn-lt"/>
                <a:cs typeface="+mn-lt"/>
              </a:rPr>
              <a:t>1. Data &amp; Preprocessing Engine :</a:t>
            </a:r>
            <a:endParaRPr lang="en-US" sz="1600" b="1" dirty="0">
              <a:latin typeface="Times New Roman"/>
              <a:cs typeface="Arial"/>
            </a:endParaRPr>
          </a:p>
          <a:p>
            <a:pPr marL="285750" indent="-285750">
              <a:buFont typeface="Arial"/>
              <a:buChar char="•"/>
            </a:pPr>
            <a:r>
              <a:rPr lang="en-US" sz="1600" i="1" u="sng" dirty="0">
                <a:latin typeface="Times New Roman"/>
                <a:ea typeface="+mn-lt"/>
                <a:cs typeface="+mn-lt"/>
              </a:rPr>
              <a:t>Function</a:t>
            </a:r>
            <a:r>
              <a:rPr lang="en-US" sz="1600" dirty="0">
                <a:latin typeface="Times New Roman"/>
                <a:ea typeface="+mn-lt"/>
                <a:cs typeface="+mn-lt"/>
              </a:rPr>
              <a:t>: Processes and cleans the existing dataset of over 14,700 races.</a:t>
            </a:r>
            <a:endParaRPr lang="en-US" sz="1600" dirty="0">
              <a:latin typeface="Times New Roman"/>
            </a:endParaRPr>
          </a:p>
          <a:p>
            <a:pPr marL="285750" indent="-285750">
              <a:buFont typeface="Arial"/>
              <a:buChar char="•"/>
            </a:pPr>
            <a:r>
              <a:rPr lang="en-US" sz="1600" i="1" u="sng" dirty="0">
                <a:latin typeface="Times New Roman"/>
                <a:ea typeface="+mn-lt"/>
                <a:cs typeface="+mn-lt"/>
              </a:rPr>
              <a:t>Key Technology:</a:t>
            </a:r>
            <a:r>
              <a:rPr lang="en-US" sz="1600" dirty="0">
                <a:latin typeface="Times New Roman"/>
                <a:ea typeface="+mn-lt"/>
                <a:cs typeface="+mn-lt"/>
              </a:rPr>
              <a:t> Utilizes the SMOTE technique to correct data imbalance, ensuring unbiased analysis.</a:t>
            </a:r>
            <a:endParaRPr lang="en-US" sz="1600" dirty="0">
              <a:latin typeface="Times New Roman"/>
              <a:cs typeface="Arial"/>
            </a:endParaRPr>
          </a:p>
          <a:p>
            <a:pPr marL="285750" indent="-285750">
              <a:buFont typeface="Arial"/>
              <a:buChar char="•"/>
            </a:pPr>
            <a:endParaRPr lang="en-US" sz="1600" dirty="0">
              <a:latin typeface="Times New Roman"/>
              <a:ea typeface="+mn-lt"/>
              <a:cs typeface="+mn-lt"/>
            </a:endParaRPr>
          </a:p>
          <a:p>
            <a:r>
              <a:rPr lang="en-US" sz="1600" b="1" dirty="0">
                <a:latin typeface="Times New Roman"/>
                <a:ea typeface="+mn-lt"/>
                <a:cs typeface="+mn-lt"/>
              </a:rPr>
              <a:t>2. Predictive Modeling Core :</a:t>
            </a:r>
            <a:endParaRPr lang="en-US" sz="1600" b="1" dirty="0">
              <a:latin typeface="Times New Roman"/>
            </a:endParaRPr>
          </a:p>
          <a:p>
            <a:pPr marL="285750" indent="-285750">
              <a:buFont typeface="Arial"/>
              <a:buChar char="•"/>
            </a:pPr>
            <a:r>
              <a:rPr lang="en-US" sz="1600" i="1" u="sng" dirty="0">
                <a:latin typeface="Times New Roman"/>
                <a:ea typeface="+mn-lt"/>
                <a:cs typeface="+mn-lt"/>
              </a:rPr>
              <a:t>Function</a:t>
            </a:r>
            <a:r>
              <a:rPr lang="en-US" sz="1600" dirty="0">
                <a:latin typeface="Times New Roman"/>
                <a:ea typeface="+mn-lt"/>
                <a:cs typeface="+mn-lt"/>
              </a:rPr>
              <a:t>: Calculates the true, unbiased probability of winning for each horse from the historical data.</a:t>
            </a:r>
            <a:endParaRPr lang="en-US" sz="1600" dirty="0">
              <a:latin typeface="Times New Roman"/>
            </a:endParaRPr>
          </a:p>
          <a:p>
            <a:pPr marL="285750" indent="-285750">
              <a:buFont typeface="Arial"/>
              <a:buChar char="•"/>
            </a:pPr>
            <a:r>
              <a:rPr lang="en-US" sz="1600" i="1" u="sng" dirty="0">
                <a:latin typeface="Times New Roman"/>
                <a:ea typeface="+mn-lt"/>
                <a:cs typeface="+mn-lt"/>
              </a:rPr>
              <a:t>Key Technology: </a:t>
            </a:r>
            <a:r>
              <a:rPr lang="en-US" sz="1600" dirty="0">
                <a:latin typeface="Times New Roman"/>
                <a:ea typeface="+mn-lt"/>
                <a:cs typeface="+mn-lt"/>
              </a:rPr>
              <a:t>Powered by a Random Forest algorithm with  accuracy.</a:t>
            </a:r>
            <a:endParaRPr lang="en-US" sz="1600" dirty="0">
              <a:latin typeface="Times New Roman"/>
            </a:endParaRPr>
          </a:p>
          <a:p>
            <a:pPr marL="285750" indent="-285750">
              <a:buFont typeface="Arial"/>
              <a:buChar char="•"/>
            </a:pPr>
            <a:r>
              <a:rPr lang="en-US" sz="1600" dirty="0">
                <a:latin typeface="Times New Roman"/>
                <a:ea typeface="+mn-lt"/>
                <a:cs typeface="+mn-lt"/>
              </a:rPr>
              <a:t>Output: Generates a data-driven "Fair Odds" baseline for every race in the dataset</a:t>
            </a:r>
            <a:r>
              <a:rPr lang="en-US" sz="1600" dirty="0" smtClean="0">
                <a:latin typeface="Times New Roman"/>
                <a:ea typeface="+mn-lt"/>
                <a:cs typeface="+mn-lt"/>
              </a:rPr>
              <a:t>.</a:t>
            </a:r>
            <a:endParaRPr lang="en-US" sz="1600" dirty="0" smtClean="0">
              <a:latin typeface="Times New Roman"/>
              <a:cs typeface="Arial"/>
            </a:endParaRPr>
          </a:p>
          <a:p>
            <a:pPr marL="285750" indent="-285750">
              <a:buFont typeface="Arial"/>
              <a:buChar char="•"/>
            </a:pPr>
            <a:endParaRPr lang="en-US" sz="1600" dirty="0">
              <a:latin typeface="Times New Roman"/>
              <a:ea typeface="+mn-lt"/>
              <a:cs typeface="+mn-lt"/>
            </a:endParaRPr>
          </a:p>
          <a:p>
            <a:r>
              <a:rPr lang="en-US" sz="1600" b="1" dirty="0">
                <a:latin typeface="Times New Roman"/>
                <a:ea typeface="+mn-lt"/>
                <a:cs typeface="+mn-lt"/>
              </a:rPr>
              <a:t>3. Historical Market Odds Engine :</a:t>
            </a:r>
            <a:endParaRPr lang="en-US" sz="1600" b="1" dirty="0">
              <a:latin typeface="Times New Roman"/>
            </a:endParaRPr>
          </a:p>
          <a:p>
            <a:pPr marL="285750" indent="-285750">
              <a:buFont typeface="Arial"/>
              <a:buChar char="•"/>
            </a:pPr>
            <a:r>
              <a:rPr lang="en-US" sz="1600" i="1" u="sng" dirty="0">
                <a:latin typeface="Times New Roman"/>
                <a:ea typeface="+mn-lt"/>
                <a:cs typeface="+mn-lt"/>
              </a:rPr>
              <a:t>Function</a:t>
            </a:r>
            <a:r>
              <a:rPr lang="en-US" sz="1600" dirty="0">
                <a:latin typeface="Times New Roman"/>
                <a:ea typeface="+mn-lt"/>
                <a:cs typeface="+mn-lt"/>
              </a:rPr>
              <a:t>: Compiles and analyzes the historical betting odds that were offered for the races in our dataset.</a:t>
            </a:r>
            <a:endParaRPr lang="en-US" sz="1600" dirty="0">
              <a:latin typeface="Times New Roman"/>
            </a:endParaRPr>
          </a:p>
          <a:p>
            <a:pPr marL="285750" indent="-285750">
              <a:buFont typeface="Arial"/>
              <a:buChar char="•"/>
            </a:pPr>
            <a:r>
              <a:rPr lang="en-US" sz="1600" i="1" u="sng" dirty="0">
                <a:latin typeface="Times New Roman"/>
                <a:ea typeface="+mn-lt"/>
                <a:cs typeface="+mn-lt"/>
              </a:rPr>
              <a:t>Output</a:t>
            </a:r>
            <a:r>
              <a:rPr lang="en-US" sz="1600" dirty="0">
                <a:latin typeface="Times New Roman"/>
                <a:ea typeface="+mn-lt"/>
                <a:cs typeface="+mn-lt"/>
              </a:rPr>
              <a:t>: Creates a comparative database of the "Market Odds" that were presented to consumers.</a:t>
            </a:r>
            <a:endParaRPr lang="en-US" sz="1600" dirty="0">
              <a:latin typeface="Times New Roman"/>
            </a:endParaRPr>
          </a:p>
          <a:p>
            <a:pPr>
              <a:lnSpc>
                <a:spcPct val="150000"/>
              </a:lnSpc>
            </a:pPr>
            <a:endParaRPr lang="en-US" sz="1600" dirty="0">
              <a:latin typeface="Times New Roman"/>
              <a:cs typeface="Arial"/>
            </a:endParaRPr>
          </a:p>
        </p:txBody>
      </p:sp>
    </p:spTree>
    <p:extLst>
      <p:ext uri="{BB962C8B-B14F-4D97-AF65-F5344CB8AC3E}">
        <p14:creationId xmlns:p14="http://schemas.microsoft.com/office/powerpoint/2010/main" val="1381674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11</a:t>
            </a:fld>
            <a:endParaRPr lang="en-IN" sz="900" b="0" strike="noStrike" spc="-1">
              <a:latin typeface="Arial" panose="020B0604020202020204"/>
            </a:endParaRPr>
          </a:p>
        </p:txBody>
      </p:sp>
      <p:sp>
        <p:nvSpPr>
          <p:cNvPr id="3" name="Rectangle 2"/>
          <p:cNvSpPr/>
          <p:nvPr/>
        </p:nvSpPr>
        <p:spPr>
          <a:xfrm>
            <a:off x="98612" y="649832"/>
            <a:ext cx="8937812" cy="1323439"/>
          </a:xfrm>
          <a:prstGeom prst="rect">
            <a:avLst/>
          </a:prstGeom>
        </p:spPr>
        <p:txBody>
          <a:bodyPr wrap="square">
            <a:spAutoFit/>
          </a:bodyPr>
          <a:lstStyle/>
          <a:p>
            <a:r>
              <a:rPr lang="en-US" sz="1600" dirty="0">
                <a:latin typeface="Times New Roman"/>
                <a:ea typeface="+mn-lt"/>
                <a:cs typeface="+mn-lt"/>
              </a:rPr>
              <a:t>4. Platform Fairness Dashboard </a:t>
            </a:r>
            <a:endParaRPr lang="en-US" dirty="0">
              <a:latin typeface="Times New Roman"/>
            </a:endParaRPr>
          </a:p>
          <a:p>
            <a:pPr marL="285750" indent="-285750">
              <a:buFont typeface="Arial"/>
              <a:buChar char="•"/>
            </a:pPr>
            <a:r>
              <a:rPr lang="en-US" sz="1600" dirty="0">
                <a:latin typeface="Times New Roman"/>
                <a:ea typeface="+mn-lt"/>
                <a:cs typeface="+mn-lt"/>
              </a:rPr>
              <a:t>Function: A web-based analytical tool that visualizes the historical data.</a:t>
            </a:r>
            <a:endParaRPr lang="en-US" dirty="0">
              <a:latin typeface="Times New Roman"/>
              <a:ea typeface="+mn-lt"/>
              <a:cs typeface="+mn-lt"/>
            </a:endParaRPr>
          </a:p>
          <a:p>
            <a:pPr marL="285750" indent="-285750">
              <a:buFont typeface="Arial"/>
              <a:buChar char="•"/>
            </a:pPr>
            <a:r>
              <a:rPr lang="en-US" sz="1600" dirty="0">
                <a:latin typeface="Times New Roman"/>
                <a:ea typeface="+mn-lt"/>
                <a:cs typeface="+mn-lt"/>
              </a:rPr>
              <a:t>Key Features:</a:t>
            </a:r>
            <a:endParaRPr lang="en-US" dirty="0">
              <a:latin typeface="Times New Roman"/>
              <a:ea typeface="+mn-lt"/>
              <a:cs typeface="+mn-lt"/>
            </a:endParaRPr>
          </a:p>
          <a:p>
            <a:pPr marL="742950" lvl="1" indent="-285750">
              <a:buFont typeface="Arial"/>
              <a:buChar char="•"/>
            </a:pPr>
            <a:r>
              <a:rPr lang="en-US" sz="1600" dirty="0">
                <a:latin typeface="Times New Roman"/>
                <a:ea typeface="+mn-lt"/>
                <a:cs typeface="+mn-lt"/>
              </a:rPr>
              <a:t>Directly compares our calculated "Fair Odds" vs. historical "Market Odds".</a:t>
            </a:r>
            <a:endParaRPr lang="en-US" sz="1600" dirty="0">
              <a:latin typeface="Times New Roman"/>
              <a:cs typeface="Arial"/>
            </a:endParaRPr>
          </a:p>
          <a:p>
            <a:pPr marL="742950" lvl="1" indent="-285750">
              <a:buFont typeface="Arial"/>
              <a:buChar char="•"/>
            </a:pPr>
            <a:r>
              <a:rPr lang="en-US" sz="1600" dirty="0">
                <a:latin typeface="Times New Roman"/>
                <a:ea typeface="+mn-lt"/>
                <a:cs typeface="+mn-lt"/>
              </a:rPr>
              <a:t>Generates a historical "Fairness Score" for different betting sites.</a:t>
            </a:r>
            <a:endParaRPr lang="en-US" sz="1600" dirty="0">
              <a:latin typeface="Times New Roman"/>
              <a:cs typeface="Arial"/>
            </a:endParaRPr>
          </a:p>
        </p:txBody>
      </p:sp>
      <p:pic>
        <p:nvPicPr>
          <p:cNvPr id="6" name="Picture 5" descr="A diagram of a process">
            <a:extLst>
              <a:ext uri="{FF2B5EF4-FFF2-40B4-BE49-F238E27FC236}">
                <a16:creationId xmlns:a16="http://schemas.microsoft.com/office/drawing/2014/main" xmlns="" id="{5CC9EA46-0B37-3C4C-E8CD-E38C1BC4CDB9}"/>
              </a:ext>
            </a:extLst>
          </p:cNvPr>
          <p:cNvPicPr>
            <a:picLocks noChangeAspect="1"/>
          </p:cNvPicPr>
          <p:nvPr/>
        </p:nvPicPr>
        <p:blipFill>
          <a:blip r:embed="rId2"/>
          <a:stretch>
            <a:fillRect/>
          </a:stretch>
        </p:blipFill>
        <p:spPr>
          <a:xfrm>
            <a:off x="628560" y="2176610"/>
            <a:ext cx="7556216" cy="4362070"/>
          </a:xfrm>
          <a:prstGeom prst="rect">
            <a:avLst/>
          </a:prstGeom>
        </p:spPr>
      </p:pic>
    </p:spTree>
    <p:extLst>
      <p:ext uri="{BB962C8B-B14F-4D97-AF65-F5344CB8AC3E}">
        <p14:creationId xmlns:p14="http://schemas.microsoft.com/office/powerpoint/2010/main" val="8845792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12</a:t>
            </a:fld>
            <a:endParaRPr lang="en-IN" sz="900" b="0" strike="noStrike" spc="-1">
              <a:latin typeface="Arial" panose="020B0604020202020204"/>
            </a:endParaRPr>
          </a:p>
        </p:txBody>
      </p:sp>
      <p:sp>
        <p:nvSpPr>
          <p:cNvPr id="2" name="Rectangle 1"/>
          <p:cNvSpPr/>
          <p:nvPr/>
        </p:nvSpPr>
        <p:spPr>
          <a:xfrm>
            <a:off x="2162930" y="826919"/>
            <a:ext cx="4295110" cy="523220"/>
          </a:xfrm>
          <a:prstGeom prst="rect">
            <a:avLst/>
          </a:prstGeom>
        </p:spPr>
        <p:txBody>
          <a:bodyPr wrap="square">
            <a:spAutoFit/>
          </a:bodyPr>
          <a:lstStyle/>
          <a:p>
            <a:pPr marL="431800" lvl="2">
              <a:lnSpc>
                <a:spcPct val="100000"/>
              </a:lnSpc>
              <a:buClr>
                <a:srgbClr val="000000"/>
              </a:buClr>
              <a:buSzPct val="45000"/>
            </a:pPr>
            <a:r>
              <a:rPr lang="en-US" sz="2800" b="1" spc="-1" dirty="0">
                <a:solidFill>
                  <a:srgbClr val="000000"/>
                </a:solidFill>
                <a:latin typeface="Calibri" panose="020F0502020204030204"/>
              </a:rPr>
              <a:t>Tools and Technologies</a:t>
            </a:r>
            <a:endParaRPr lang="en-IN" spc="-1" dirty="0"/>
          </a:p>
        </p:txBody>
      </p:sp>
      <p:sp>
        <p:nvSpPr>
          <p:cNvPr id="10" name="TextBox 9"/>
          <p:cNvSpPr txBox="1"/>
          <p:nvPr/>
        </p:nvSpPr>
        <p:spPr>
          <a:xfrm>
            <a:off x="98619" y="1506072"/>
            <a:ext cx="8560262" cy="5632311"/>
          </a:xfrm>
          <a:prstGeom prst="rect">
            <a:avLst/>
          </a:prstGeom>
          <a:noFill/>
        </p:spPr>
        <p:txBody>
          <a:bodyPr wrap="square" rtlCol="0">
            <a:spAutoFit/>
          </a:bodyPr>
          <a:lstStyle/>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Programming </a:t>
            </a:r>
            <a:r>
              <a:rPr lang="en-US" b="1" dirty="0" smtClean="0">
                <a:latin typeface="Times New Roman" panose="02020603050405020304" pitchFamily="18" charset="0"/>
                <a:cs typeface="Times New Roman" panose="02020603050405020304" pitchFamily="18" charset="0"/>
              </a:rPr>
              <a:t>Language:</a:t>
            </a:r>
            <a:r>
              <a:rPr lang="en-US" dirty="0" smtClean="0">
                <a:latin typeface="Times New Roman" panose="02020603050405020304" pitchFamily="18" charset="0"/>
                <a:cs typeface="Times New Roman" panose="02020603050405020304" pitchFamily="18" charset="0"/>
              </a:rPr>
              <a:t> Python</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3.8+ The </a:t>
            </a:r>
            <a:r>
              <a:rPr lang="en-US" dirty="0">
                <a:latin typeface="Times New Roman" panose="02020603050405020304" pitchFamily="18" charset="0"/>
                <a:cs typeface="Times New Roman" panose="02020603050405020304" pitchFamily="18" charset="0"/>
              </a:rPr>
              <a:t>most common and powerful language for </a:t>
            </a:r>
            <a:r>
              <a:rPr lang="en-US" dirty="0" smtClean="0">
                <a:latin typeface="Times New Roman" panose="02020603050405020304" pitchFamily="18" charset="0"/>
                <a:cs typeface="Times New Roman" panose="02020603050405020304" pitchFamily="18" charset="0"/>
              </a:rPr>
              <a:t> data </a:t>
            </a:r>
            <a:r>
              <a:rPr lang="en-US" dirty="0">
                <a:latin typeface="Times New Roman" panose="02020603050405020304" pitchFamily="18" charset="0"/>
                <a:cs typeface="Times New Roman" panose="02020603050405020304" pitchFamily="18" charset="0"/>
              </a:rPr>
              <a:t>science, used to </a:t>
            </a:r>
            <a:r>
              <a:rPr lang="en-US" dirty="0" smtClean="0">
                <a:latin typeface="Times New Roman" panose="02020603050405020304" pitchFamily="18" charset="0"/>
                <a:cs typeface="Times New Roman" panose="02020603050405020304" pitchFamily="18" charset="0"/>
              </a:rPr>
              <a:t>implement </a:t>
            </a:r>
            <a:r>
              <a:rPr lang="en-US" dirty="0">
                <a:latin typeface="Times New Roman" panose="02020603050405020304" pitchFamily="18" charset="0"/>
                <a:cs typeface="Times New Roman" panose="02020603050405020304" pitchFamily="18" charset="0"/>
              </a:rPr>
              <a:t>the entire TSNY ML pipeline (data ingestion, feature engineering, modeling, evaluation, and deployment</a:t>
            </a:r>
            <a:r>
              <a:rPr lang="en-US" dirty="0" smtClean="0">
                <a:latin typeface="Times New Roman" panose="02020603050405020304" pitchFamily="18" charset="0"/>
                <a:cs typeface="Times New Roman" panose="02020603050405020304" pitchFamily="18" charset="0"/>
              </a:rPr>
              <a:t>).</a:t>
            </a:r>
          </a:p>
          <a:p>
            <a:pPr marL="342900" indent="-342900">
              <a:buFont typeface="+mj-lt"/>
              <a:buAutoNum type="arabicPeriod"/>
            </a:pPr>
            <a:endParaRPr lang="en-US" dirty="0" smtClean="0">
              <a:latin typeface="Times New Roman" panose="02020603050405020304" pitchFamily="18" charset="0"/>
              <a:cs typeface="Times New Roman" panose="02020603050405020304" pitchFamily="18" charset="0"/>
            </a:endParaRPr>
          </a:p>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Core Machine Learning &amp; Data Science Libraries</a:t>
            </a:r>
            <a:r>
              <a:rPr lang="en-US" b="1" dirty="0" smtClean="0">
                <a:latin typeface="Times New Roman" panose="02020603050405020304" pitchFamily="18" charset="0"/>
                <a:cs typeface="Times New Roman" panose="02020603050405020304" pitchFamily="18" charset="0"/>
              </a:rPr>
              <a:t>:</a:t>
            </a:r>
          </a:p>
          <a:p>
            <a:endParaRPr lang="en-US"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i="1" dirty="0" err="1" smtClean="0">
                <a:latin typeface="Times New Roman" panose="02020603050405020304" pitchFamily="18" charset="0"/>
                <a:cs typeface="Times New Roman" panose="02020603050405020304" pitchFamily="18" charset="0"/>
              </a:rPr>
              <a:t>LightGBM</a:t>
            </a:r>
            <a:r>
              <a:rPr lang="en-US" b="1"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Primary gradient-boosting framework used for Winner and Placed prediction (fast, memory-efficient, handles categorical features</a:t>
            </a:r>
            <a:r>
              <a:rPr lang="en-US" dirty="0" smtClean="0">
                <a:latin typeface="Times New Roman" panose="02020603050405020304" pitchFamily="18" charset="0"/>
                <a:cs typeface="Times New Roman" panose="02020603050405020304" pitchFamily="18" charset="0"/>
              </a:rPr>
              <a:t>).</a:t>
            </a:r>
          </a:p>
          <a:p>
            <a:pPr lvl="1"/>
            <a:endParaRPr lang="en-US" dirty="0" smtClean="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i="1" dirty="0" err="1" smtClean="0">
                <a:latin typeface="Times New Roman" panose="02020603050405020304" pitchFamily="18" charset="0"/>
                <a:cs typeface="Times New Roman" panose="02020603050405020304" pitchFamily="18" charset="0"/>
              </a:rPr>
              <a:t>Scikit</a:t>
            </a:r>
            <a:r>
              <a:rPr lang="en-US" b="1" i="1" dirty="0" smtClean="0">
                <a:latin typeface="Times New Roman" panose="02020603050405020304" pitchFamily="18" charset="0"/>
                <a:cs typeface="Times New Roman" panose="02020603050405020304" pitchFamily="18" charset="0"/>
              </a:rPr>
              <a:t>-learn</a:t>
            </a:r>
            <a:r>
              <a:rPr lang="en-US" dirty="0">
                <a:latin typeface="Times New Roman" panose="02020603050405020304" pitchFamily="18" charset="0"/>
                <a:cs typeface="Times New Roman" panose="02020603050405020304" pitchFamily="18" charset="0"/>
              </a:rPr>
              <a:t>: Fundamental utilities for preprocessing, model evaluation, scaling, label encoding, and metrics (accuracy, precision, recall, AUC</a:t>
            </a:r>
            <a:r>
              <a:rPr lang="en-US" dirty="0" smtClean="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i="1" dirty="0" smtClean="0">
                <a:latin typeface="Times New Roman" panose="02020603050405020304" pitchFamily="18" charset="0"/>
                <a:cs typeface="Times New Roman" panose="02020603050405020304" pitchFamily="18" charset="0"/>
              </a:rPr>
              <a:t>Random </a:t>
            </a:r>
            <a:r>
              <a:rPr lang="en-US" b="1" i="1" dirty="0">
                <a:latin typeface="Times New Roman" panose="02020603050405020304" pitchFamily="18" charset="0"/>
                <a:cs typeface="Times New Roman" panose="02020603050405020304" pitchFamily="18" charset="0"/>
              </a:rPr>
              <a:t>Forest </a:t>
            </a:r>
            <a:r>
              <a:rPr lang="en-US" dirty="0">
                <a:latin typeface="Times New Roman" panose="02020603050405020304" pitchFamily="18" charset="0"/>
                <a:cs typeface="Times New Roman" panose="02020603050405020304" pitchFamily="18" charset="0"/>
              </a:rPr>
              <a:t>(baseline): Ensemble tree-based model used as a baseline comparison for robustness checks</a:t>
            </a:r>
            <a:r>
              <a:rPr lang="en-US" dirty="0" smtClean="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i="1" dirty="0" smtClean="0">
                <a:latin typeface="Times New Roman" panose="02020603050405020304" pitchFamily="18" charset="0"/>
                <a:cs typeface="Times New Roman" panose="02020603050405020304" pitchFamily="18" charset="0"/>
              </a:rPr>
              <a:t>Imbalanced-learn</a:t>
            </a:r>
            <a:r>
              <a:rPr lang="en-US" dirty="0">
                <a:latin typeface="Times New Roman" panose="02020603050405020304" pitchFamily="18" charset="0"/>
                <a:cs typeface="Times New Roman" panose="02020603050405020304" pitchFamily="18" charset="0"/>
              </a:rPr>
              <a:t>: Tools (e.g., SMOTE, resampling) to handle class imbalance in winner/placed labels</a:t>
            </a:r>
            <a:r>
              <a:rPr lang="en-US" dirty="0" smtClean="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30354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13</a:t>
            </a:fld>
            <a:endParaRPr lang="en-IN" sz="900" b="0" strike="noStrike" spc="-1">
              <a:latin typeface="Arial" panose="020B0604020202020204"/>
            </a:endParaRPr>
          </a:p>
        </p:txBody>
      </p:sp>
      <p:sp>
        <p:nvSpPr>
          <p:cNvPr id="3" name="Rectangle 2"/>
          <p:cNvSpPr/>
          <p:nvPr/>
        </p:nvSpPr>
        <p:spPr>
          <a:xfrm>
            <a:off x="116541" y="897902"/>
            <a:ext cx="8919882" cy="5078313"/>
          </a:xfrm>
          <a:prstGeom prst="rect">
            <a:avLst/>
          </a:prstGeom>
        </p:spPr>
        <p:txBody>
          <a:bodyPr wrap="square">
            <a:spAutoFit/>
          </a:bodyPr>
          <a:lstStyle/>
          <a:p>
            <a:pPr marL="285750" indent="-285750">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Pandas:</a:t>
            </a:r>
            <a:r>
              <a:rPr lang="en-US" dirty="0">
                <a:latin typeface="Times New Roman" panose="02020603050405020304" pitchFamily="18" charset="0"/>
                <a:cs typeface="Times New Roman" panose="02020603050405020304" pitchFamily="18" charset="0"/>
              </a:rPr>
              <a:t> Essential for loading, cleaning, joining, and structuring race and runner datasets.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i="1"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High-performance numerical operations and array manipulations used throughout feature engineering and model input pipelines</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i="1" dirty="0" err="1">
                <a:latin typeface="Times New Roman" panose="02020603050405020304" pitchFamily="18" charset="0"/>
                <a:cs typeface="Times New Roman" panose="02020603050405020304" pitchFamily="18" charset="0"/>
              </a:rPr>
              <a:t>Joblib</a:t>
            </a:r>
            <a:r>
              <a:rPr lang="en-US" b="1" i="1" dirty="0">
                <a:latin typeface="Times New Roman" panose="02020603050405020304" pitchFamily="18" charset="0"/>
                <a:cs typeface="Times New Roman" panose="02020603050405020304" pitchFamily="18" charset="0"/>
              </a:rPr>
              <a:t> / Pickle</a:t>
            </a:r>
            <a:r>
              <a:rPr lang="en-US" dirty="0">
                <a:latin typeface="Times New Roman" panose="02020603050405020304" pitchFamily="18" charset="0"/>
                <a:cs typeface="Times New Roman" panose="02020603050405020304" pitchFamily="18" charset="0"/>
              </a:rPr>
              <a:t>: Efficient model serialization and loading for production inference</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i="1" dirty="0" err="1">
                <a:latin typeface="Times New Roman" panose="02020603050405020304" pitchFamily="18" charset="0"/>
                <a:cs typeface="Times New Roman" panose="02020603050405020304" pitchFamily="18" charset="0"/>
              </a:rPr>
              <a:t>PyTables</a:t>
            </a:r>
            <a:r>
              <a:rPr lang="en-US" b="1" i="1" dirty="0">
                <a:latin typeface="Times New Roman" panose="02020603050405020304" pitchFamily="18" charset="0"/>
                <a:cs typeface="Times New Roman" panose="02020603050405020304" pitchFamily="18" charset="0"/>
              </a:rPr>
              <a:t> / h5py (HDF5): </a:t>
            </a:r>
            <a:r>
              <a:rPr lang="en-US" dirty="0">
                <a:latin typeface="Times New Roman" panose="02020603050405020304" pitchFamily="18" charset="0"/>
                <a:cs typeface="Times New Roman" panose="02020603050405020304" pitchFamily="18" charset="0"/>
              </a:rPr>
              <a:t>Storage library used for fast, compressed intermediate </a:t>
            </a:r>
            <a:r>
              <a:rPr lang="en-US" dirty="0" smtClean="0">
                <a:latin typeface="Times New Roman" panose="02020603050405020304" pitchFamily="18" charset="0"/>
                <a:cs typeface="Times New Roman" panose="02020603050405020304" pitchFamily="18" charset="0"/>
              </a:rPr>
              <a:t>datasets </a:t>
            </a:r>
            <a:r>
              <a:rPr lang="en-US" dirty="0">
                <a:latin typeface="Times New Roman" panose="02020603050405020304" pitchFamily="18" charset="0"/>
                <a:cs typeface="Times New Roman" panose="02020603050405020304" pitchFamily="18" charset="0"/>
              </a:rPr>
              <a:t>(train/test HDF5 files</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i="1" dirty="0" err="1">
                <a:latin typeface="Times New Roman" panose="02020603050405020304" pitchFamily="18" charset="0"/>
                <a:cs typeface="Times New Roman" panose="02020603050405020304" pitchFamily="18" charset="0"/>
              </a:rPr>
              <a:t>Matplotlib</a:t>
            </a:r>
            <a:r>
              <a:rPr lang="en-US" b="1" i="1" dirty="0">
                <a:latin typeface="Times New Roman" panose="02020603050405020304" pitchFamily="18" charset="0"/>
                <a:cs typeface="Times New Roman" panose="02020603050405020304" pitchFamily="18" charset="0"/>
              </a:rPr>
              <a:t> &amp; </a:t>
            </a:r>
            <a:r>
              <a:rPr lang="en-US" b="1" i="1" dirty="0" err="1">
                <a:latin typeface="Times New Roman" panose="02020603050405020304" pitchFamily="18" charset="0"/>
                <a:cs typeface="Times New Roman" panose="02020603050405020304" pitchFamily="18" charset="0"/>
              </a:rPr>
              <a:t>Seaborn</a:t>
            </a:r>
            <a:r>
              <a:rPr lang="en-US" b="1"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Plotting libraries for performance charts, feature importance visuals, and EDA</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a:ea typeface="+mn-lt"/>
                <a:cs typeface="+mn-lt"/>
              </a:rPr>
              <a:t>3.   Development </a:t>
            </a:r>
            <a:r>
              <a:rPr lang="en-US" b="1" dirty="0">
                <a:latin typeface="Times New Roman"/>
                <a:ea typeface="+mn-lt"/>
                <a:cs typeface="+mn-lt"/>
              </a:rPr>
              <a:t>Environment:</a:t>
            </a:r>
            <a:endParaRPr lang="en-US" b="1" dirty="0">
              <a:latin typeface="Times New Roman"/>
            </a:endParaRPr>
          </a:p>
          <a:p>
            <a:pPr marL="742950" lvl="1" indent="-285750">
              <a:buFont typeface="Arial"/>
              <a:buChar char="•"/>
            </a:pPr>
            <a:r>
              <a:rPr lang="en-US" dirty="0" err="1">
                <a:latin typeface="Times New Roman"/>
                <a:ea typeface="+mn-lt"/>
                <a:cs typeface="+mn-lt"/>
              </a:rPr>
              <a:t>Jupyter</a:t>
            </a:r>
            <a:r>
              <a:rPr lang="en-US" dirty="0">
                <a:latin typeface="Times New Roman"/>
                <a:ea typeface="+mn-lt"/>
                <a:cs typeface="+mn-lt"/>
              </a:rPr>
              <a:t> Notebook / </a:t>
            </a:r>
            <a:r>
              <a:rPr lang="en-US" dirty="0" err="1">
                <a:latin typeface="Times New Roman"/>
                <a:ea typeface="+mn-lt"/>
                <a:cs typeface="+mn-lt"/>
              </a:rPr>
              <a:t>JupyterLab</a:t>
            </a:r>
            <a:r>
              <a:rPr lang="en-US" dirty="0">
                <a:latin typeface="Times New Roman"/>
                <a:ea typeface="+mn-lt"/>
                <a:cs typeface="+mn-lt"/>
              </a:rPr>
              <a:t> / VS Code: An interactive environment ideal for data exploration, model development, and visualizing results step-by-step.</a:t>
            </a:r>
            <a:endParaRPr lang="en-US" dirty="0">
              <a:latin typeface="Times New Roman"/>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2397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14</a:t>
            </a:fld>
            <a:endParaRPr lang="en-IN" sz="900" b="0" strike="noStrike" spc="-1">
              <a:latin typeface="Arial" panose="020B0604020202020204"/>
            </a:endParaRPr>
          </a:p>
        </p:txBody>
      </p:sp>
      <p:sp>
        <p:nvSpPr>
          <p:cNvPr id="2" name="Rectangle 1"/>
          <p:cNvSpPr/>
          <p:nvPr/>
        </p:nvSpPr>
        <p:spPr>
          <a:xfrm>
            <a:off x="188258" y="1387838"/>
            <a:ext cx="8830235" cy="3847207"/>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Hardware Requirements (Functional</a:t>
            </a:r>
            <a:r>
              <a:rPr lang="en-US" b="1"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b="1" dirty="0"/>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CPU:</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Multi-core processor (e.g</a:t>
            </a:r>
            <a:r>
              <a:rPr lang="en-US" sz="1600" b="1" i="1" dirty="0">
                <a:latin typeface="Times New Roman" panose="02020603050405020304" pitchFamily="18" charset="0"/>
                <a:cs typeface="Times New Roman" panose="02020603050405020304" pitchFamily="18" charset="0"/>
              </a:rPr>
              <a:t>., Intel Core i5 / AMD Ryzen 5 or better</a:t>
            </a:r>
            <a:r>
              <a:rPr lang="en-US" sz="1600" dirty="0">
                <a:latin typeface="Times New Roman" panose="02020603050405020304" pitchFamily="18" charset="0"/>
                <a:cs typeface="Times New Roman" panose="02020603050405020304" pitchFamily="18" charset="0"/>
              </a:rPr>
              <a:t>) to efficiently handle data preprocessing, model execution, and feature engineering</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RAM:</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i="1" dirty="0">
                <a:latin typeface="Times New Roman" panose="02020603050405020304" pitchFamily="18" charset="0"/>
                <a:cs typeface="Times New Roman" panose="02020603050405020304" pitchFamily="18" charset="0"/>
              </a:rPr>
              <a:t>8 GB minimum, 16 GB recommended </a:t>
            </a:r>
            <a:r>
              <a:rPr lang="en-US" sz="1600" dirty="0">
                <a:latin typeface="Times New Roman" panose="02020603050405020304" pitchFamily="18" charset="0"/>
                <a:cs typeface="Times New Roman" panose="02020603050405020304" pitchFamily="18" charset="0"/>
              </a:rPr>
              <a:t>for smooth dataset processing, </a:t>
            </a:r>
            <a:r>
              <a:rPr lang="en-US" sz="1600" dirty="0" err="1">
                <a:latin typeface="Times New Roman" panose="02020603050405020304" pitchFamily="18" charset="0"/>
                <a:cs typeface="Times New Roman" panose="02020603050405020304" pitchFamily="18" charset="0"/>
              </a:rPr>
              <a:t>LightGBM</a:t>
            </a:r>
            <a:r>
              <a:rPr lang="en-US" sz="1600" dirty="0">
                <a:latin typeface="Times New Roman" panose="02020603050405020304" pitchFamily="18" charset="0"/>
                <a:cs typeface="Times New Roman" panose="02020603050405020304" pitchFamily="18" charset="0"/>
              </a:rPr>
              <a:t> training, and handling HDF5 files without lag</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Storage:</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i="1" dirty="0">
                <a:latin typeface="Times New Roman" panose="02020603050405020304" pitchFamily="18" charset="0"/>
                <a:cs typeface="Times New Roman" panose="02020603050405020304" pitchFamily="18" charset="0"/>
              </a:rPr>
              <a:t>256 GB SSD </a:t>
            </a:r>
            <a:r>
              <a:rPr lang="en-US" sz="1600" dirty="0">
                <a:latin typeface="Times New Roman" panose="02020603050405020304" pitchFamily="18" charset="0"/>
                <a:cs typeface="Times New Roman" panose="02020603050405020304" pitchFamily="18" charset="0"/>
              </a:rPr>
              <a:t>recommended for faster dataset loading, model saving, and intermediate file operations</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Graphics (Optional):</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 basic</a:t>
            </a:r>
            <a:r>
              <a:rPr lang="en-US" sz="1600" b="1" i="1" dirty="0">
                <a:latin typeface="Times New Roman" panose="02020603050405020304" pitchFamily="18" charset="0"/>
                <a:cs typeface="Times New Roman" panose="02020603050405020304" pitchFamily="18" charset="0"/>
              </a:rPr>
              <a:t> NVIDIA CUDA-enabled GPU </a:t>
            </a:r>
            <a:r>
              <a:rPr lang="en-US" sz="1600" dirty="0">
                <a:latin typeface="Times New Roman" panose="02020603050405020304" pitchFamily="18" charset="0"/>
                <a:cs typeface="Times New Roman" panose="02020603050405020304" pitchFamily="18" charset="0"/>
              </a:rPr>
              <a:t>can accelerate model training but is not mandatory.</a:t>
            </a:r>
          </a:p>
        </p:txBody>
      </p:sp>
      <p:sp>
        <p:nvSpPr>
          <p:cNvPr id="4" name="Rectangle 3"/>
          <p:cNvSpPr/>
          <p:nvPr/>
        </p:nvSpPr>
        <p:spPr>
          <a:xfrm>
            <a:off x="2577694" y="788005"/>
            <a:ext cx="184731" cy="369332"/>
          </a:xfrm>
          <a:prstGeom prst="rect">
            <a:avLst/>
          </a:prstGeom>
        </p:spPr>
        <p:txBody>
          <a:bodyPr wrap="none">
            <a:spAutoFit/>
          </a:bodyPr>
          <a:lstStyle/>
          <a:p>
            <a:endParaRPr lang="en-US" dirty="0"/>
          </a:p>
        </p:txBody>
      </p:sp>
      <p:sp>
        <p:nvSpPr>
          <p:cNvPr id="5" name="Rectangle 4"/>
          <p:cNvSpPr/>
          <p:nvPr/>
        </p:nvSpPr>
        <p:spPr>
          <a:xfrm>
            <a:off x="1089442" y="790454"/>
            <a:ext cx="6016904" cy="523220"/>
          </a:xfrm>
          <a:prstGeom prst="rect">
            <a:avLst/>
          </a:prstGeom>
        </p:spPr>
        <p:txBody>
          <a:bodyPr wrap="none">
            <a:spAutoFit/>
          </a:bodyPr>
          <a:lstStyle/>
          <a:p>
            <a:pPr marL="431800" lvl="2">
              <a:lnSpc>
                <a:spcPct val="100000"/>
              </a:lnSpc>
              <a:buClr>
                <a:srgbClr val="000000"/>
              </a:buClr>
              <a:buSzPct val="45000"/>
            </a:pPr>
            <a:r>
              <a:rPr lang="en-US" sz="2800" b="1" spc="-1" dirty="0">
                <a:solidFill>
                  <a:srgbClr val="000000"/>
                </a:solidFill>
                <a:latin typeface="Times New Roman" panose="02020603050405020304" pitchFamily="18" charset="0"/>
                <a:cs typeface="Times New Roman" panose="02020603050405020304" pitchFamily="18" charset="0"/>
              </a:rPr>
              <a:t>System Requirement Specifications</a:t>
            </a:r>
            <a:endParaRPr lang="en-IN"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20932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15</a:t>
            </a:fld>
            <a:endParaRPr lang="en-IN" sz="900" b="0" strike="noStrike" spc="-1">
              <a:latin typeface="Arial" panose="020B0604020202020204"/>
            </a:endParaRPr>
          </a:p>
        </p:txBody>
      </p:sp>
      <p:sp>
        <p:nvSpPr>
          <p:cNvPr id="2" name="Rectangle 1"/>
          <p:cNvSpPr/>
          <p:nvPr/>
        </p:nvSpPr>
        <p:spPr>
          <a:xfrm>
            <a:off x="224118" y="1183463"/>
            <a:ext cx="8919882" cy="5262979"/>
          </a:xfrm>
          <a:prstGeom prst="rect">
            <a:avLst/>
          </a:prstGeom>
        </p:spPr>
        <p:txBody>
          <a:bodyPr wrap="square">
            <a:spAutoFit/>
          </a:bodyPr>
          <a:lstStyle/>
          <a:p>
            <a:pPr marL="342900" indent="-342900">
              <a:buAutoNum type="arabicPeriod" startAt="2"/>
            </a:pPr>
            <a:r>
              <a:rPr lang="en-US" sz="1600" b="1" dirty="0" smtClean="0">
                <a:latin typeface="Times New Roman" panose="02020603050405020304" pitchFamily="18" charset="0"/>
                <a:cs typeface="Times New Roman" panose="02020603050405020304" pitchFamily="18" charset="0"/>
              </a:rPr>
              <a:t>Software </a:t>
            </a:r>
            <a:r>
              <a:rPr lang="en-US" sz="1600" b="1" dirty="0">
                <a:latin typeface="Times New Roman" panose="02020603050405020304" pitchFamily="18" charset="0"/>
                <a:cs typeface="Times New Roman" panose="02020603050405020304" pitchFamily="18" charset="0"/>
              </a:rPr>
              <a:t>Requirements (Non-Functional</a:t>
            </a:r>
            <a:r>
              <a:rPr lang="en-US" sz="1600" b="1" dirty="0" smtClean="0">
                <a:latin typeface="Times New Roman" panose="02020603050405020304" pitchFamily="18" charset="0"/>
                <a:cs typeface="Times New Roman" panose="02020603050405020304" pitchFamily="18" charset="0"/>
              </a:rPr>
              <a:t>):</a:t>
            </a:r>
          </a:p>
          <a:p>
            <a:pPr marL="342900" indent="-342900">
              <a:buAutoNum type="arabicPeriod" startAt="2"/>
            </a:pPr>
            <a:endParaRPr lang="en-US"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Operating System:</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Windows 10/11, </a:t>
            </a:r>
            <a:r>
              <a:rPr lang="en-US" sz="1600" dirty="0" err="1">
                <a:latin typeface="Times New Roman" panose="02020603050405020304" pitchFamily="18" charset="0"/>
                <a:cs typeface="Times New Roman" panose="02020603050405020304" pitchFamily="18" charset="0"/>
              </a:rPr>
              <a:t>macOS</a:t>
            </a:r>
            <a:r>
              <a:rPr lang="en-US" sz="1600" dirty="0">
                <a:latin typeface="Times New Roman" panose="02020603050405020304" pitchFamily="18" charset="0"/>
                <a:cs typeface="Times New Roman" panose="02020603050405020304" pitchFamily="18" charset="0"/>
              </a:rPr>
              <a:t>, or any modern Linux distribution (e.g., Ubuntu 20.04</a:t>
            </a:r>
            <a:r>
              <a:rPr lang="en-US"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Core Software</a:t>
            </a:r>
            <a:r>
              <a:rPr lang="en-US" sz="1600" b="1"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Python (Version 3.8 or newer)</a:t>
            </a:r>
            <a:r>
              <a:rPr lang="en-US" sz="1600" dirty="0">
                <a:latin typeface="Times New Roman" panose="02020603050405020304" pitchFamily="18" charset="0"/>
                <a:cs typeface="Times New Roman" panose="02020603050405020304" pitchFamily="18" charset="0"/>
              </a:rPr>
              <a:t> – Required for all scripts and ML workflows</a:t>
            </a:r>
            <a:r>
              <a:rPr lang="en-US" sz="1600" dirty="0" smtClean="0">
                <a:latin typeface="Times New Roman" panose="02020603050405020304" pitchFamily="18" charset="0"/>
                <a:cs typeface="Times New Roman" panose="02020603050405020304" pitchFamily="18" charset="0"/>
              </a:rPr>
              <a:t>.</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Anaconda Distribution</a:t>
            </a:r>
            <a:r>
              <a:rPr lang="en-US" sz="1600" dirty="0">
                <a:latin typeface="Times New Roman" panose="02020603050405020304" pitchFamily="18" charset="0"/>
                <a:cs typeface="Times New Roman" panose="02020603050405020304" pitchFamily="18" charset="0"/>
              </a:rPr>
              <a:t> – Highly recommended for managing environments and installing libraries like Pandas, </a:t>
            </a:r>
            <a:r>
              <a:rPr lang="en-US" sz="1600" dirty="0" err="1">
                <a:latin typeface="Times New Roman" panose="02020603050405020304" pitchFamily="18" charset="0"/>
                <a:cs typeface="Times New Roman" panose="02020603050405020304" pitchFamily="18" charset="0"/>
              </a:rPr>
              <a:t>NumPy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Scikit</a:t>
            </a:r>
            <a:r>
              <a:rPr lang="en-US" sz="1600" dirty="0">
                <a:latin typeface="Times New Roman" panose="02020603050405020304" pitchFamily="18" charset="0"/>
                <a:cs typeface="Times New Roman" panose="02020603050405020304" pitchFamily="18" charset="0"/>
              </a:rPr>
              <a:t>-learn, </a:t>
            </a:r>
            <a:r>
              <a:rPr lang="en-US" sz="1600" dirty="0" err="1">
                <a:latin typeface="Times New Roman" panose="02020603050405020304" pitchFamily="18" charset="0"/>
                <a:cs typeface="Times New Roman" panose="02020603050405020304" pitchFamily="18" charset="0"/>
              </a:rPr>
              <a:t>LightGBM</a:t>
            </a:r>
            <a:r>
              <a:rPr lang="en-US" sz="1600" dirty="0">
                <a:latin typeface="Times New Roman" panose="02020603050405020304" pitchFamily="18" charset="0"/>
                <a:cs typeface="Times New Roman" panose="02020603050405020304" pitchFamily="18" charset="0"/>
              </a:rPr>
              <a:t>, Imbalanced-learn, and h5py</a:t>
            </a:r>
            <a:r>
              <a:rPr lang="en-US" sz="1600" dirty="0" smtClean="0">
                <a:latin typeface="Times New Roman" panose="02020603050405020304" pitchFamily="18" charset="0"/>
                <a:cs typeface="Times New Roman" panose="02020603050405020304" pitchFamily="18" charset="0"/>
              </a:rPr>
              <a:t>.</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Required Python Libraries</a:t>
            </a:r>
            <a:r>
              <a:rPr lang="en-US" sz="1600" b="1" dirty="0" smtClean="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(Installed automatically via Anaconda/pip)</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Pandas</a:t>
            </a:r>
          </a:p>
          <a:p>
            <a:pPr lvl="1">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NumPy</a:t>
            </a:r>
            <a:endParaRPr lang="en-US" sz="16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Scikit</a:t>
            </a:r>
            <a:r>
              <a:rPr lang="en-US" sz="1600" dirty="0">
                <a:latin typeface="Times New Roman" panose="02020603050405020304" pitchFamily="18" charset="0"/>
                <a:cs typeface="Times New Roman" panose="02020603050405020304" pitchFamily="18" charset="0"/>
              </a:rPr>
              <a:t>-learn</a:t>
            </a:r>
          </a:p>
          <a:p>
            <a:pPr lvl="1">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LightGBM</a:t>
            </a:r>
            <a:endParaRPr lang="en-US" sz="16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Imbalanced-learn</a:t>
            </a:r>
          </a:p>
          <a:p>
            <a:pPr lvl="1">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Matplotlib</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Seaborn</a:t>
            </a:r>
            <a:endParaRPr lang="en-US" sz="16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h5py / </a:t>
            </a:r>
            <a:r>
              <a:rPr lang="en-US" sz="1600" dirty="0" err="1">
                <a:latin typeface="Times New Roman" panose="02020603050405020304" pitchFamily="18" charset="0"/>
                <a:cs typeface="Times New Roman" panose="02020603050405020304" pitchFamily="18" charset="0"/>
              </a:rPr>
              <a:t>PyTables</a:t>
            </a:r>
            <a:endParaRPr lang="en-US" sz="16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Joblib</a:t>
            </a:r>
            <a:r>
              <a:rPr lang="en-US" sz="1600" dirty="0">
                <a:latin typeface="Times New Roman" panose="02020603050405020304" pitchFamily="18" charset="0"/>
                <a:cs typeface="Times New Roman" panose="02020603050405020304" pitchFamily="18" charset="0"/>
              </a:rPr>
              <a:t> / Pickle</a:t>
            </a:r>
          </a:p>
        </p:txBody>
      </p:sp>
    </p:spTree>
    <p:extLst>
      <p:ext uri="{BB962C8B-B14F-4D97-AF65-F5344CB8AC3E}">
        <p14:creationId xmlns:p14="http://schemas.microsoft.com/office/powerpoint/2010/main" val="1253892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stomShape 1"/>
          <p:cNvSpPr/>
          <p:nvPr/>
        </p:nvSpPr>
        <p:spPr>
          <a:xfrm>
            <a:off x="62856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nSpc>
                <a:spcPct val="100000"/>
              </a:lnSpc>
            </a:pPr>
            <a:fld id="{54B75AAE-0443-44E0-A227-27195AA003F5}" type="datetime1">
              <a:rPr lang="en-IN" sz="900" b="0" strike="noStrike" spc="-1">
                <a:solidFill>
                  <a:srgbClr val="8B8B8B"/>
                </a:solidFill>
                <a:latin typeface="Calibri" panose="020F0502020204030204"/>
              </a:rPr>
              <a:t>15-11-2025</a:t>
            </a:fld>
            <a:endParaRPr lang="en-IN" sz="900" b="0" strike="noStrike" spc="-1">
              <a:latin typeface="Arial" panose="020B0604020202020204"/>
            </a:endParaRPr>
          </a:p>
        </p:txBody>
      </p:sp>
      <p:sp>
        <p:nvSpPr>
          <p:cNvPr id="51" name="CustomShape 2"/>
          <p:cNvSpPr/>
          <p:nvPr/>
        </p:nvSpPr>
        <p:spPr>
          <a:xfrm>
            <a:off x="6458040" y="6356520"/>
            <a:ext cx="2056680" cy="364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r">
              <a:lnSpc>
                <a:spcPct val="100000"/>
              </a:lnSpc>
            </a:pPr>
            <a:fld id="{0210BBB9-61C5-485F-81E2-B6B5325B6570}" type="slidenum">
              <a:rPr lang="en-IN" sz="900" b="0" strike="noStrike" spc="-1">
                <a:solidFill>
                  <a:srgbClr val="8B8B8B"/>
                </a:solidFill>
                <a:latin typeface="Calibri" panose="020F0502020204030204"/>
              </a:rPr>
              <a:t>16</a:t>
            </a:fld>
            <a:endParaRPr lang="en-IN" sz="900" b="0" strike="noStrike" spc="-1">
              <a:latin typeface="Arial" panose="020B0604020202020204"/>
            </a:endParaRPr>
          </a:p>
        </p:txBody>
      </p:sp>
      <p:sp>
        <p:nvSpPr>
          <p:cNvPr id="4" name="Rectangle 3"/>
          <p:cNvSpPr/>
          <p:nvPr/>
        </p:nvSpPr>
        <p:spPr>
          <a:xfrm>
            <a:off x="2303928" y="791453"/>
            <a:ext cx="4572000" cy="523220"/>
          </a:xfrm>
          <a:prstGeom prst="rect">
            <a:avLst/>
          </a:prstGeom>
        </p:spPr>
        <p:txBody>
          <a:bodyPr>
            <a:spAutoFit/>
          </a:bodyPr>
          <a:lstStyle/>
          <a:p>
            <a:pPr marL="431800" lvl="2">
              <a:lnSpc>
                <a:spcPct val="100000"/>
              </a:lnSpc>
              <a:buClr>
                <a:srgbClr val="000000"/>
              </a:buClr>
              <a:buSzPct val="45000"/>
            </a:pPr>
            <a:r>
              <a:rPr lang="en-US" sz="2800" b="1" spc="-1" dirty="0">
                <a:solidFill>
                  <a:srgbClr val="000000"/>
                </a:solidFill>
                <a:latin typeface="Calibri" panose="020F0502020204030204"/>
              </a:rPr>
              <a:t>Outcome of the project </a:t>
            </a:r>
            <a:endParaRPr lang="en-IN" sz="2800" spc="-1" dirty="0"/>
          </a:p>
        </p:txBody>
      </p:sp>
      <p:sp>
        <p:nvSpPr>
          <p:cNvPr id="5" name="Rectangle 4"/>
          <p:cNvSpPr/>
          <p:nvPr/>
        </p:nvSpPr>
        <p:spPr>
          <a:xfrm>
            <a:off x="98613" y="1507903"/>
            <a:ext cx="8812306" cy="1200329"/>
          </a:xfrm>
          <a:prstGeom prst="rect">
            <a:avLst/>
          </a:prstGeom>
        </p:spPr>
        <p:txBody>
          <a:bodyPr wrap="square">
            <a:spAutoFit/>
          </a:bodyPr>
          <a:lstStyle/>
          <a:p>
            <a:r>
              <a:rPr lang="en-IN" dirty="0">
                <a:latin typeface="Times New Roman" panose="02020603050405020304" pitchFamily="18" charset="0"/>
                <a:ea typeface="Times New Roman" panose="02020603050405020304" pitchFamily="18" charset="0"/>
              </a:rPr>
              <a:t>The </a:t>
            </a:r>
            <a:r>
              <a:rPr lang="en-IN" b="1" i="1" dirty="0">
                <a:latin typeface="Times New Roman" panose="02020603050405020304" pitchFamily="18" charset="0"/>
                <a:ea typeface="Times New Roman" panose="02020603050405020304" pitchFamily="18" charset="0"/>
              </a:rPr>
              <a:t>Prediction Module</a:t>
            </a:r>
            <a:r>
              <a:rPr lang="en-IN" dirty="0">
                <a:latin typeface="Times New Roman" panose="02020603050405020304" pitchFamily="18" charset="0"/>
                <a:ea typeface="Times New Roman" panose="02020603050405020304" pitchFamily="18" charset="0"/>
              </a:rPr>
              <a:t> is the final functional part of the system, where fairness reports, user-risk simulations, and awareness visualizations are generated. It uses the trained Random Forest model to predict fair win probabilities and to demonstrate the effects of manipulated odds over continuous betting.</a:t>
            </a:r>
            <a:endParaRPr lang="en-US" dirty="0">
              <a:effectLst/>
              <a:latin typeface="Times New Roman" panose="02020603050405020304" pitchFamily="18" charset="0"/>
              <a:ea typeface="Times New Roman" panose="02020603050405020304" pitchFamily="18" charset="0"/>
            </a:endParaRPr>
          </a:p>
        </p:txBody>
      </p:sp>
      <p:pic>
        <p:nvPicPr>
          <p:cNvPr id="8" name="Picture 7"/>
          <p:cNvPicPr/>
          <p:nvPr/>
        </p:nvPicPr>
        <p:blipFill>
          <a:blip r:embed="rId2"/>
          <a:stretch>
            <a:fillRect/>
          </a:stretch>
        </p:blipFill>
        <p:spPr>
          <a:xfrm>
            <a:off x="98613" y="2770984"/>
            <a:ext cx="4132168" cy="358553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4766" y="2753943"/>
            <a:ext cx="4406153" cy="3602576"/>
          </a:xfrm>
          <a:prstGeom prst="rect">
            <a:avLst/>
          </a:prstGeom>
        </p:spPr>
      </p:pic>
    </p:spTree>
    <p:extLst>
      <p:ext uri="{BB962C8B-B14F-4D97-AF65-F5344CB8AC3E}">
        <p14:creationId xmlns:p14="http://schemas.microsoft.com/office/powerpoint/2010/main" val="26453112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6188" y="1224154"/>
            <a:ext cx="8534400" cy="646331"/>
          </a:xfrm>
          <a:prstGeom prst="rect">
            <a:avLst/>
          </a:prstGeom>
        </p:spPr>
        <p:txBody>
          <a:bodyPr wrap="square">
            <a:spAutoFit/>
          </a:bodyPr>
          <a:lstStyle/>
          <a:p>
            <a:r>
              <a:rPr lang="en-US" dirty="0" smtClean="0">
                <a:latin typeface="Times New Roman"/>
                <a:ea typeface="+mn-lt"/>
                <a:cs typeface="+mn-lt"/>
              </a:rPr>
              <a:t>An </a:t>
            </a:r>
            <a:r>
              <a:rPr lang="en-US" dirty="0">
                <a:latin typeface="Times New Roman"/>
                <a:ea typeface="+mn-lt"/>
                <a:cs typeface="+mn-lt"/>
              </a:rPr>
              <a:t>informational website or platform that educates the public on the mechanics of betting odds, the risks of the unregulated market, and how data can reveal unfair practices</a:t>
            </a:r>
            <a:endParaRPr lang="en-US" dirty="0"/>
          </a:p>
        </p:txBody>
      </p:sp>
      <p:pic>
        <p:nvPicPr>
          <p:cNvPr id="3" name="Picture 2"/>
          <p:cNvPicPr/>
          <p:nvPr/>
        </p:nvPicPr>
        <p:blipFill>
          <a:blip r:embed="rId2"/>
          <a:stretch>
            <a:fillRect/>
          </a:stretch>
        </p:blipFill>
        <p:spPr>
          <a:xfrm>
            <a:off x="143435" y="2837801"/>
            <a:ext cx="4231341" cy="3540125"/>
          </a:xfrm>
          <a:prstGeom prst="rect">
            <a:avLst/>
          </a:prstGeom>
        </p:spPr>
      </p:pic>
      <p:sp>
        <p:nvSpPr>
          <p:cNvPr id="4" name="Rectangle 3"/>
          <p:cNvSpPr/>
          <p:nvPr/>
        </p:nvSpPr>
        <p:spPr>
          <a:xfrm>
            <a:off x="1752600" y="2468469"/>
            <a:ext cx="1801906" cy="369332"/>
          </a:xfrm>
          <a:prstGeom prst="rect">
            <a:avLst/>
          </a:prstGeom>
        </p:spPr>
        <p:txBody>
          <a:bodyPr wrap="square">
            <a:spAutoFit/>
          </a:bodyPr>
          <a:lstStyle/>
          <a:p>
            <a:r>
              <a:rPr lang="en-US" dirty="0" smtClean="0">
                <a:latin typeface="Times New Roman"/>
                <a:ea typeface="+mn-lt"/>
                <a:cs typeface="+mn-lt"/>
              </a:rPr>
              <a:t>Home Page</a:t>
            </a:r>
            <a:endParaRPr lang="en-US" dirty="0"/>
          </a:p>
        </p:txBody>
      </p:sp>
      <p:pic>
        <p:nvPicPr>
          <p:cNvPr id="5" name="Picture 4"/>
          <p:cNvPicPr/>
          <p:nvPr/>
        </p:nvPicPr>
        <p:blipFill>
          <a:blip r:embed="rId3"/>
          <a:stretch>
            <a:fillRect/>
          </a:stretch>
        </p:blipFill>
        <p:spPr>
          <a:xfrm>
            <a:off x="4536141" y="2825679"/>
            <a:ext cx="4527177" cy="3540124"/>
          </a:xfrm>
          <a:prstGeom prst="rect">
            <a:avLst/>
          </a:prstGeom>
        </p:spPr>
      </p:pic>
      <p:sp>
        <p:nvSpPr>
          <p:cNvPr id="6" name="Rectangle 5"/>
          <p:cNvSpPr/>
          <p:nvPr/>
        </p:nvSpPr>
        <p:spPr>
          <a:xfrm>
            <a:off x="6024076" y="2392687"/>
            <a:ext cx="1268296" cy="369332"/>
          </a:xfrm>
          <a:prstGeom prst="rect">
            <a:avLst/>
          </a:prstGeom>
        </p:spPr>
        <p:txBody>
          <a:bodyPr wrap="none">
            <a:spAutoFit/>
          </a:bodyPr>
          <a:lstStyle/>
          <a:p>
            <a:r>
              <a:rPr lang="en-US" dirty="0" smtClean="0">
                <a:latin typeface="Times New Roman"/>
                <a:ea typeface="+mn-lt"/>
                <a:cs typeface="+mn-lt"/>
              </a:rPr>
              <a:t>About Page</a:t>
            </a:r>
            <a:endParaRPr lang="en-US" dirty="0"/>
          </a:p>
        </p:txBody>
      </p:sp>
    </p:spTree>
    <p:extLst>
      <p:ext uri="{BB962C8B-B14F-4D97-AF65-F5344CB8AC3E}">
        <p14:creationId xmlns:p14="http://schemas.microsoft.com/office/powerpoint/2010/main" val="1965209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8F9AE048-CB9D-9998-8270-47515050E434}"/>
              </a:ext>
            </a:extLst>
          </p:cNvPr>
          <p:cNvSpPr txBox="1"/>
          <p:nvPr/>
        </p:nvSpPr>
        <p:spPr>
          <a:xfrm>
            <a:off x="2137652" y="725766"/>
            <a:ext cx="525823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31800" lvl="2"/>
            <a:r>
              <a:rPr lang="en-US" sz="2800" b="1" dirty="0">
                <a:latin typeface="Times New Roman" panose="02020603050405020304" pitchFamily="18" charset="0"/>
                <a:ea typeface="Calibri"/>
                <a:cs typeface="Times New Roman" panose="02020603050405020304" pitchFamily="18" charset="0"/>
              </a:rPr>
              <a:t>Applications of the Project</a:t>
            </a:r>
            <a:endParaRPr lang="en-IN" sz="2800" dirty="0">
              <a:latin typeface="Times New Roman" panose="02020603050405020304" pitchFamily="18" charset="0"/>
              <a:ea typeface="Calibri"/>
              <a:cs typeface="Times New Roman" panose="02020603050405020304" pitchFamily="18" charset="0"/>
            </a:endParaRPr>
          </a:p>
          <a:p>
            <a:pPr algn="l"/>
            <a:endParaRPr lang="en-US" dirty="0"/>
          </a:p>
        </p:txBody>
      </p:sp>
      <p:sp>
        <p:nvSpPr>
          <p:cNvPr id="3" name="TextBox 2">
            <a:extLst>
              <a:ext uri="{FF2B5EF4-FFF2-40B4-BE49-F238E27FC236}">
                <a16:creationId xmlns:a16="http://schemas.microsoft.com/office/drawing/2014/main" xmlns="" id="{9DAB86C8-788B-5B8D-F05C-7F1ED52BBB7B}"/>
              </a:ext>
            </a:extLst>
          </p:cNvPr>
          <p:cNvSpPr txBox="1"/>
          <p:nvPr/>
        </p:nvSpPr>
        <p:spPr>
          <a:xfrm>
            <a:off x="55069" y="1525985"/>
            <a:ext cx="90297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latin typeface="Times New Roman" panose="02020603050405020304" pitchFamily="18" charset="0"/>
                <a:ea typeface="+mn-lt"/>
                <a:cs typeface="Times New Roman" panose="02020603050405020304" pitchFamily="18" charset="0"/>
              </a:rPr>
              <a:t>Market Fairness Analysis:</a:t>
            </a:r>
            <a:endParaRPr lang="en-US" dirty="0">
              <a:latin typeface="Times New Roman" panose="02020603050405020304" pitchFamily="18" charset="0"/>
              <a:ea typeface="+mn-lt"/>
              <a:cs typeface="Times New Roman" panose="02020603050405020304" pitchFamily="18" charset="0"/>
            </a:endParaRPr>
          </a:p>
          <a:p>
            <a:pPr marL="742950" lvl="1" indent="-285750">
              <a:buFont typeface="Arial"/>
              <a:buChar char="•"/>
            </a:pPr>
            <a:r>
              <a:rPr lang="en-US" dirty="0">
                <a:latin typeface="Times New Roman" panose="02020603050405020304" pitchFamily="18" charset="0"/>
                <a:ea typeface="+mn-lt"/>
                <a:cs typeface="Times New Roman" panose="02020603050405020304" pitchFamily="18" charset="0"/>
              </a:rPr>
              <a:t>Provides a clear, data-driven method to study and determine if betting apps are fair or biased.</a:t>
            </a:r>
          </a:p>
          <a:p>
            <a:pPr marL="285750" indent="-285750">
              <a:buFont typeface="Arial"/>
              <a:buChar char="•"/>
            </a:pPr>
            <a:r>
              <a:rPr lang="en-US" b="1" dirty="0">
                <a:latin typeface="Times New Roman" panose="02020603050405020304" pitchFamily="18" charset="0"/>
                <a:ea typeface="+mn-lt"/>
                <a:cs typeface="Times New Roman" panose="02020603050405020304" pitchFamily="18" charset="0"/>
              </a:rPr>
              <a:t>Consumer Awareness &amp; Education:</a:t>
            </a:r>
            <a:endParaRPr lang="en-US" dirty="0">
              <a:latin typeface="Times New Roman" panose="02020603050405020304" pitchFamily="18" charset="0"/>
              <a:ea typeface="+mn-lt"/>
              <a:cs typeface="Times New Roman" panose="02020603050405020304" pitchFamily="18" charset="0"/>
            </a:endParaRPr>
          </a:p>
          <a:p>
            <a:pPr marL="742950" lvl="1" indent="-285750">
              <a:buFont typeface="Arial"/>
              <a:buChar char="•"/>
            </a:pPr>
            <a:r>
              <a:rPr lang="en-US" dirty="0">
                <a:latin typeface="Times New Roman" panose="02020603050405020304" pitchFamily="18" charset="0"/>
                <a:ea typeface="+mn-lt"/>
                <a:cs typeface="Times New Roman" panose="02020603050405020304" pitchFamily="18" charset="0"/>
              </a:rPr>
              <a:t>Clearly demonstrates to users the long-term financial risks, even when games appear fair initially.</a:t>
            </a:r>
          </a:p>
          <a:p>
            <a:pPr marL="742950" lvl="1" indent="-285750">
              <a:buFont typeface="Arial"/>
              <a:buChar char="•"/>
            </a:pPr>
            <a:r>
              <a:rPr lang="en-US" dirty="0">
                <a:latin typeface="Times New Roman" panose="02020603050405020304" pitchFamily="18" charset="0"/>
                <a:ea typeface="+mn-lt"/>
                <a:cs typeface="Times New Roman" panose="02020603050405020304" pitchFamily="18" charset="0"/>
              </a:rPr>
              <a:t>Creates public awareness about the dangers of online betting and promotes responsible choices.</a:t>
            </a:r>
          </a:p>
          <a:p>
            <a:pPr marL="285750" indent="-285750">
              <a:buFont typeface="Arial"/>
              <a:buChar char="•"/>
            </a:pPr>
            <a:r>
              <a:rPr lang="en-US" b="1" dirty="0">
                <a:latin typeface="Times New Roman" panose="02020603050405020304" pitchFamily="18" charset="0"/>
                <a:ea typeface="+mn-lt"/>
                <a:cs typeface="Times New Roman" panose="02020603050405020304" pitchFamily="18" charset="0"/>
              </a:rPr>
              <a:t>Academic &amp; Research Support:</a:t>
            </a:r>
            <a:endParaRPr lang="en-US" dirty="0">
              <a:latin typeface="Times New Roman" panose="02020603050405020304" pitchFamily="18" charset="0"/>
              <a:ea typeface="+mn-lt"/>
              <a:cs typeface="Times New Roman" panose="02020603050405020304" pitchFamily="18" charset="0"/>
            </a:endParaRPr>
          </a:p>
          <a:p>
            <a:pPr marL="742950" lvl="1" indent="-285750">
              <a:buFont typeface="Arial"/>
              <a:buChar char="•"/>
            </a:pPr>
            <a:r>
              <a:rPr lang="en-US" dirty="0">
                <a:latin typeface="Times New Roman" panose="02020603050405020304" pitchFamily="18" charset="0"/>
                <a:ea typeface="+mn-lt"/>
                <a:cs typeface="Times New Roman" panose="02020603050405020304" pitchFamily="18" charset="0"/>
              </a:rPr>
              <a:t>Offers a valuable resource for researchers, educators, and students in fields like gambling studies, psychology, and consumer protection.</a:t>
            </a:r>
          </a:p>
          <a:p>
            <a:pPr marL="285750" indent="-285750">
              <a:buFont typeface="Arial"/>
              <a:buChar char="•"/>
            </a:pPr>
            <a:r>
              <a:rPr lang="en-US" b="1" dirty="0">
                <a:latin typeface="Times New Roman" panose="02020603050405020304" pitchFamily="18" charset="0"/>
                <a:ea typeface="+mn-lt"/>
                <a:cs typeface="Times New Roman" panose="02020603050405020304" pitchFamily="18" charset="0"/>
              </a:rPr>
              <a:t>Policy &amp; Regulation Support:</a:t>
            </a:r>
            <a:endParaRPr lang="en-US" dirty="0">
              <a:latin typeface="Times New Roman" panose="02020603050405020304" pitchFamily="18" charset="0"/>
              <a:ea typeface="+mn-lt"/>
              <a:cs typeface="Times New Roman" panose="02020603050405020304" pitchFamily="18" charset="0"/>
            </a:endParaRPr>
          </a:p>
          <a:p>
            <a:pPr marL="742950" lvl="1" indent="-285750">
              <a:buFont typeface="Arial"/>
              <a:buChar char="•"/>
            </a:pPr>
            <a:r>
              <a:rPr lang="en-US" dirty="0">
                <a:latin typeface="Times New Roman" panose="02020603050405020304" pitchFamily="18" charset="0"/>
                <a:ea typeface="+mn-lt"/>
                <a:cs typeface="Times New Roman" panose="02020603050405020304" pitchFamily="18" charset="0"/>
              </a:rPr>
              <a:t>Delivers crucial insights for policymakers to help them draft effective laws and regulations to protect users from unfair digital betting systems.</a:t>
            </a:r>
          </a:p>
          <a:p>
            <a:pPr marL="285750" indent="-285750">
              <a:buFont typeface="Arial"/>
              <a:buChar char="•"/>
            </a:pPr>
            <a:r>
              <a:rPr lang="en-US" b="1" dirty="0">
                <a:latin typeface="Times New Roman" panose="02020603050405020304" pitchFamily="18" charset="0"/>
                <a:ea typeface="+mn-lt"/>
                <a:cs typeface="Times New Roman" panose="02020603050405020304" pitchFamily="18" charset="0"/>
              </a:rPr>
              <a:t>Future Scope &amp; Development:</a:t>
            </a:r>
            <a:endParaRPr lang="en-US" dirty="0">
              <a:latin typeface="Times New Roman" panose="02020603050405020304" pitchFamily="18" charset="0"/>
              <a:ea typeface="+mn-lt"/>
              <a:cs typeface="Times New Roman" panose="02020603050405020304" pitchFamily="18" charset="0"/>
            </a:endParaRPr>
          </a:p>
          <a:p>
            <a:pPr marL="742950" lvl="1" indent="-285750">
              <a:buFont typeface="Arial"/>
              <a:buChar char="•"/>
            </a:pPr>
            <a:r>
              <a:rPr lang="en-US" dirty="0">
                <a:latin typeface="Times New Roman" panose="02020603050405020304" pitchFamily="18" charset="0"/>
                <a:ea typeface="+mn-lt"/>
                <a:cs typeface="Times New Roman" panose="02020603050405020304" pitchFamily="18" charset="0"/>
              </a:rPr>
              <a:t>Establishes a foundation that can be expanded with more advanced machine learning to detect even deeper, hidden patterns in odds and betting behavior.</a:t>
            </a:r>
          </a:p>
          <a:p>
            <a:pPr marL="285750" indent="-285750" algn="l">
              <a:buFont typeface="Arial"/>
              <a:buChar char="•"/>
            </a:pPr>
            <a:endParaRPr lang="en-US" dirty="0"/>
          </a:p>
        </p:txBody>
      </p:sp>
    </p:spTree>
    <p:extLst>
      <p:ext uri="{BB962C8B-B14F-4D97-AF65-F5344CB8AC3E}">
        <p14:creationId xmlns:p14="http://schemas.microsoft.com/office/powerpoint/2010/main" val="380116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503FB5B-D004-C9CF-4861-04DC67D22CAF}"/>
              </a:ext>
            </a:extLst>
          </p:cNvPr>
          <p:cNvSpPr txBox="1"/>
          <p:nvPr/>
        </p:nvSpPr>
        <p:spPr>
          <a:xfrm>
            <a:off x="3197649" y="922038"/>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alibri"/>
                <a:ea typeface="Calibri"/>
                <a:cs typeface="Calibri"/>
              </a:rPr>
              <a:t>CONCLUSION</a:t>
            </a:r>
            <a:endParaRPr lang="en-US" sz="2800" dirty="0"/>
          </a:p>
        </p:txBody>
      </p:sp>
      <p:sp>
        <p:nvSpPr>
          <p:cNvPr id="3" name="TextBox 2">
            <a:extLst>
              <a:ext uri="{FF2B5EF4-FFF2-40B4-BE49-F238E27FC236}">
                <a16:creationId xmlns:a16="http://schemas.microsoft.com/office/drawing/2014/main" xmlns="" id="{D970B72A-628A-3A70-F3D7-4FD9585962D2}"/>
              </a:ext>
            </a:extLst>
          </p:cNvPr>
          <p:cNvSpPr txBox="1"/>
          <p:nvPr/>
        </p:nvSpPr>
        <p:spPr>
          <a:xfrm>
            <a:off x="310413" y="2295555"/>
            <a:ext cx="852082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latin typeface="Times New Roman"/>
                <a:ea typeface="+mn-lt"/>
                <a:cs typeface="+mn-lt"/>
              </a:rPr>
              <a:t>Betting apps in India show users the dream of winning money, but in reality, they are designed in a way that the company always earns profit. Most people do not know about this hidden bias and end up losing more than they win. In this project, we collected odds, compared them with real chances, and showed through simulations how users are at a disadvantage. The system makes it simple to understand that betting apps are not fair and that awareness is very important to avoid financial and social problems. The study is small, but it can grow into bigger research and also help in making fair rules for online betting in India</a:t>
            </a:r>
            <a:r>
              <a:rPr lang="en-US" dirty="0">
                <a:latin typeface="Times New Roman"/>
                <a:cs typeface="Arial"/>
              </a:rPr>
              <a:t>.</a:t>
            </a:r>
            <a:endParaRPr lang="en-US" dirty="0">
              <a:latin typeface="Times New Roman"/>
            </a:endParaRPr>
          </a:p>
          <a:p>
            <a:pPr algn="l"/>
            <a:endParaRPr lang="en-US" dirty="0">
              <a:latin typeface="Times New Roman"/>
            </a:endParaRPr>
          </a:p>
        </p:txBody>
      </p:sp>
    </p:spTree>
    <p:extLst>
      <p:ext uri="{BB962C8B-B14F-4D97-AF65-F5344CB8AC3E}">
        <p14:creationId xmlns:p14="http://schemas.microsoft.com/office/powerpoint/2010/main" val="2973467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84" y="708211"/>
            <a:ext cx="8839198" cy="6186309"/>
          </a:xfrm>
          <a:prstGeom prst="rect">
            <a:avLst/>
          </a:prstGeom>
          <a:noFill/>
        </p:spPr>
        <p:txBody>
          <a:bodyPr wrap="square" rtlCol="0">
            <a:spAutoFit/>
          </a:bodyPr>
          <a:lstStyle/>
          <a:p>
            <a:pPr algn="ctr">
              <a:tabLst>
                <a:tab pos="581025" algn="l"/>
              </a:tabLst>
            </a:pPr>
            <a:r>
              <a:rPr lang="en-US" sz="2400" b="1" spc="10" dirty="0" smtClean="0">
                <a:latin typeface="Times New Roman" panose="02020603050405020304" pitchFamily="18" charset="0"/>
                <a:ea typeface="Times New Roman" panose="02020603050405020304" pitchFamily="18" charset="0"/>
              </a:rPr>
              <a:t>References</a:t>
            </a:r>
            <a:endParaRPr lang="en-US" dirty="0">
              <a:latin typeface="Times New Roman" panose="02020603050405020304" pitchFamily="18" charset="0"/>
              <a:ea typeface="Times New Roman" panose="02020603050405020304" pitchFamily="18" charset="0"/>
            </a:endParaRPr>
          </a:p>
          <a:p>
            <a:pPr>
              <a:lnSpc>
                <a:spcPct val="150000"/>
              </a:lnSpc>
            </a:pPr>
            <a:r>
              <a:rPr lang="en-IN" sz="1200" i="1" dirty="0">
                <a:latin typeface="Times New Roman" panose="02020603050405020304" pitchFamily="18" charset="0"/>
                <a:ea typeface="Times New Roman" panose="02020603050405020304" pitchFamily="18" charset="0"/>
              </a:rPr>
              <a:t>[1] H. Kim, S.-W. Park, and J.-G. Lee, "An Anomaly Detection Framework for Match-Fixing in Sports Betting Using Machine Learning," IEEE Access, vol. 12, pp. 15034–15048, 2024.</a:t>
            </a:r>
            <a:endParaRPr lang="en-US" sz="1200" dirty="0">
              <a:latin typeface="Times New Roman" panose="02020603050405020304" pitchFamily="18" charset="0"/>
              <a:ea typeface="Times New Roman" panose="02020603050405020304" pitchFamily="18" charset="0"/>
            </a:endParaRPr>
          </a:p>
          <a:p>
            <a:pPr>
              <a:lnSpc>
                <a:spcPct val="150000"/>
              </a:lnSpc>
            </a:pPr>
            <a:r>
              <a:rPr lang="en-IN" sz="1200" i="1" dirty="0">
                <a:latin typeface="Times New Roman" panose="02020603050405020304" pitchFamily="18" charset="0"/>
                <a:ea typeface="Times New Roman" panose="02020603050405020304" pitchFamily="18" charset="0"/>
              </a:rPr>
              <a:t>[2] G. </a:t>
            </a:r>
            <a:r>
              <a:rPr lang="en-IN" sz="1200" i="1" dirty="0" err="1">
                <a:latin typeface="Times New Roman" panose="02020603050405020304" pitchFamily="18" charset="0"/>
                <a:ea typeface="Times New Roman" panose="02020603050405020304" pitchFamily="18" charset="0"/>
              </a:rPr>
              <a:t>Elaad</a:t>
            </a:r>
            <a:r>
              <a:rPr lang="en-IN" sz="1200" i="1" dirty="0">
                <a:latin typeface="Times New Roman" panose="02020603050405020304" pitchFamily="18" charset="0"/>
                <a:ea typeface="Times New Roman" panose="02020603050405020304" pitchFamily="18" charset="0"/>
              </a:rPr>
              <a:t>, "Essays on Dynamic Efficiency in a Betting Market," Ph.D. dissertation, School of Econ., Social and Political Sciences, Univ. of Southampton, Southampton, U.K., 2020.</a:t>
            </a:r>
            <a:endParaRPr lang="en-US" sz="1200" dirty="0">
              <a:latin typeface="Times New Roman" panose="02020603050405020304" pitchFamily="18" charset="0"/>
              <a:ea typeface="Times New Roman" panose="02020603050405020304" pitchFamily="18" charset="0"/>
            </a:endParaRPr>
          </a:p>
          <a:p>
            <a:pPr>
              <a:lnSpc>
                <a:spcPct val="150000"/>
              </a:lnSpc>
            </a:pPr>
            <a:r>
              <a:rPr lang="en-IN" sz="1200" i="1" dirty="0">
                <a:latin typeface="Times New Roman" panose="02020603050405020304" pitchFamily="18" charset="0"/>
                <a:ea typeface="Times New Roman" panose="02020603050405020304" pitchFamily="18" charset="0"/>
              </a:rPr>
              <a:t>[3] N. </a:t>
            </a:r>
            <a:r>
              <a:rPr lang="en-IN" sz="1200" i="1" dirty="0" err="1">
                <a:latin typeface="Times New Roman" panose="02020603050405020304" pitchFamily="18" charset="0"/>
                <a:ea typeface="Times New Roman" panose="02020603050405020304" pitchFamily="18" charset="0"/>
              </a:rPr>
              <a:t>Bhanot</a:t>
            </a:r>
            <a:r>
              <a:rPr lang="en-IN" sz="1200" i="1" dirty="0">
                <a:latin typeface="Times New Roman" panose="02020603050405020304" pitchFamily="18" charset="0"/>
                <a:ea typeface="Times New Roman" panose="02020603050405020304" pitchFamily="18" charset="0"/>
              </a:rPr>
              <a:t> and R. Sharma, "Mapping the Emotional and Psychological Dimensions of Fantasy Sports Betting: A Bibliometric Analysis," Journal of Gambling Issues, vol. 56, pp. 1–30, Jul. 2025.</a:t>
            </a:r>
            <a:endParaRPr lang="en-US" sz="1200" dirty="0">
              <a:latin typeface="Times New Roman" panose="02020603050405020304" pitchFamily="18" charset="0"/>
              <a:ea typeface="Times New Roman" panose="02020603050405020304" pitchFamily="18" charset="0"/>
            </a:endParaRPr>
          </a:p>
          <a:p>
            <a:pPr>
              <a:lnSpc>
                <a:spcPct val="150000"/>
              </a:lnSpc>
            </a:pPr>
            <a:r>
              <a:rPr lang="en-IN" sz="1200" i="1" dirty="0">
                <a:latin typeface="Times New Roman" panose="02020603050405020304" pitchFamily="18" charset="0"/>
                <a:ea typeface="Times New Roman" panose="02020603050405020304" pitchFamily="18" charset="0"/>
              </a:rPr>
              <a:t>[4] O. Prakash, A. Kumar, and S. Singh, "A study on online gambling addiction and risk </a:t>
            </a:r>
            <a:r>
              <a:rPr lang="en-IN" sz="1200" i="1" dirty="0" err="1">
                <a:latin typeface="Times New Roman" panose="02020603050405020304" pitchFamily="18" charset="0"/>
                <a:ea typeface="Times New Roman" panose="02020603050405020304" pitchFamily="18" charset="0"/>
              </a:rPr>
              <a:t>behaviors</a:t>
            </a:r>
            <a:r>
              <a:rPr lang="en-IN" sz="1200" i="1" dirty="0">
                <a:latin typeface="Times New Roman" panose="02020603050405020304" pitchFamily="18" charset="0"/>
                <a:ea typeface="Times New Roman" panose="02020603050405020304" pitchFamily="18" charset="0"/>
              </a:rPr>
              <a:t> among college students in Kerala, India," Industrial Psychiatry Journal, vol. 33, no. 1, pp. 120–127, 2024.</a:t>
            </a:r>
            <a:endParaRPr lang="en-US" sz="1200" dirty="0">
              <a:latin typeface="Times New Roman" panose="02020603050405020304" pitchFamily="18" charset="0"/>
              <a:ea typeface="Times New Roman" panose="02020603050405020304" pitchFamily="18" charset="0"/>
            </a:endParaRPr>
          </a:p>
          <a:p>
            <a:pPr>
              <a:lnSpc>
                <a:spcPct val="150000"/>
              </a:lnSpc>
            </a:pPr>
            <a:r>
              <a:rPr lang="en-IN" sz="1200" i="1" dirty="0">
                <a:latin typeface="Times New Roman" panose="02020603050405020304" pitchFamily="18" charset="0"/>
                <a:ea typeface="Times New Roman" panose="02020603050405020304" pitchFamily="18" charset="0"/>
              </a:rPr>
              <a:t>[5] E. A. </a:t>
            </a:r>
            <a:r>
              <a:rPr lang="en-IN" sz="1200" i="1" dirty="0" err="1">
                <a:latin typeface="Times New Roman" panose="02020603050405020304" pitchFamily="18" charset="0"/>
                <a:ea typeface="Times New Roman" panose="02020603050405020304" pitchFamily="18" charset="0"/>
              </a:rPr>
              <a:t>Avenyo</a:t>
            </a:r>
            <a:r>
              <a:rPr lang="en-IN" sz="1200" i="1" dirty="0">
                <a:latin typeface="Times New Roman" panose="02020603050405020304" pitchFamily="18" charset="0"/>
                <a:ea typeface="Times New Roman" panose="02020603050405020304" pitchFamily="18" charset="0"/>
              </a:rPr>
              <a:t>, J. O. A. Agyapong, and G. K. A. </a:t>
            </a:r>
            <a:r>
              <a:rPr lang="en-IN" sz="1200" i="1" dirty="0" err="1">
                <a:latin typeface="Times New Roman" panose="02020603050405020304" pitchFamily="18" charset="0"/>
                <a:ea typeface="Times New Roman" panose="02020603050405020304" pitchFamily="18" charset="0"/>
              </a:rPr>
              <a:t>Asempapa</a:t>
            </a:r>
            <a:r>
              <a:rPr lang="en-IN" sz="1200" i="1" dirty="0">
                <a:latin typeface="Times New Roman" panose="02020603050405020304" pitchFamily="18" charset="0"/>
                <a:ea typeface="Times New Roman" panose="02020603050405020304" pitchFamily="18" charset="0"/>
              </a:rPr>
              <a:t>, "Online sports betting among university students in Ghana: its impact on academic work and social life," Journal of Gambling Studies, vol. 40, no. 1, pp. 291–311, 2024.</a:t>
            </a:r>
            <a:endParaRPr lang="en-US" sz="1200" dirty="0">
              <a:latin typeface="Times New Roman" panose="02020603050405020304" pitchFamily="18" charset="0"/>
              <a:ea typeface="Times New Roman" panose="02020603050405020304" pitchFamily="18" charset="0"/>
            </a:endParaRPr>
          </a:p>
          <a:p>
            <a:pPr>
              <a:lnSpc>
                <a:spcPct val="150000"/>
              </a:lnSpc>
            </a:pPr>
            <a:r>
              <a:rPr lang="en-IN" sz="1200" i="1" dirty="0">
                <a:latin typeface="Times New Roman" panose="02020603050405020304" pitchFamily="18" charset="0"/>
                <a:ea typeface="Times New Roman" panose="02020603050405020304" pitchFamily="18" charset="0"/>
              </a:rPr>
              <a:t>[6] S. Gupta and P. Singh, "Performance evaluation of machine learning classifiers for predicting horse racing results," International Journal of Information Technology, vol. 15, pp. 3021–3030, 2023.</a:t>
            </a:r>
            <a:endParaRPr lang="en-US" sz="1200" dirty="0">
              <a:latin typeface="Times New Roman" panose="02020603050405020304" pitchFamily="18" charset="0"/>
              <a:ea typeface="Times New Roman" panose="02020603050405020304" pitchFamily="18" charset="0"/>
            </a:endParaRPr>
          </a:p>
          <a:p>
            <a:pPr>
              <a:lnSpc>
                <a:spcPct val="150000"/>
              </a:lnSpc>
            </a:pPr>
            <a:r>
              <a:rPr lang="en-IN" sz="1200" i="1" dirty="0">
                <a:latin typeface="Times New Roman" panose="02020603050405020304" pitchFamily="18" charset="0"/>
                <a:ea typeface="Times New Roman" panose="02020603050405020304" pitchFamily="18" charset="0"/>
              </a:rPr>
              <a:t>[7] M. </a:t>
            </a:r>
            <a:r>
              <a:rPr lang="en-IN" sz="1200" i="1" dirty="0" err="1">
                <a:latin typeface="Times New Roman" panose="02020603050405020304" pitchFamily="18" charset="0"/>
                <a:ea typeface="Times New Roman" panose="02020603050405020304" pitchFamily="18" charset="0"/>
              </a:rPr>
              <a:t>Rockloff</a:t>
            </a:r>
            <a:r>
              <a:rPr lang="en-IN" sz="1200" i="1" dirty="0">
                <a:latin typeface="Times New Roman" panose="02020603050405020304" pitchFamily="18" charset="0"/>
                <a:ea typeface="Times New Roman" panose="02020603050405020304" pitchFamily="18" charset="0"/>
              </a:rPr>
              <a:t>, N. L. L. Su, A. Russell, E. J. K. L. Yeo, and J. C. K. Lee, "Incentives in Wagering: A Behavioural Economic Analysis of Inducements to Bet on Long Odds," Journal of Gambling Studies, vol. 36, no. 3, pp. 897–912, 2020.</a:t>
            </a:r>
            <a:endParaRPr lang="en-US" sz="1200" dirty="0">
              <a:latin typeface="Times New Roman" panose="02020603050405020304" pitchFamily="18" charset="0"/>
              <a:ea typeface="Times New Roman" panose="02020603050405020304" pitchFamily="18" charset="0"/>
            </a:endParaRPr>
          </a:p>
          <a:p>
            <a:pPr>
              <a:lnSpc>
                <a:spcPct val="150000"/>
              </a:lnSpc>
            </a:pPr>
            <a:r>
              <a:rPr lang="en-IN" sz="1200" i="1" dirty="0">
                <a:latin typeface="Times New Roman" panose="02020603050405020304" pitchFamily="18" charset="0"/>
                <a:ea typeface="Times New Roman" panose="02020603050405020304" pitchFamily="18" charset="0"/>
              </a:rPr>
              <a:t>[8] D. Forrest and I. G. McHale, "Screening frameworks for match-fixing in sports betting," in Statistical Methods in Sports, London, UK: </a:t>
            </a:r>
            <a:r>
              <a:rPr lang="en-IN" sz="1200" i="1" dirty="0" err="1">
                <a:latin typeface="Times New Roman" panose="02020603050405020304" pitchFamily="18" charset="0"/>
                <a:ea typeface="Times New Roman" panose="02020603050405020304" pitchFamily="18" charset="0"/>
              </a:rPr>
              <a:t>IntechOpen</a:t>
            </a:r>
            <a:r>
              <a:rPr lang="en-IN" sz="1200" i="1" dirty="0">
                <a:latin typeface="Times New Roman" panose="02020603050405020304" pitchFamily="18" charset="0"/>
                <a:ea typeface="Times New Roman" panose="02020603050405020304" pitchFamily="18" charset="0"/>
              </a:rPr>
              <a:t>, 2019.</a:t>
            </a:r>
            <a:endParaRPr lang="en-US" sz="1200" dirty="0">
              <a:latin typeface="Times New Roman" panose="02020603050405020304" pitchFamily="18" charset="0"/>
              <a:ea typeface="Times New Roman" panose="02020603050405020304" pitchFamily="18" charset="0"/>
            </a:endParaRPr>
          </a:p>
          <a:p>
            <a:pPr>
              <a:lnSpc>
                <a:spcPct val="150000"/>
              </a:lnSpc>
            </a:pPr>
            <a:r>
              <a:rPr lang="en-IN" sz="1200" i="1" dirty="0">
                <a:latin typeface="Times New Roman" panose="02020603050405020304" pitchFamily="18" charset="0"/>
                <a:ea typeface="Times New Roman" panose="02020603050405020304" pitchFamily="18" charset="0"/>
              </a:rPr>
              <a:t>[9] R. Gupta, "The Rise of Online Gambling in India: A Study of Marketing Strategies of Gamiﬁed Platforms," Journal of Content, Community &amp; Communication, vol. 15, pp. 178–190, Jun. 2022.</a:t>
            </a:r>
            <a:endParaRPr lang="en-US" sz="1200" dirty="0">
              <a:latin typeface="Times New Roman" panose="02020603050405020304" pitchFamily="18" charset="0"/>
              <a:ea typeface="Times New Roman" panose="02020603050405020304" pitchFamily="18" charset="0"/>
            </a:endParaRPr>
          </a:p>
          <a:p>
            <a:pPr>
              <a:lnSpc>
                <a:spcPct val="150000"/>
              </a:lnSpc>
            </a:pPr>
            <a:r>
              <a:rPr lang="en-IN" sz="1200" i="1" dirty="0">
                <a:latin typeface="Times New Roman" panose="02020603050405020304" pitchFamily="18" charset="0"/>
                <a:ea typeface="Times New Roman" panose="02020603050405020304" pitchFamily="18" charset="0"/>
              </a:rPr>
              <a:t>[10] A. S. </a:t>
            </a:r>
            <a:r>
              <a:rPr lang="en-IN" sz="1200" i="1" dirty="0" err="1">
                <a:latin typeface="Times New Roman" panose="02020603050405020304" pitchFamily="18" charset="0"/>
                <a:ea typeface="Times New Roman" panose="02020603050405020304" pitchFamily="18" charset="0"/>
              </a:rPr>
              <a:t>Panicker</a:t>
            </a:r>
            <a:r>
              <a:rPr lang="en-IN" sz="1200" i="1" dirty="0">
                <a:latin typeface="Times New Roman" panose="02020603050405020304" pitchFamily="18" charset="0"/>
                <a:ea typeface="Times New Roman" panose="02020603050405020304" pitchFamily="18" charset="0"/>
              </a:rPr>
              <a:t> and A. Kumar, "Regulatory Models for Online Gambling: A Comparative Study of India, UK, and Australia," Journal of Legal Studies and Research, vol. 8, no. 3, pp. 123–139, 2022.</a:t>
            </a:r>
            <a:endParaRPr lang="en-US" sz="1200" dirty="0">
              <a:latin typeface="Times New Roman" panose="02020603050405020304" pitchFamily="18" charset="0"/>
              <a:ea typeface="Times New Roman" panose="02020603050405020304" pitchFamily="18" charset="0"/>
            </a:endParaRPr>
          </a:p>
          <a:p>
            <a:endParaRPr lang="en-US" sz="1200" dirty="0"/>
          </a:p>
        </p:txBody>
      </p:sp>
    </p:spTree>
    <p:extLst>
      <p:ext uri="{BB962C8B-B14F-4D97-AF65-F5344CB8AC3E}">
        <p14:creationId xmlns:p14="http://schemas.microsoft.com/office/powerpoint/2010/main" val="2754132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84" y="2178423"/>
            <a:ext cx="8534398" cy="2862322"/>
          </a:xfrm>
          <a:prstGeom prst="rect">
            <a:avLst/>
          </a:prstGeom>
          <a:noFill/>
        </p:spPr>
        <p:txBody>
          <a:bodyPr wrap="square" rtlCol="0">
            <a:spAutoFit/>
          </a:bodyPr>
          <a:lstStyle/>
          <a:p>
            <a:r>
              <a:rPr lang="en-IN" sz="1200" i="1" dirty="0"/>
              <a:t>[11] J. T. Holden, A. S. C. L. E. F. K. </a:t>
            </a:r>
            <a:r>
              <a:rPr lang="en-IN" sz="1200" i="1" dirty="0" err="1"/>
              <a:t>Rodenberg</a:t>
            </a:r>
            <a:r>
              <a:rPr lang="en-IN" sz="1200" i="1" dirty="0"/>
              <a:t>, and R. A. </a:t>
            </a:r>
            <a:r>
              <a:rPr lang="en-IN" sz="1200" i="1" dirty="0" err="1"/>
              <a:t>Pielke</a:t>
            </a:r>
            <a:r>
              <a:rPr lang="en-IN" sz="1200" i="1" dirty="0"/>
              <a:t>, "Tech features in betting: A review of in-play betting and cash-out," International Gambling Studies, vol. 20, no. 3, pp. 372–392, 2020.</a:t>
            </a:r>
            <a:endParaRPr lang="en-US" sz="1200" dirty="0"/>
          </a:p>
          <a:p>
            <a:r>
              <a:rPr lang="en-IN" sz="1200" i="1" dirty="0"/>
              <a:t>[12] M. D. Griffiths, "Internet gambling: Issues, concerns, and recommendations," </a:t>
            </a:r>
            <a:r>
              <a:rPr lang="en-IN" sz="1200" i="1" dirty="0" err="1"/>
              <a:t>CyberPsychology</a:t>
            </a:r>
            <a:r>
              <a:rPr lang="en-IN" sz="1200" i="1" dirty="0"/>
              <a:t> &amp; </a:t>
            </a:r>
            <a:r>
              <a:rPr lang="en-IN" sz="1200" i="1" dirty="0" err="1"/>
              <a:t>Behavior</a:t>
            </a:r>
            <a:r>
              <a:rPr lang="en-IN" sz="1200" i="1" dirty="0"/>
              <a:t>, vol. 9, no. 5, pp. 557–568, 2006.</a:t>
            </a:r>
            <a:endParaRPr lang="en-US" sz="1200" dirty="0"/>
          </a:p>
          <a:p>
            <a:r>
              <a:rPr lang="en-IN" sz="1200" i="1" dirty="0"/>
              <a:t>[13] S. M. </a:t>
            </a:r>
            <a:r>
              <a:rPr lang="en-IN" sz="1200" i="1" dirty="0" err="1"/>
              <a:t>Gainsbury</a:t>
            </a:r>
            <a:r>
              <a:rPr lang="en-IN" sz="1200" i="1" dirty="0"/>
              <a:t>, "Online Gambling Addiction: The Relationship Between Internet Gambling and Disordered Gambling," Current Addiction Reports, vol. 2, no. 2, pp. 185–193, 2015.</a:t>
            </a:r>
            <a:endParaRPr lang="en-US" sz="1200" dirty="0"/>
          </a:p>
          <a:p>
            <a:r>
              <a:rPr lang="en-IN" sz="1200" i="1" dirty="0"/>
              <a:t>[14] S. Monaghan, B. C. P. C. </a:t>
            </a:r>
            <a:r>
              <a:rPr lang="en-IN" sz="1200" i="1" dirty="0" err="1"/>
              <a:t>Derevensky</a:t>
            </a:r>
            <a:r>
              <a:rPr lang="en-IN" sz="1200" i="1" dirty="0"/>
              <a:t>, and L. </a:t>
            </a:r>
            <a:r>
              <a:rPr lang="en-IN" sz="1200" i="1" dirty="0" err="1"/>
              <a:t>Sklar</a:t>
            </a:r>
            <a:r>
              <a:rPr lang="en-IN" sz="1200" i="1" dirty="0"/>
              <a:t>, "The impact of gambling advertising on children and young people: A review of the evidence," Journal of Gambling Issues, no. 22, pp. 202–225, 2008.</a:t>
            </a:r>
            <a:endParaRPr lang="en-US" sz="1200" dirty="0"/>
          </a:p>
          <a:p>
            <a:r>
              <a:rPr lang="en-IN" sz="1200" i="1" dirty="0"/>
              <a:t>[15] Yale SOM, [Title related to "Mobile sportsbook policy"], ..., 2025.(Note: This entry could not be located. It may be an unpublished working paper, a future publication, or an internal institutional report.)</a:t>
            </a:r>
            <a:endParaRPr lang="en-US" sz="1200" dirty="0"/>
          </a:p>
          <a:p>
            <a:r>
              <a:rPr lang="en-IN" sz="1200" i="1" dirty="0"/>
              <a:t>[16] S. Yong-</a:t>
            </a:r>
            <a:r>
              <a:rPr lang="en-IN" sz="1200" i="1" dirty="0" err="1"/>
              <a:t>wook</a:t>
            </a:r>
            <a:r>
              <a:rPr lang="en-IN" sz="1200" i="1" dirty="0"/>
              <a:t>, "A Study on the Rules for Detecting Match-Fixing in Tennis Games," Journal of the Korea Society of Computer and Information, vol. 23, no. 11, pp. 129–135, 2018.</a:t>
            </a:r>
            <a:endParaRPr lang="en-US" sz="1200" dirty="0"/>
          </a:p>
          <a:p>
            <a:r>
              <a:rPr lang="en-IN" sz="1200" i="1" dirty="0"/>
              <a:t>[17] G. Sinclair, J. L. S. G. P. H. Harris, and A. B. C. D. E. F. G. Russell, "Cashing-out in-play: A profile of sports bettors who use cash-out," Journal of Gambling Studies, vol. 40, pp. 313–333, 2024.</a:t>
            </a:r>
            <a:endParaRPr lang="en-US" sz="1200" dirty="0"/>
          </a:p>
          <a:p>
            <a:endParaRPr lang="en-US" sz="1200" dirty="0"/>
          </a:p>
        </p:txBody>
      </p:sp>
    </p:spTree>
    <p:extLst>
      <p:ext uri="{BB962C8B-B14F-4D97-AF65-F5344CB8AC3E}">
        <p14:creationId xmlns:p14="http://schemas.microsoft.com/office/powerpoint/2010/main" val="2932971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2303</Words>
  <Application>Microsoft Office PowerPoint</Application>
  <PresentationFormat>On-screen Show (4:3)</PresentationFormat>
  <Paragraphs>232</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Calibri</vt:lpstr>
      <vt:lpstr>Cambria</vt:lpstr>
      <vt:lpstr>DejaVu Sans</vt:lpstr>
      <vt:lpstr>Lucida Sans</vt:lpstr>
      <vt:lpstr>Open Sans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Principal</dc:creator>
  <cp:lastModifiedBy>Microsoft account</cp:lastModifiedBy>
  <cp:revision>44</cp:revision>
  <dcterms:created xsi:type="dcterms:W3CDTF">2019-02-22T15:27:00Z</dcterms:created>
  <dcterms:modified xsi:type="dcterms:W3CDTF">2025-11-15T13:45:55Z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3</vt:i4>
  </property>
  <property fmtid="{D5CDD505-2E9C-101B-9397-08002B2CF9AE}" pid="12" name="ICV">
    <vt:lpwstr>A13F04ABC2B148A8836AC2D24F809E54_12</vt:lpwstr>
  </property>
  <property fmtid="{D5CDD505-2E9C-101B-9397-08002B2CF9AE}" pid="13" name="KSOProductBuildVer">
    <vt:lpwstr>1033-12.2.0.23155</vt:lpwstr>
  </property>
</Properties>
</file>