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74" r:id="rId7"/>
    <p:sldId id="275" r:id="rId8"/>
    <p:sldId id="262" r:id="rId9"/>
    <p:sldId id="263" r:id="rId10"/>
    <p:sldId id="264" r:id="rId11"/>
    <p:sldId id="268" r:id="rId12"/>
    <p:sldId id="266" r:id="rId13"/>
    <p:sldId id="267" r:id="rId14"/>
    <p:sldId id="269" r:id="rId15"/>
    <p:sldId id="270" r:id="rId16"/>
    <p:sldId id="271" r:id="rId17"/>
    <p:sldId id="272" r:id="rId18"/>
  </p:sldIdLst>
  <p:sldSz cx="9144000" cy="6858000" type="screen4x3"/>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DA4F0A-507F-4E7C-8AAB-B9BD8683C77D}" v="1784" dt="2025-09-28T10:40:07.836"/>
    <p1510:client id="{59A8B881-650E-4A6D-99F2-45D874B5210B}" v="31" dt="2025-09-29T16:55:37.685"/>
    <p1510:client id="{B1E1B512-99A2-47D4-8AC6-3A3F7A9D1517}" v="217" dt="2025-09-29T06:33:31.2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1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21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15"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21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457200" y="273600"/>
            <a:ext cx="8229240" cy="5307840"/>
          </a:xfrm>
          <a:prstGeom prst="rect">
            <a:avLst/>
          </a:prstGeom>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20"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21"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24"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25"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2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29"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21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1"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32"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21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4"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36"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37"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9"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40"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41"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42"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43"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
        <p:nvSpPr>
          <p:cNvPr id="44"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21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CustomShape 1"/>
          <p:cNvSpPr/>
          <p:nvPr/>
        </p:nvSpPr>
        <p:spPr>
          <a:xfrm>
            <a:off x="0" y="639000"/>
            <a:ext cx="9143640" cy="6210360"/>
          </a:xfrm>
          <a:prstGeom prst="rect">
            <a:avLst/>
          </a:prstGeom>
          <a:blipFill rotWithShape="0">
            <a:blip r:embed="rId14"/>
            <a:tile/>
          </a:blipFill>
          <a:ln/>
          <a:effectLst>
            <a:glow>
              <a:schemeClr val="accent1"/>
            </a:glow>
          </a:effectLst>
        </p:spPr>
        <p:style>
          <a:lnRef idx="2">
            <a:schemeClr val="accent1">
              <a:shade val="50000"/>
            </a:schemeClr>
          </a:lnRef>
          <a:fillRef idx="1">
            <a:schemeClr val="accent1"/>
          </a:fillRef>
          <a:effectRef idx="0">
            <a:schemeClr val="accent1"/>
          </a:effectRef>
          <a:fontRef idx="minor"/>
        </p:style>
      </p:sp>
      <p:sp>
        <p:nvSpPr>
          <p:cNvPr id="10" name="CustomShape 2"/>
          <p:cNvSpPr/>
          <p:nvPr/>
        </p:nvSpPr>
        <p:spPr>
          <a:xfrm>
            <a:off x="0" y="-26640"/>
            <a:ext cx="9143640" cy="639000"/>
          </a:xfrm>
          <a:prstGeom prst="rect">
            <a:avLst/>
          </a:prstGeom>
          <a:ln/>
        </p:spPr>
        <p:style>
          <a:lnRef idx="2">
            <a:schemeClr val="accent2"/>
          </a:lnRef>
          <a:fillRef idx="1">
            <a:schemeClr val="lt1"/>
          </a:fillRef>
          <a:effectRef idx="0">
            <a:schemeClr val="accent2"/>
          </a:effectRef>
          <a:fontRef idx="minor"/>
        </p:style>
        <p:txBody>
          <a:bodyPr lIns="90000" tIns="45000" rIns="90000" bIns="45000">
            <a:spAutoFit/>
          </a:bodyPr>
          <a:lstStyle/>
          <a:p>
            <a:pPr algn="ctr">
              <a:lnSpc>
                <a:spcPct val="100000"/>
              </a:lnSpc>
              <a:spcAft>
                <a:spcPts val="201"/>
              </a:spcAft>
            </a:pPr>
            <a:r>
              <a:rPr lang="en-US" sz="3600" b="1" strike="noStrike" spc="-1">
                <a:solidFill>
                  <a:srgbClr val="F10000"/>
                </a:solidFill>
                <a:latin typeface="Lucida Sans"/>
              </a:rPr>
              <a:t>BMS</a:t>
            </a:r>
            <a:r>
              <a:rPr lang="en-US" sz="2700" b="1" strike="noStrike" spc="-1">
                <a:solidFill>
                  <a:srgbClr val="F10000"/>
                </a:solidFill>
                <a:latin typeface="Lucida Sans"/>
              </a:rPr>
              <a:t> </a:t>
            </a:r>
            <a:r>
              <a:rPr lang="en-US" sz="2000" b="1" strike="noStrike" spc="-1">
                <a:solidFill>
                  <a:srgbClr val="001E5A"/>
                </a:solidFill>
                <a:latin typeface="Lucida Sans"/>
              </a:rPr>
              <a:t>INSTITUTE OF TECHNOLOGY AND MANAGEMENT</a:t>
            </a:r>
            <a:endParaRPr lang="en-IN" sz="2000" b="0" strike="noStrike" spc="-1">
              <a:latin typeface="Arial"/>
            </a:endParaRPr>
          </a:p>
        </p:txBody>
      </p:sp>
      <p:pic>
        <p:nvPicPr>
          <p:cNvPr id="2" name="Picture 9" descr="C:\Users\Placement\Downloads\Logos\BMSIT LOGO Sept 2015.jpg"/>
          <p:cNvPicPr/>
          <p:nvPr/>
        </p:nvPicPr>
        <p:blipFill>
          <a:blip r:embed="rId15"/>
          <a:stretch/>
        </p:blipFill>
        <p:spPr>
          <a:xfrm>
            <a:off x="139320" y="17640"/>
            <a:ext cx="627840" cy="579240"/>
          </a:xfrm>
          <a:prstGeom prst="rect">
            <a:avLst/>
          </a:prstGeom>
          <a:ln>
            <a:noFill/>
          </a:ln>
        </p:spPr>
      </p:pic>
      <p:pic>
        <p:nvPicPr>
          <p:cNvPr id="3" name="Picture 2" descr="Image result for india"/>
          <p:cNvPicPr/>
          <p:nvPr/>
        </p:nvPicPr>
        <p:blipFill>
          <a:blip r:embed="rId16"/>
          <a:srcRect l="19689" r="16352" b="17185"/>
          <a:stretch/>
        </p:blipFill>
        <p:spPr>
          <a:xfrm>
            <a:off x="8503560" y="104040"/>
            <a:ext cx="461160" cy="488880"/>
          </a:xfrm>
          <a:prstGeom prst="rect">
            <a:avLst/>
          </a:prstGeom>
          <a:ln>
            <a:noFill/>
          </a:ln>
        </p:spPr>
      </p:pic>
      <p:sp>
        <p:nvSpPr>
          <p:cNvPr id="4" name="PlaceHolder 3"/>
          <p:cNvSpPr>
            <a:spLocks noGrp="1"/>
          </p:cNvSpPr>
          <p:nvPr>
            <p:ph type="dt"/>
          </p:nvPr>
        </p:nvSpPr>
        <p:spPr>
          <a:xfrm>
            <a:off x="628560" y="6356520"/>
            <a:ext cx="2057040" cy="364680"/>
          </a:xfrm>
          <a:prstGeom prst="rect">
            <a:avLst/>
          </a:prstGeom>
        </p:spPr>
        <p:txBody>
          <a:bodyPr anchor="ctr">
            <a:noAutofit/>
          </a:bodyPr>
          <a:lstStyle/>
          <a:p>
            <a:pPr>
              <a:lnSpc>
                <a:spcPct val="100000"/>
              </a:lnSpc>
            </a:pPr>
            <a:fld id="{F1659096-9CE7-452C-8A9D-4767645B1660}" type="datetime1">
              <a:rPr lang="en-IN" sz="900" b="0" strike="noStrike" spc="-1">
                <a:solidFill>
                  <a:srgbClr val="8B8B8B"/>
                </a:solidFill>
                <a:latin typeface="Calibri"/>
              </a:rPr>
              <a:t>15-11-2025</a:t>
            </a:fld>
            <a:endParaRPr lang="en-IN" sz="900" b="0" strike="noStrike" spc="-1">
              <a:latin typeface="Times New Roman"/>
            </a:endParaRPr>
          </a:p>
        </p:txBody>
      </p:sp>
      <p:sp>
        <p:nvSpPr>
          <p:cNvPr id="5" name="PlaceHolder 4"/>
          <p:cNvSpPr>
            <a:spLocks noGrp="1"/>
          </p:cNvSpPr>
          <p:nvPr>
            <p:ph type="ftr"/>
          </p:nvPr>
        </p:nvSpPr>
        <p:spPr>
          <a:xfrm>
            <a:off x="3029040" y="6356520"/>
            <a:ext cx="3085920" cy="364680"/>
          </a:xfrm>
          <a:prstGeom prst="rect">
            <a:avLst/>
          </a:prstGeom>
        </p:spPr>
        <p:txBody>
          <a:bodyPr anchor="ctr">
            <a:noAutofit/>
          </a:bodyPr>
          <a:lstStyle/>
          <a:p>
            <a:endParaRPr lang="en-IN" sz="2400" b="0" strike="noStrike" spc="-1">
              <a:latin typeface="Times New Roman"/>
            </a:endParaRPr>
          </a:p>
        </p:txBody>
      </p:sp>
      <p:sp>
        <p:nvSpPr>
          <p:cNvPr id="6" name="PlaceHolder 5"/>
          <p:cNvSpPr>
            <a:spLocks noGrp="1"/>
          </p:cNvSpPr>
          <p:nvPr>
            <p:ph type="sldNum"/>
          </p:nvPr>
        </p:nvSpPr>
        <p:spPr>
          <a:xfrm>
            <a:off x="6458040" y="6356520"/>
            <a:ext cx="2057040" cy="364680"/>
          </a:xfrm>
          <a:prstGeom prst="rect">
            <a:avLst/>
          </a:prstGeom>
        </p:spPr>
        <p:txBody>
          <a:bodyPr anchor="ctr">
            <a:noAutofit/>
          </a:bodyPr>
          <a:lstStyle/>
          <a:p>
            <a:pPr algn="r">
              <a:lnSpc>
                <a:spcPct val="100000"/>
              </a:lnSpc>
            </a:pPr>
            <a:fld id="{85502A68-004A-4827-AC8F-1F43F5A209E1}" type="slidenum">
              <a:rPr lang="en-IN" sz="900" b="0" strike="noStrike" spc="-1">
                <a:solidFill>
                  <a:srgbClr val="8B8B8B"/>
                </a:solidFill>
                <a:latin typeface="Calibri"/>
              </a:rPr>
              <a:t>‹#›</a:t>
            </a:fld>
            <a:endParaRPr lang="en-IN" sz="900" b="0" strike="noStrike" spc="-1">
              <a:latin typeface="Times New Roman"/>
            </a:endParaRPr>
          </a:p>
        </p:txBody>
      </p:sp>
      <p:sp>
        <p:nvSpPr>
          <p:cNvPr id="7" name="PlaceHolder 6"/>
          <p:cNvSpPr>
            <a:spLocks noGrp="1"/>
          </p:cNvSpPr>
          <p:nvPr>
            <p:ph type="title"/>
          </p:nvPr>
        </p:nvSpPr>
        <p:spPr>
          <a:xfrm>
            <a:off x="457200" y="273600"/>
            <a:ext cx="82292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8" name="PlaceHolder 7"/>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1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15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35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35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https://www.nature.com/articles/s41598-024-57195-8"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Shape 1"/>
          <p:cNvSpPr txBox="1"/>
          <p:nvPr/>
        </p:nvSpPr>
        <p:spPr>
          <a:xfrm>
            <a:off x="628560" y="6356520"/>
            <a:ext cx="2057040" cy="364680"/>
          </a:xfrm>
          <a:prstGeom prst="rect">
            <a:avLst/>
          </a:prstGeom>
          <a:noFill/>
          <a:ln>
            <a:noFill/>
          </a:ln>
        </p:spPr>
        <p:txBody>
          <a:bodyPr anchor="ctr">
            <a:noAutofit/>
          </a:bodyPr>
          <a:lstStyle/>
          <a:p>
            <a:pPr>
              <a:lnSpc>
                <a:spcPct val="100000"/>
              </a:lnSpc>
            </a:pPr>
            <a:fld id="{FF7DE63B-E16A-467D-B560-0A41C9D47587}" type="datetime1">
              <a:rPr lang="en-IN" sz="900" b="0" strike="noStrike" spc="-1">
                <a:solidFill>
                  <a:srgbClr val="8B8B8B"/>
                </a:solidFill>
                <a:latin typeface="Calibri"/>
              </a:rPr>
              <a:t>15-11-2025</a:t>
            </a:fld>
            <a:endParaRPr lang="en-IN" sz="900" b="0" strike="noStrike" spc="-1">
              <a:latin typeface="Times New Roman"/>
            </a:endParaRPr>
          </a:p>
        </p:txBody>
      </p:sp>
      <p:sp>
        <p:nvSpPr>
          <p:cNvPr id="46" name="TextShape 2"/>
          <p:cNvSpPr txBox="1"/>
          <p:nvPr/>
        </p:nvSpPr>
        <p:spPr>
          <a:xfrm>
            <a:off x="6458040" y="6356520"/>
            <a:ext cx="2057040" cy="364680"/>
          </a:xfrm>
          <a:prstGeom prst="rect">
            <a:avLst/>
          </a:prstGeom>
          <a:noFill/>
          <a:ln>
            <a:noFill/>
          </a:ln>
        </p:spPr>
        <p:txBody>
          <a:bodyPr anchor="ctr">
            <a:noAutofit/>
          </a:bodyPr>
          <a:lstStyle/>
          <a:p>
            <a:pPr algn="r">
              <a:lnSpc>
                <a:spcPct val="100000"/>
              </a:lnSpc>
            </a:pPr>
            <a:fld id="{C718F4E3-3342-44D9-9C0F-4FC0C0026420}" type="slidenum">
              <a:rPr lang="en-IN" sz="900" b="0" strike="noStrike" spc="-1">
                <a:solidFill>
                  <a:srgbClr val="8B8B8B"/>
                </a:solidFill>
                <a:latin typeface="Calibri"/>
              </a:rPr>
              <a:t>1</a:t>
            </a:fld>
            <a:endParaRPr lang="en-IN" sz="900" b="0" strike="noStrike" spc="-1">
              <a:latin typeface="Times New Roman"/>
            </a:endParaRPr>
          </a:p>
        </p:txBody>
      </p:sp>
      <p:sp>
        <p:nvSpPr>
          <p:cNvPr id="47" name="CustomShape 3"/>
          <p:cNvSpPr/>
          <p:nvPr/>
        </p:nvSpPr>
        <p:spPr>
          <a:xfrm>
            <a:off x="333821" y="3165747"/>
            <a:ext cx="8322480" cy="369186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800" b="1" strike="noStrike" spc="-1" dirty="0">
                <a:solidFill>
                  <a:srgbClr val="000000"/>
                </a:solidFill>
                <a:latin typeface="Open Sans"/>
                <a:ea typeface="Open Sans"/>
              </a:rPr>
              <a:t>Presented By</a:t>
            </a:r>
            <a:endParaRPr lang="en-IN" sz="1800" b="0" strike="noStrike" spc="-1" dirty="0">
              <a:latin typeface="Arial"/>
            </a:endParaRPr>
          </a:p>
          <a:p>
            <a:pPr algn="ctr">
              <a:lnSpc>
                <a:spcPct val="100000"/>
              </a:lnSpc>
            </a:pPr>
            <a:endParaRPr lang="en-IN" sz="1800" b="0" strike="noStrike" spc="-1" dirty="0">
              <a:latin typeface="Times New Roman"/>
            </a:endParaRPr>
          </a:p>
          <a:p>
            <a:r>
              <a:rPr lang="en-US" sz="1800" b="1" strike="noStrike" spc="-1" dirty="0">
                <a:solidFill>
                  <a:srgbClr val="000000"/>
                </a:solidFill>
                <a:latin typeface="Times New Roman"/>
                <a:ea typeface="Open Sans"/>
              </a:rPr>
              <a:t> </a:t>
            </a:r>
            <a:r>
              <a:rPr lang="en-US" b="1" spc="-1" dirty="0">
                <a:solidFill>
                  <a:srgbClr val="000000"/>
                </a:solidFill>
                <a:latin typeface="Times New Roman"/>
                <a:ea typeface="Open Sans"/>
              </a:rPr>
              <a:t>                 Aditya P </a:t>
            </a:r>
            <a:r>
              <a:rPr lang="en-US" b="1" spc="-1" dirty="0" err="1">
                <a:solidFill>
                  <a:srgbClr val="000000"/>
                </a:solidFill>
                <a:latin typeface="Times New Roman"/>
                <a:ea typeface="Open Sans"/>
              </a:rPr>
              <a:t>Karchi</a:t>
            </a:r>
            <a:r>
              <a:rPr lang="en-US" sz="1800" b="1" strike="noStrike" spc="-1" dirty="0">
                <a:solidFill>
                  <a:srgbClr val="000000"/>
                </a:solidFill>
                <a:latin typeface="Times New Roman"/>
                <a:ea typeface="Open Sans"/>
              </a:rPr>
              <a:t>   </a:t>
            </a:r>
            <a:r>
              <a:rPr lang="en-US" b="1" spc="-1" dirty="0">
                <a:solidFill>
                  <a:srgbClr val="000000"/>
                </a:solidFill>
                <a:latin typeface="Times New Roman"/>
                <a:ea typeface="Open Sans"/>
              </a:rPr>
              <a:t> </a:t>
            </a:r>
            <a:r>
              <a:rPr lang="en-US" sz="1800" b="1" strike="noStrike" spc="-1" dirty="0">
                <a:solidFill>
                  <a:srgbClr val="000000"/>
                </a:solidFill>
                <a:latin typeface="Times New Roman"/>
                <a:ea typeface="Open Sans"/>
              </a:rPr>
              <a:t> </a:t>
            </a:r>
            <a:r>
              <a:rPr lang="en-US" b="1" spc="-1" dirty="0">
                <a:solidFill>
                  <a:srgbClr val="000000"/>
                </a:solidFill>
                <a:latin typeface="Times New Roman"/>
                <a:ea typeface="Open Sans"/>
              </a:rPr>
              <a:t>  </a:t>
            </a:r>
            <a:r>
              <a:rPr lang="en-US" sz="1800" b="1" strike="noStrike" spc="-1" dirty="0">
                <a:solidFill>
                  <a:srgbClr val="000000"/>
                </a:solidFill>
                <a:latin typeface="Times New Roman"/>
                <a:ea typeface="Open Sans"/>
              </a:rPr>
              <a:t> </a:t>
            </a:r>
            <a:r>
              <a:rPr lang="en-US" b="1" spc="-1" dirty="0">
                <a:solidFill>
                  <a:srgbClr val="000000"/>
                </a:solidFill>
                <a:latin typeface="Times New Roman"/>
                <a:ea typeface="Open Sans"/>
              </a:rPr>
              <a:t>                                       </a:t>
            </a:r>
            <a:r>
              <a:rPr lang="en-US" b="1" spc="-1" dirty="0">
                <a:solidFill>
                  <a:srgbClr val="000000"/>
                </a:solidFill>
                <a:latin typeface="Times New Roman"/>
                <a:ea typeface="Open Sans"/>
                <a:cs typeface="Open Sans"/>
              </a:rPr>
              <a:t>USN: 1BY23AI010</a:t>
            </a:r>
            <a:r>
              <a:rPr lang="en-US" b="1" spc="-1" dirty="0">
                <a:solidFill>
                  <a:srgbClr val="000000"/>
                </a:solidFill>
                <a:latin typeface="Times New Roman"/>
                <a:ea typeface="Open Sans"/>
              </a:rPr>
              <a:t> </a:t>
            </a:r>
            <a:r>
              <a:rPr lang="en-US" sz="1800" b="1" strike="noStrike" spc="-1" dirty="0">
                <a:solidFill>
                  <a:srgbClr val="000000"/>
                </a:solidFill>
                <a:latin typeface="Times New Roman"/>
                <a:ea typeface="Open Sans"/>
              </a:rPr>
              <a:t>      	                             </a:t>
            </a:r>
            <a:r>
              <a:rPr lang="en-US" b="1" spc="-1" dirty="0">
                <a:solidFill>
                  <a:srgbClr val="000000"/>
                </a:solidFill>
                <a:latin typeface="Times New Roman"/>
                <a:ea typeface="Open Sans"/>
              </a:rPr>
              <a:t>      B Sudharshan                                                          </a:t>
            </a:r>
            <a:r>
              <a:rPr lang="en-US" b="1" spc="-1" dirty="0">
                <a:solidFill>
                  <a:srgbClr val="000000"/>
                </a:solidFill>
                <a:latin typeface="Times New Roman"/>
                <a:ea typeface="Open Sans"/>
                <a:cs typeface="Open Sans"/>
              </a:rPr>
              <a:t>USN: 1BY23AI025                                                             </a:t>
            </a:r>
            <a:r>
              <a:rPr lang="en-US" b="1" spc="-1" dirty="0">
                <a:solidFill>
                  <a:srgbClr val="000000"/>
                </a:solidFill>
                <a:latin typeface="Times New Roman"/>
                <a:ea typeface="Open Sans"/>
              </a:rPr>
              <a:t>      CR Tarun                                                                    </a:t>
            </a:r>
            <a:r>
              <a:rPr lang="en-US" b="1" spc="-1" dirty="0">
                <a:solidFill>
                  <a:srgbClr val="000000"/>
                </a:solidFill>
                <a:latin typeface="Times New Roman"/>
                <a:ea typeface="Open Sans"/>
                <a:cs typeface="Open Sans"/>
              </a:rPr>
              <a:t>USN: 1BY23AI034</a:t>
            </a:r>
            <a:r>
              <a:rPr lang="en-US" b="1" spc="-1" dirty="0">
                <a:solidFill>
                  <a:srgbClr val="000000"/>
                </a:solidFill>
                <a:latin typeface="Times New Roman"/>
                <a:ea typeface="Open Sans"/>
              </a:rPr>
              <a:t>               	                                                             </a:t>
            </a:r>
            <a:r>
              <a:rPr lang="en-US" b="1" spc="-1" dirty="0">
                <a:solidFill>
                  <a:srgbClr val="000000"/>
                </a:solidFill>
                <a:latin typeface="Times New Roman"/>
                <a:ea typeface="Open Sans"/>
                <a:cs typeface="Open Sans"/>
              </a:rPr>
              <a:t>      Chethan SL                                                               USN: 1BY23AI037</a:t>
            </a:r>
            <a:r>
              <a:rPr lang="en-US" b="1" spc="-1" dirty="0">
                <a:solidFill>
                  <a:srgbClr val="000000"/>
                </a:solidFill>
                <a:latin typeface="Open Sans"/>
                <a:ea typeface="Open Sans"/>
                <a:cs typeface="Open Sans"/>
              </a:rPr>
              <a:t>                                       </a:t>
            </a:r>
            <a:r>
              <a:rPr lang="en-US" sz="1800" b="1" strike="noStrike" spc="-1" dirty="0">
                <a:solidFill>
                  <a:srgbClr val="000000"/>
                </a:solidFill>
                <a:latin typeface="Open Sans"/>
                <a:ea typeface="Open Sans"/>
                <a:cs typeface="Open Sans"/>
              </a:rPr>
              <a:t>    </a:t>
            </a:r>
            <a:r>
              <a:rPr lang="en-US" b="1" spc="-1" dirty="0">
                <a:solidFill>
                  <a:srgbClr val="000000"/>
                </a:solidFill>
                <a:latin typeface="Open Sans"/>
                <a:ea typeface="Open Sans"/>
                <a:cs typeface="Open Sans"/>
              </a:rPr>
              <a:t>         </a:t>
            </a:r>
            <a:endParaRPr lang="en-IN" dirty="0">
              <a:cs typeface="Open Sans"/>
            </a:endParaRPr>
          </a:p>
          <a:p>
            <a:pPr algn="ctr"/>
            <a:endParaRPr lang="en-IN" sz="1800" b="0" strike="noStrike" spc="-1">
              <a:latin typeface="Arial"/>
            </a:endParaRPr>
          </a:p>
          <a:p>
            <a:pPr algn="ctr">
              <a:lnSpc>
                <a:spcPct val="100000"/>
              </a:lnSpc>
            </a:pPr>
            <a:r>
              <a:rPr lang="en-US" sz="2800" b="0" strike="noStrike" spc="-1" dirty="0">
                <a:solidFill>
                  <a:srgbClr val="000000"/>
                </a:solidFill>
                <a:latin typeface="Open Sans"/>
                <a:ea typeface="Open Sans"/>
              </a:rPr>
              <a:t>Under the guidance of</a:t>
            </a:r>
            <a:endParaRPr lang="en-IN" sz="2800" b="0" strike="noStrike" spc="-1" dirty="0">
              <a:latin typeface="Arial"/>
            </a:endParaRPr>
          </a:p>
          <a:p>
            <a:pPr algn="ctr"/>
            <a:r>
              <a:rPr lang="en-US" sz="2800" b="1" spc="-1" dirty="0">
                <a:solidFill>
                  <a:srgbClr val="C55A11"/>
                </a:solidFill>
                <a:latin typeface="Open Sans"/>
                <a:ea typeface="Open Sans"/>
              </a:rPr>
              <a:t>Dr. Manoj HM</a:t>
            </a:r>
            <a:endParaRPr lang="en-US" sz="2800" b="1" strike="noStrike" spc="-1" dirty="0">
              <a:solidFill>
                <a:srgbClr val="C55A11"/>
              </a:solidFill>
              <a:latin typeface="Open Sans"/>
              <a:ea typeface="Open Sans"/>
            </a:endParaRPr>
          </a:p>
          <a:p>
            <a:pPr algn="ctr"/>
            <a:r>
              <a:rPr lang="en-US" sz="1600" spc="-1" dirty="0">
                <a:solidFill>
                  <a:srgbClr val="000000"/>
                </a:solidFill>
                <a:latin typeface="Open Sans"/>
                <a:ea typeface="Open Sans"/>
              </a:rPr>
              <a:t>Associate</a:t>
            </a:r>
            <a:r>
              <a:rPr lang="en-US" sz="1600" b="0" strike="noStrike" spc="-1" dirty="0">
                <a:solidFill>
                  <a:srgbClr val="000000"/>
                </a:solidFill>
                <a:latin typeface="Open Sans"/>
                <a:ea typeface="Open Sans"/>
              </a:rPr>
              <a:t> </a:t>
            </a:r>
            <a:r>
              <a:rPr lang="en-US" sz="1600" spc="-1" dirty="0">
                <a:solidFill>
                  <a:srgbClr val="000000"/>
                </a:solidFill>
                <a:latin typeface="Open Sans"/>
                <a:ea typeface="Open Sans"/>
              </a:rPr>
              <a:t>Professor </a:t>
            </a:r>
            <a:endParaRPr lang="en-IN" sz="1600" b="0" strike="noStrike" spc="-1">
              <a:latin typeface="Arial"/>
            </a:endParaRPr>
          </a:p>
        </p:txBody>
      </p:sp>
      <p:sp>
        <p:nvSpPr>
          <p:cNvPr id="48" name="CustomShape 4"/>
          <p:cNvSpPr/>
          <p:nvPr/>
        </p:nvSpPr>
        <p:spPr>
          <a:xfrm>
            <a:off x="692403" y="1138877"/>
            <a:ext cx="7818963" cy="2983979"/>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en-IN" sz="3600" b="0" strike="noStrike" spc="-1" dirty="0">
                <a:solidFill>
                  <a:srgbClr val="FF0000"/>
                </a:solidFill>
                <a:latin typeface="Open Sans"/>
                <a:ea typeface="Open Sans"/>
              </a:rPr>
              <a:t>Mini Project Presentation Review –1</a:t>
            </a:r>
            <a:endParaRPr lang="en-IN" sz="3600" b="0" strike="noStrike" spc="-1" dirty="0">
              <a:latin typeface="Arial"/>
            </a:endParaRPr>
          </a:p>
          <a:p>
            <a:pPr algn="ctr"/>
            <a:endParaRPr lang="en-IN" sz="2000" b="1" u="sng" spc="-1" dirty="0">
              <a:latin typeface="Times New Roman"/>
              <a:ea typeface="Open Sans"/>
              <a:cs typeface="Times New Roman"/>
            </a:endParaRPr>
          </a:p>
          <a:p>
            <a:pPr algn="ctr"/>
            <a:r>
              <a:rPr lang="en-IN" sz="2000" b="1" u="sng" spc="-1" dirty="0">
                <a:latin typeface="Times New Roman"/>
                <a:ea typeface="Open Sans"/>
                <a:cs typeface="Times New Roman"/>
              </a:rPr>
              <a:t>Beyond the Bet</a:t>
            </a:r>
            <a:r>
              <a:rPr lang="en-IN" sz="2000" b="1" spc="-1" dirty="0">
                <a:latin typeface="Times New Roman"/>
                <a:ea typeface="Open Sans"/>
                <a:cs typeface="Times New Roman"/>
              </a:rPr>
              <a:t>:</a:t>
            </a:r>
            <a:r>
              <a:rPr lang="en-IN" sz="2000" b="1" strike="noStrike" spc="-1" dirty="0">
                <a:latin typeface="Times New Roman"/>
                <a:ea typeface="Open Sans"/>
                <a:cs typeface="Times New Roman"/>
              </a:rPr>
              <a:t> </a:t>
            </a:r>
            <a:r>
              <a:rPr lang="en-IN" sz="2000" b="1" spc="-1" dirty="0">
                <a:latin typeface="Times New Roman"/>
                <a:ea typeface="+mn-lt"/>
                <a:cs typeface="Times New Roman"/>
              </a:rPr>
              <a:t>Unveiling the Economic and Addictive Traps of Manipulated Odds in India's Online Betting Landscape.</a:t>
            </a:r>
            <a:endParaRPr lang="en-IN" sz="2000"/>
          </a:p>
          <a:p>
            <a:pPr algn="ctr"/>
            <a:endParaRPr lang="en-IN" sz="2000" b="1" spc="-1" dirty="0">
              <a:solidFill>
                <a:srgbClr val="385623"/>
              </a:solidFill>
              <a:latin typeface="Arial"/>
              <a:ea typeface="Open Sans"/>
              <a:cs typeface="Arial"/>
            </a:endParaRPr>
          </a:p>
          <a:p>
            <a:pPr algn="ctr">
              <a:lnSpc>
                <a:spcPct val="100000"/>
              </a:lnSpc>
            </a:pPr>
            <a:endParaRPr lang="en-IN" sz="3600" b="0" strike="noStrike" spc="-1" dirty="0">
              <a:solidFill>
                <a:srgbClr val="385623"/>
              </a:solidFill>
              <a:latin typeface="Open Sans"/>
              <a:ea typeface="Open Sans"/>
            </a:endParaRPr>
          </a:p>
          <a:p>
            <a:pPr>
              <a:lnSpc>
                <a:spcPct val="100000"/>
              </a:lnSpc>
            </a:pPr>
            <a:endParaRPr lang="en-IN" sz="3600" b="0" strike="noStrike" spc="-1">
              <a:latin typeface="Arial"/>
            </a:endParaRPr>
          </a:p>
        </p:txBody>
      </p:sp>
      <p:pic>
        <p:nvPicPr>
          <p:cNvPr id="2" name="Picture 1" descr="A close-up of a marbled surface&#10;&#10;AI-generated content may be incorrect.">
            <a:extLst>
              <a:ext uri="{FF2B5EF4-FFF2-40B4-BE49-F238E27FC236}">
                <a16:creationId xmlns:a16="http://schemas.microsoft.com/office/drawing/2014/main" xmlns="" id="{E8C55CA5-ACE3-5417-DAC7-0D782AB1715C}"/>
              </a:ext>
            </a:extLst>
          </p:cNvPr>
          <p:cNvPicPr>
            <a:picLocks noChangeAspect="1"/>
          </p:cNvPicPr>
          <p:nvPr/>
        </p:nvPicPr>
        <p:blipFill>
          <a:blip r:embed="rId2"/>
          <a:stretch>
            <a:fillRect/>
          </a:stretch>
        </p:blipFill>
        <p:spPr>
          <a:xfrm>
            <a:off x="255479" y="3154015"/>
            <a:ext cx="8648700" cy="2428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Shape 1"/>
          <p:cNvSpPr txBox="1"/>
          <p:nvPr/>
        </p:nvSpPr>
        <p:spPr>
          <a:xfrm>
            <a:off x="628560" y="6356520"/>
            <a:ext cx="2057040" cy="364680"/>
          </a:xfrm>
          <a:prstGeom prst="rect">
            <a:avLst/>
          </a:prstGeom>
          <a:noFill/>
          <a:ln>
            <a:noFill/>
          </a:ln>
        </p:spPr>
        <p:txBody>
          <a:bodyPr anchor="ctr">
            <a:noAutofit/>
          </a:bodyPr>
          <a:lstStyle/>
          <a:p>
            <a:pPr>
              <a:lnSpc>
                <a:spcPct val="100000"/>
              </a:lnSpc>
            </a:pPr>
            <a:fld id="{054DD8FE-CF07-45CF-B923-833FF4B076CF}" type="datetime1">
              <a:rPr lang="en-IN" sz="900" b="0" strike="noStrike" spc="-1">
                <a:solidFill>
                  <a:srgbClr val="8B8B8B"/>
                </a:solidFill>
                <a:latin typeface="Calibri"/>
              </a:rPr>
              <a:t>15-11-2025</a:t>
            </a:fld>
            <a:endParaRPr lang="en-IN" sz="900" b="0" strike="noStrike" spc="-1">
              <a:latin typeface="Times New Roman"/>
            </a:endParaRPr>
          </a:p>
        </p:txBody>
      </p:sp>
      <p:sp>
        <p:nvSpPr>
          <p:cNvPr id="54" name="TextShape 2"/>
          <p:cNvSpPr txBox="1"/>
          <p:nvPr/>
        </p:nvSpPr>
        <p:spPr>
          <a:xfrm>
            <a:off x="6458040" y="6356520"/>
            <a:ext cx="2057040" cy="364680"/>
          </a:xfrm>
          <a:prstGeom prst="rect">
            <a:avLst/>
          </a:prstGeom>
          <a:noFill/>
          <a:ln>
            <a:noFill/>
          </a:ln>
        </p:spPr>
        <p:txBody>
          <a:bodyPr anchor="ctr">
            <a:noAutofit/>
          </a:bodyPr>
          <a:lstStyle/>
          <a:p>
            <a:pPr algn="r">
              <a:lnSpc>
                <a:spcPct val="100000"/>
              </a:lnSpc>
            </a:pPr>
            <a:fld id="{87702EE6-03C5-4479-9169-3E95CD032EDE}" type="slidenum">
              <a:rPr lang="en-IN" sz="900" b="0" strike="noStrike" spc="-1">
                <a:solidFill>
                  <a:srgbClr val="8B8B8B"/>
                </a:solidFill>
                <a:latin typeface="Calibri"/>
              </a:rPr>
              <a:t>2</a:t>
            </a:fld>
            <a:endParaRPr lang="en-IN" sz="900" b="0" strike="noStrike" spc="-1">
              <a:latin typeface="Times New Roman"/>
            </a:endParaRPr>
          </a:p>
        </p:txBody>
      </p:sp>
      <p:sp>
        <p:nvSpPr>
          <p:cNvPr id="3" name="TextBox 2">
            <a:extLst>
              <a:ext uri="{FF2B5EF4-FFF2-40B4-BE49-F238E27FC236}">
                <a16:creationId xmlns:a16="http://schemas.microsoft.com/office/drawing/2014/main" xmlns="" id="{E0D34F87-C9DA-8525-B9CF-8F3F8580A4BC}"/>
              </a:ext>
            </a:extLst>
          </p:cNvPr>
          <p:cNvSpPr txBox="1"/>
          <p:nvPr/>
        </p:nvSpPr>
        <p:spPr>
          <a:xfrm>
            <a:off x="2910948" y="891360"/>
            <a:ext cx="332252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t>INTRODUCTION</a:t>
            </a:r>
            <a:endParaRPr lang="en-US" sz="2800"/>
          </a:p>
        </p:txBody>
      </p:sp>
      <p:sp>
        <p:nvSpPr>
          <p:cNvPr id="5" name="TextBox 4">
            <a:extLst>
              <a:ext uri="{FF2B5EF4-FFF2-40B4-BE49-F238E27FC236}">
                <a16:creationId xmlns:a16="http://schemas.microsoft.com/office/drawing/2014/main" xmlns="" id="{A93AC2E8-5649-C71F-0F1D-0B2DA66EEE8A}"/>
              </a:ext>
            </a:extLst>
          </p:cNvPr>
          <p:cNvSpPr txBox="1"/>
          <p:nvPr/>
        </p:nvSpPr>
        <p:spPr>
          <a:xfrm>
            <a:off x="186325" y="1744250"/>
            <a:ext cx="8959240" cy="33720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600" dirty="0">
                <a:latin typeface="Times New Roman"/>
              </a:rPr>
              <a:t>The online betting industry in India is growing rapidly. However, it is difficult to determine the exact size and value of the market for 2025 because a large portion of it operates illegally with worth over ₹3 trillion (about $40 billion) each year. The growth in online gaming has been significant over the past ten years, driven by digital access, smartphone use, and the fun of gaming. The COVID-19 pandemic also led to an increase in online betting, as more people were online and aware of these </a:t>
            </a:r>
            <a:r>
              <a:rPr lang="en-US" sz="1600" err="1">
                <a:latin typeface="Times New Roman"/>
              </a:rPr>
              <a:t>platforms.</a:t>
            </a:r>
            <a:r>
              <a:rPr lang="en-US" sz="1600" err="1">
                <a:latin typeface="Times New Roman"/>
                <a:ea typeface="+mn-lt"/>
                <a:cs typeface="+mn-lt"/>
              </a:rPr>
              <a:t>The</a:t>
            </a:r>
            <a:r>
              <a:rPr lang="en-US" sz="1600" dirty="0">
                <a:latin typeface="Times New Roman"/>
                <a:ea typeface="+mn-lt"/>
                <a:cs typeface="+mn-lt"/>
              </a:rPr>
              <a:t> core problem this presentation addresses is how betting companies can manipulate odds and design unfair platforms, creating a significant disadvantage for users and leading to inflated profits for the companies. This investigation aims to unveil these manipulative practices to better protect consumers in a global market that is projected to grow to over $57 billion.</a:t>
            </a:r>
            <a:endParaRPr lang="en-US" sz="1600" dirty="0">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5F1389F-A5E0-2A2D-20A1-47BDE70CA359}"/>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xmlns="" id="{89C843D4-5775-A1F7-7BB6-DBB446DABA37}"/>
              </a:ext>
            </a:extLst>
          </p:cNvPr>
          <p:cNvSpPr txBox="1"/>
          <p:nvPr/>
        </p:nvSpPr>
        <p:spPr>
          <a:xfrm>
            <a:off x="628560" y="6356520"/>
            <a:ext cx="2057040" cy="364680"/>
          </a:xfrm>
          <a:prstGeom prst="rect">
            <a:avLst/>
          </a:prstGeom>
          <a:noFill/>
          <a:ln>
            <a:noFill/>
          </a:ln>
        </p:spPr>
        <p:txBody>
          <a:bodyPr anchor="ctr">
            <a:noAutofit/>
          </a:bodyPr>
          <a:lstStyle/>
          <a:p>
            <a:pPr>
              <a:lnSpc>
                <a:spcPct val="100000"/>
              </a:lnSpc>
            </a:pPr>
            <a:fld id="{054DD8FE-CF07-45CF-B923-833FF4B076CF}" type="datetime1">
              <a:rPr lang="en-IN" sz="900" b="0" strike="noStrike" spc="-1">
                <a:solidFill>
                  <a:srgbClr val="8B8B8B"/>
                </a:solidFill>
                <a:latin typeface="Calibri"/>
              </a:rPr>
              <a:t>15-11-2025</a:t>
            </a:fld>
            <a:endParaRPr lang="en-IN" sz="900" b="0" strike="noStrike" spc="-1">
              <a:latin typeface="Times New Roman"/>
            </a:endParaRPr>
          </a:p>
        </p:txBody>
      </p:sp>
      <p:sp>
        <p:nvSpPr>
          <p:cNvPr id="54" name="TextShape 2">
            <a:extLst>
              <a:ext uri="{FF2B5EF4-FFF2-40B4-BE49-F238E27FC236}">
                <a16:creationId xmlns:a16="http://schemas.microsoft.com/office/drawing/2014/main" xmlns="" id="{D7A6FF87-ADFC-CB64-79F1-5FD35DD52DCA}"/>
              </a:ext>
            </a:extLst>
          </p:cNvPr>
          <p:cNvSpPr txBox="1"/>
          <p:nvPr/>
        </p:nvSpPr>
        <p:spPr>
          <a:xfrm>
            <a:off x="6458040" y="6356520"/>
            <a:ext cx="2057040" cy="364680"/>
          </a:xfrm>
          <a:prstGeom prst="rect">
            <a:avLst/>
          </a:prstGeom>
          <a:noFill/>
          <a:ln>
            <a:noFill/>
          </a:ln>
        </p:spPr>
        <p:txBody>
          <a:bodyPr anchor="ctr">
            <a:noAutofit/>
          </a:bodyPr>
          <a:lstStyle/>
          <a:p>
            <a:pPr algn="r">
              <a:lnSpc>
                <a:spcPct val="100000"/>
              </a:lnSpc>
            </a:pPr>
            <a:fld id="{87702EE6-03C5-4479-9169-3E95CD032EDE}" type="slidenum">
              <a:rPr lang="en-IN" sz="900" b="0" strike="noStrike" spc="-1">
                <a:solidFill>
                  <a:srgbClr val="8B8B8B"/>
                </a:solidFill>
                <a:latin typeface="Calibri"/>
              </a:rPr>
              <a:t>3</a:t>
            </a:fld>
            <a:endParaRPr lang="en-IN" sz="900" b="0" strike="noStrike" spc="-1">
              <a:latin typeface="Times New Roman"/>
            </a:endParaRPr>
          </a:p>
        </p:txBody>
      </p:sp>
      <p:sp>
        <p:nvSpPr>
          <p:cNvPr id="3" name="TextBox 2">
            <a:extLst>
              <a:ext uri="{FF2B5EF4-FFF2-40B4-BE49-F238E27FC236}">
                <a16:creationId xmlns:a16="http://schemas.microsoft.com/office/drawing/2014/main" xmlns="" id="{23158964-095D-E0C6-8095-A61B7349708C}"/>
              </a:ext>
            </a:extLst>
          </p:cNvPr>
          <p:cNvSpPr txBox="1"/>
          <p:nvPr/>
        </p:nvSpPr>
        <p:spPr>
          <a:xfrm>
            <a:off x="2910948" y="891360"/>
            <a:ext cx="413671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31800" lvl="2"/>
            <a:r>
              <a:rPr lang="en-US" sz="2800" b="1" dirty="0">
                <a:latin typeface="Calibri"/>
                <a:ea typeface="Calibri"/>
                <a:cs typeface="Calibri"/>
              </a:rPr>
              <a:t>Problem Statement</a:t>
            </a:r>
            <a:endParaRPr lang="en-IN" sz="2800">
              <a:latin typeface="Calibri"/>
              <a:ea typeface="Calibri"/>
              <a:cs typeface="Calibri"/>
            </a:endParaRPr>
          </a:p>
          <a:p>
            <a:pPr algn="ctr"/>
            <a:endParaRPr lang="en-US" sz="2800" b="1" dirty="0"/>
          </a:p>
        </p:txBody>
      </p:sp>
      <p:sp>
        <p:nvSpPr>
          <p:cNvPr id="5" name="TextBox 4">
            <a:extLst>
              <a:ext uri="{FF2B5EF4-FFF2-40B4-BE49-F238E27FC236}">
                <a16:creationId xmlns:a16="http://schemas.microsoft.com/office/drawing/2014/main" xmlns="" id="{B8C3764C-A7A3-7520-C86D-B07049DD4453}"/>
              </a:ext>
            </a:extLst>
          </p:cNvPr>
          <p:cNvSpPr txBox="1"/>
          <p:nvPr/>
        </p:nvSpPr>
        <p:spPr>
          <a:xfrm>
            <a:off x="92380" y="2480154"/>
            <a:ext cx="8959240" cy="18947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Times New Roman"/>
                <a:cs typeface="Times New Roman"/>
              </a:rPr>
              <a:t>The main</a:t>
            </a:r>
            <a:r>
              <a:rPr lang="en-US" sz="2400" dirty="0">
                <a:latin typeface="Times New Roman"/>
                <a:ea typeface="+mn-lt"/>
                <a:cs typeface="Times New Roman"/>
              </a:rPr>
              <a:t> problem this project looks at is how betting companies can manipulate odds and design their platforms in ways that are unfair to users, that can lead to bigger profits for the companies and put consumers at a disadvantage.</a:t>
            </a:r>
            <a:endParaRPr lang="en-US" sz="2400" dirty="0">
              <a:latin typeface="Times New Roman"/>
              <a:cs typeface="Times New Roman"/>
            </a:endParaRPr>
          </a:p>
          <a:p>
            <a:pPr>
              <a:lnSpc>
                <a:spcPct val="150000"/>
              </a:lnSpc>
            </a:pPr>
            <a:endParaRPr lang="en-US" sz="1600" dirty="0">
              <a:latin typeface="Times New Roman"/>
              <a:cs typeface="Arial"/>
            </a:endParaRPr>
          </a:p>
        </p:txBody>
      </p:sp>
    </p:spTree>
    <p:extLst>
      <p:ext uri="{BB962C8B-B14F-4D97-AF65-F5344CB8AC3E}">
        <p14:creationId xmlns:p14="http://schemas.microsoft.com/office/powerpoint/2010/main" val="1048301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8C3ABC8-F61F-B6BA-F945-F3079C35D2CE}"/>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xmlns="" id="{5C2D9B7D-52BB-9C9C-749E-EBB97290F803}"/>
              </a:ext>
            </a:extLst>
          </p:cNvPr>
          <p:cNvSpPr txBox="1"/>
          <p:nvPr/>
        </p:nvSpPr>
        <p:spPr>
          <a:xfrm>
            <a:off x="628560" y="6356520"/>
            <a:ext cx="2057040" cy="364680"/>
          </a:xfrm>
          <a:prstGeom prst="rect">
            <a:avLst/>
          </a:prstGeom>
          <a:noFill/>
          <a:ln>
            <a:noFill/>
          </a:ln>
        </p:spPr>
        <p:txBody>
          <a:bodyPr anchor="ctr">
            <a:noAutofit/>
          </a:bodyPr>
          <a:lstStyle/>
          <a:p>
            <a:pPr>
              <a:lnSpc>
                <a:spcPct val="100000"/>
              </a:lnSpc>
            </a:pPr>
            <a:fld id="{054DD8FE-CF07-45CF-B923-833FF4B076CF}" type="datetime1">
              <a:rPr lang="en-IN" sz="900" b="0" strike="noStrike" spc="-1">
                <a:solidFill>
                  <a:srgbClr val="8B8B8B"/>
                </a:solidFill>
                <a:latin typeface="Calibri"/>
              </a:rPr>
              <a:t>15-11-2025</a:t>
            </a:fld>
            <a:endParaRPr lang="en-IN" sz="900" b="0" strike="noStrike" spc="-1">
              <a:latin typeface="Times New Roman"/>
            </a:endParaRPr>
          </a:p>
        </p:txBody>
      </p:sp>
      <p:sp>
        <p:nvSpPr>
          <p:cNvPr id="54" name="TextShape 2">
            <a:extLst>
              <a:ext uri="{FF2B5EF4-FFF2-40B4-BE49-F238E27FC236}">
                <a16:creationId xmlns:a16="http://schemas.microsoft.com/office/drawing/2014/main" xmlns="" id="{E86E4E01-BA0F-7D1F-D574-CD537239A227}"/>
              </a:ext>
            </a:extLst>
          </p:cNvPr>
          <p:cNvSpPr txBox="1"/>
          <p:nvPr/>
        </p:nvSpPr>
        <p:spPr>
          <a:xfrm>
            <a:off x="6458040" y="6356520"/>
            <a:ext cx="2057040" cy="364680"/>
          </a:xfrm>
          <a:prstGeom prst="rect">
            <a:avLst/>
          </a:prstGeom>
          <a:noFill/>
          <a:ln>
            <a:noFill/>
          </a:ln>
        </p:spPr>
        <p:txBody>
          <a:bodyPr anchor="ctr">
            <a:noAutofit/>
          </a:bodyPr>
          <a:lstStyle/>
          <a:p>
            <a:pPr algn="r">
              <a:lnSpc>
                <a:spcPct val="100000"/>
              </a:lnSpc>
            </a:pPr>
            <a:fld id="{87702EE6-03C5-4479-9169-3E95CD032EDE}" type="slidenum">
              <a:rPr lang="en-IN" sz="900" b="0" strike="noStrike" spc="-1">
                <a:solidFill>
                  <a:srgbClr val="8B8B8B"/>
                </a:solidFill>
                <a:latin typeface="Calibri"/>
              </a:rPr>
              <a:t>4</a:t>
            </a:fld>
            <a:endParaRPr lang="en-IN" sz="900" b="0" strike="noStrike" spc="-1">
              <a:latin typeface="Times New Roman"/>
            </a:endParaRPr>
          </a:p>
        </p:txBody>
      </p:sp>
      <p:sp>
        <p:nvSpPr>
          <p:cNvPr id="3" name="TextBox 2">
            <a:extLst>
              <a:ext uri="{FF2B5EF4-FFF2-40B4-BE49-F238E27FC236}">
                <a16:creationId xmlns:a16="http://schemas.microsoft.com/office/drawing/2014/main" xmlns="" id="{9FEF2E0B-4F03-A2ED-D0EA-0398A077FE2D}"/>
              </a:ext>
            </a:extLst>
          </p:cNvPr>
          <p:cNvSpPr txBox="1"/>
          <p:nvPr/>
        </p:nvSpPr>
        <p:spPr>
          <a:xfrm>
            <a:off x="2910948" y="891360"/>
            <a:ext cx="332252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latin typeface="Calibri"/>
                <a:ea typeface="Calibri"/>
                <a:cs typeface="Calibri"/>
              </a:rPr>
              <a:t>OBJECTIVES</a:t>
            </a:r>
            <a:endParaRPr lang="en-US" dirty="0"/>
          </a:p>
        </p:txBody>
      </p:sp>
      <p:sp>
        <p:nvSpPr>
          <p:cNvPr id="5" name="TextBox 4">
            <a:extLst>
              <a:ext uri="{FF2B5EF4-FFF2-40B4-BE49-F238E27FC236}">
                <a16:creationId xmlns:a16="http://schemas.microsoft.com/office/drawing/2014/main" xmlns="" id="{31D146D7-E074-CE2B-8DFC-048D5D36B4E8}"/>
              </a:ext>
            </a:extLst>
          </p:cNvPr>
          <p:cNvSpPr txBox="1"/>
          <p:nvPr/>
        </p:nvSpPr>
        <p:spPr>
          <a:xfrm>
            <a:off x="92380" y="1736421"/>
            <a:ext cx="8959240" cy="4807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000" dirty="0">
                <a:latin typeface="Times New Roman"/>
                <a:ea typeface="+mn-lt"/>
                <a:cs typeface="+mn-lt"/>
              </a:rPr>
              <a:t>To build an informational website or platform that educates the public on the mechanics of betting odds, the risks of the unregulated market, and how data can reveal unfair practices.</a:t>
            </a:r>
            <a:endParaRPr lang="en-US" sz="2000" dirty="0">
              <a:latin typeface="Times New Roman"/>
            </a:endParaRPr>
          </a:p>
          <a:p>
            <a:pPr marL="457200" indent="-457200">
              <a:buAutoNum type="arabicPeriod"/>
            </a:pPr>
            <a:endParaRPr lang="en-US" sz="2000" dirty="0">
              <a:latin typeface="Times New Roman"/>
              <a:ea typeface="+mn-lt"/>
              <a:cs typeface="+mn-lt"/>
            </a:endParaRPr>
          </a:p>
          <a:p>
            <a:pPr marL="457200" indent="-457200">
              <a:buAutoNum type="arabicPeriod"/>
            </a:pPr>
            <a:r>
              <a:rPr lang="en-US" sz="2000" dirty="0">
                <a:latin typeface="Times New Roman"/>
                <a:ea typeface="+mn-lt"/>
                <a:cs typeface="+mn-lt"/>
              </a:rPr>
              <a:t>Establish a "True Odds" Baseline: To use the validated prediction model to generate unbiased, data-driven probabilities for race outcomes, establishing a "true odds" benchmark for fair betting.</a:t>
            </a:r>
          </a:p>
          <a:p>
            <a:pPr marL="457200" indent="-457200">
              <a:buAutoNum type="arabicPeriod"/>
            </a:pPr>
            <a:endParaRPr lang="en-US" sz="2000" dirty="0">
              <a:latin typeface="Times New Roman"/>
              <a:ea typeface="+mn-lt"/>
              <a:cs typeface="+mn-lt"/>
            </a:endParaRPr>
          </a:p>
          <a:p>
            <a:pPr marL="457200" indent="-457200">
              <a:buAutoNum type="arabicPeriod"/>
            </a:pPr>
            <a:r>
              <a:rPr lang="en-US" sz="2000" dirty="0">
                <a:latin typeface="Times New Roman"/>
                <a:ea typeface="+mn-lt"/>
                <a:cs typeface="+mn-lt"/>
              </a:rPr>
              <a:t>To develop and validate a high-accuracy machine learning framework capable of predicting horse racing outcomes, and to leverage this model to systematically identify and expose manipulated odds and unfair practices within the online betting market, thereby promoting consumer protection.</a:t>
            </a:r>
          </a:p>
          <a:p>
            <a:pPr marL="457200" indent="-457200">
              <a:buAutoNum type="arabicPeriod"/>
            </a:pPr>
            <a:endParaRPr lang="en-US" sz="2000" dirty="0">
              <a:latin typeface="Times New Roman"/>
              <a:cs typeface="Arial"/>
            </a:endParaRPr>
          </a:p>
          <a:p>
            <a:pPr marL="457200" indent="-457200">
              <a:buAutoNum type="arabicPeriod"/>
            </a:pPr>
            <a:endParaRPr lang="en-US" sz="2000" dirty="0">
              <a:latin typeface="Times New Roman"/>
              <a:cs typeface="Arial"/>
            </a:endParaRPr>
          </a:p>
          <a:p>
            <a:pPr marL="457200" indent="-457200">
              <a:lnSpc>
                <a:spcPct val="150000"/>
              </a:lnSpc>
              <a:buAutoNum type="arabicPeriod"/>
            </a:pPr>
            <a:endParaRPr lang="en-US" sz="2000" dirty="0">
              <a:latin typeface="Times New Roman"/>
              <a:cs typeface="Arial"/>
            </a:endParaRPr>
          </a:p>
        </p:txBody>
      </p:sp>
    </p:spTree>
    <p:extLst>
      <p:ext uri="{BB962C8B-B14F-4D97-AF65-F5344CB8AC3E}">
        <p14:creationId xmlns:p14="http://schemas.microsoft.com/office/powerpoint/2010/main" val="868225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22F4664-CB42-DAEA-5AE0-1A6633DB887A}"/>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xmlns="" id="{76DA806E-42EF-BCB2-33C5-6A27C5223B2A}"/>
              </a:ext>
            </a:extLst>
          </p:cNvPr>
          <p:cNvSpPr txBox="1"/>
          <p:nvPr/>
        </p:nvSpPr>
        <p:spPr>
          <a:xfrm>
            <a:off x="628560" y="6356520"/>
            <a:ext cx="2057040" cy="364680"/>
          </a:xfrm>
          <a:prstGeom prst="rect">
            <a:avLst/>
          </a:prstGeom>
          <a:noFill/>
          <a:ln>
            <a:noFill/>
          </a:ln>
        </p:spPr>
        <p:txBody>
          <a:bodyPr anchor="ctr">
            <a:noAutofit/>
          </a:bodyPr>
          <a:lstStyle/>
          <a:p>
            <a:pPr>
              <a:lnSpc>
                <a:spcPct val="100000"/>
              </a:lnSpc>
            </a:pPr>
            <a:fld id="{054DD8FE-CF07-45CF-B923-833FF4B076CF}" type="datetime1">
              <a:rPr lang="en-IN" sz="900" b="0" strike="noStrike" spc="-1">
                <a:solidFill>
                  <a:srgbClr val="8B8B8B"/>
                </a:solidFill>
                <a:latin typeface="Calibri"/>
              </a:rPr>
              <a:t>15-11-2025</a:t>
            </a:fld>
            <a:endParaRPr lang="en-IN" sz="900" b="0" strike="noStrike" spc="-1">
              <a:latin typeface="Times New Roman"/>
            </a:endParaRPr>
          </a:p>
        </p:txBody>
      </p:sp>
      <p:sp>
        <p:nvSpPr>
          <p:cNvPr id="54" name="TextShape 2">
            <a:extLst>
              <a:ext uri="{FF2B5EF4-FFF2-40B4-BE49-F238E27FC236}">
                <a16:creationId xmlns:a16="http://schemas.microsoft.com/office/drawing/2014/main" xmlns="" id="{E0C63166-ED7D-D79E-6F1E-3FEA4376F27E}"/>
              </a:ext>
            </a:extLst>
          </p:cNvPr>
          <p:cNvSpPr txBox="1"/>
          <p:nvPr/>
        </p:nvSpPr>
        <p:spPr>
          <a:xfrm>
            <a:off x="6458040" y="6356520"/>
            <a:ext cx="2057040" cy="364680"/>
          </a:xfrm>
          <a:prstGeom prst="rect">
            <a:avLst/>
          </a:prstGeom>
          <a:noFill/>
          <a:ln>
            <a:noFill/>
          </a:ln>
        </p:spPr>
        <p:txBody>
          <a:bodyPr anchor="ctr">
            <a:noAutofit/>
          </a:bodyPr>
          <a:lstStyle/>
          <a:p>
            <a:pPr algn="r">
              <a:lnSpc>
                <a:spcPct val="100000"/>
              </a:lnSpc>
            </a:pPr>
            <a:fld id="{87702EE6-03C5-4479-9169-3E95CD032EDE}" type="slidenum">
              <a:rPr lang="en-IN" sz="900" b="0" strike="noStrike" spc="-1">
                <a:solidFill>
                  <a:srgbClr val="8B8B8B"/>
                </a:solidFill>
                <a:latin typeface="Calibri"/>
              </a:rPr>
              <a:t>5</a:t>
            </a:fld>
            <a:endParaRPr lang="en-IN" sz="900" b="0" strike="noStrike" spc="-1">
              <a:latin typeface="Times New Roman"/>
            </a:endParaRPr>
          </a:p>
        </p:txBody>
      </p:sp>
      <p:sp>
        <p:nvSpPr>
          <p:cNvPr id="3" name="TextBox 2">
            <a:extLst>
              <a:ext uri="{FF2B5EF4-FFF2-40B4-BE49-F238E27FC236}">
                <a16:creationId xmlns:a16="http://schemas.microsoft.com/office/drawing/2014/main" xmlns="" id="{0F98F695-E357-68BE-238B-7059BDB1735E}"/>
              </a:ext>
            </a:extLst>
          </p:cNvPr>
          <p:cNvSpPr txBox="1"/>
          <p:nvPr/>
        </p:nvSpPr>
        <p:spPr>
          <a:xfrm>
            <a:off x="1658345" y="789586"/>
            <a:ext cx="5686815"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31800" lvl="2"/>
            <a:r>
              <a:rPr lang="en-US" sz="2800" b="1" dirty="0">
                <a:latin typeface="Calibri"/>
                <a:ea typeface="Calibri"/>
                <a:cs typeface="Calibri"/>
              </a:rPr>
              <a:t>Existing System :Literature Survey</a:t>
            </a:r>
            <a:endParaRPr lang="en-IN" sz="2800" dirty="0">
              <a:latin typeface="Calibri"/>
              <a:ea typeface="Calibri"/>
              <a:cs typeface="Calibri"/>
            </a:endParaRPr>
          </a:p>
          <a:p>
            <a:pPr algn="ctr"/>
            <a:endParaRPr lang="en-US" sz="2800" b="1" dirty="0"/>
          </a:p>
        </p:txBody>
      </p:sp>
      <p:sp>
        <p:nvSpPr>
          <p:cNvPr id="5" name="TextBox 4">
            <a:extLst>
              <a:ext uri="{FF2B5EF4-FFF2-40B4-BE49-F238E27FC236}">
                <a16:creationId xmlns:a16="http://schemas.microsoft.com/office/drawing/2014/main" xmlns="" id="{2BD37B99-5CD9-E357-FB0F-13857E825076}"/>
              </a:ext>
            </a:extLst>
          </p:cNvPr>
          <p:cNvSpPr txBox="1"/>
          <p:nvPr/>
        </p:nvSpPr>
        <p:spPr>
          <a:xfrm>
            <a:off x="186325" y="1744250"/>
            <a:ext cx="89592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latin typeface="Times New Roman"/>
              <a:cs typeface="Arial"/>
            </a:endParaRPr>
          </a:p>
        </p:txBody>
      </p:sp>
      <p:graphicFrame>
        <p:nvGraphicFramePr>
          <p:cNvPr id="6" name="Table 5">
            <a:extLst>
              <a:ext uri="{FF2B5EF4-FFF2-40B4-BE49-F238E27FC236}">
                <a16:creationId xmlns:a16="http://schemas.microsoft.com/office/drawing/2014/main" xmlns="" id="{60412664-240B-54FE-EBE0-65ABD5B6610F}"/>
              </a:ext>
            </a:extLst>
          </p:cNvPr>
          <p:cNvGraphicFramePr>
            <a:graphicFrameLocks noGrp="1"/>
          </p:cNvGraphicFramePr>
          <p:nvPr>
            <p:extLst>
              <p:ext uri="{D42A27DB-BD31-4B8C-83A1-F6EECF244321}">
                <p14:modId xmlns:p14="http://schemas.microsoft.com/office/powerpoint/2010/main" val="1190119115"/>
              </p:ext>
            </p:extLst>
          </p:nvPr>
        </p:nvGraphicFramePr>
        <p:xfrm>
          <a:off x="44353" y="1268261"/>
          <a:ext cx="9051732" cy="5337810"/>
        </p:xfrm>
        <a:graphic>
          <a:graphicData uri="http://schemas.openxmlformats.org/drawingml/2006/table">
            <a:tbl>
              <a:tblPr bandRow="1">
                <a:tableStyleId>{5C22544A-7EE6-4342-B048-85BDC9FD1C3A}</a:tableStyleId>
              </a:tblPr>
              <a:tblGrid>
                <a:gridCol w="1132475">
                  <a:extLst>
                    <a:ext uri="{9D8B030D-6E8A-4147-A177-3AD203B41FA5}">
                      <a16:colId xmlns:a16="http://schemas.microsoft.com/office/drawing/2014/main" xmlns="" val="2269033865"/>
                    </a:ext>
                  </a:extLst>
                </a:gridCol>
                <a:gridCol w="1830261">
                  <a:extLst>
                    <a:ext uri="{9D8B030D-6E8A-4147-A177-3AD203B41FA5}">
                      <a16:colId xmlns:a16="http://schemas.microsoft.com/office/drawing/2014/main" xmlns="" val="2776337526"/>
                    </a:ext>
                  </a:extLst>
                </a:gridCol>
                <a:gridCol w="1150420">
                  <a:extLst>
                    <a:ext uri="{9D8B030D-6E8A-4147-A177-3AD203B41FA5}">
                      <a16:colId xmlns:a16="http://schemas.microsoft.com/office/drawing/2014/main" xmlns="" val="3143939554"/>
                    </a:ext>
                  </a:extLst>
                </a:gridCol>
                <a:gridCol w="769965">
                  <a:extLst>
                    <a:ext uri="{9D8B030D-6E8A-4147-A177-3AD203B41FA5}">
                      <a16:colId xmlns:a16="http://schemas.microsoft.com/office/drawing/2014/main" xmlns="" val="103085107"/>
                    </a:ext>
                  </a:extLst>
                </a:gridCol>
                <a:gridCol w="1367821">
                  <a:extLst>
                    <a:ext uri="{9D8B030D-6E8A-4147-A177-3AD203B41FA5}">
                      <a16:colId xmlns:a16="http://schemas.microsoft.com/office/drawing/2014/main" xmlns="" val="1726740018"/>
                    </a:ext>
                  </a:extLst>
                </a:gridCol>
                <a:gridCol w="2800790">
                  <a:extLst>
                    <a:ext uri="{9D8B030D-6E8A-4147-A177-3AD203B41FA5}">
                      <a16:colId xmlns:a16="http://schemas.microsoft.com/office/drawing/2014/main" xmlns="" val="2921270270"/>
                    </a:ext>
                  </a:extLst>
                </a:gridCol>
              </a:tblGrid>
              <a:tr h="941892">
                <a:tc>
                  <a:txBody>
                    <a:bodyPr/>
                    <a:lstStyle/>
                    <a:p>
                      <a:pPr>
                        <a:buNone/>
                      </a:pPr>
                      <a:r>
                        <a:rPr lang="en-US">
                          <a:effectLst/>
                        </a:rPr>
                        <a:t>Ref</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Project Title</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Author(s)</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Year</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Technologies / Methods Used</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Limitations &amp; Gaps</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980199501"/>
                  </a:ext>
                </a:extLst>
              </a:tr>
              <a:tr h="2197756">
                <a:tc>
                  <a:txBody>
                    <a:bodyPr/>
                    <a:lstStyle/>
                    <a:p>
                      <a:pPr>
                        <a:buNone/>
                      </a:pPr>
                      <a:r>
                        <a:rPr lang="en-US">
                          <a:effectLst/>
                        </a:rPr>
                        <a:t>[1]</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Fair and easy: the effect of perceived fairness, effort expectancy and user experience on online slot machine gambling intention</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J. Konietzny, A. Caruana</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2018</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Survey-based analysis, statistical modeling</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Focused only on slot machines; lacks AI or digital intervention studies.</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395076446"/>
                  </a:ext>
                </a:extLst>
              </a:tr>
              <a:tr h="1360513">
                <a:tc>
                  <a:txBody>
                    <a:bodyPr/>
                    <a:lstStyle/>
                    <a:p>
                      <a:pPr>
                        <a:buNone/>
                      </a:pPr>
                      <a:r>
                        <a:rPr lang="en-US">
                          <a:effectLst/>
                        </a:rPr>
                        <a:t>[2]</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The structural characteristics of online sports betting</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J. Torrance</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2024</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Behavioral analysis, gambling psychology frameworks</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a:effectLst/>
                        </a:rPr>
                        <a:t>Descriptive only; no predictive or AI/ML models applied.</a:t>
                      </a:r>
                    </a:p>
                  </a:txBody>
                  <a:tcPr marL="73152" marR="73152" marT="66675" marB="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962585866"/>
                  </a:ext>
                </a:extLst>
              </a:tr>
            </a:tbl>
          </a:graphicData>
        </a:graphic>
      </p:graphicFrame>
    </p:spTree>
    <p:extLst>
      <p:ext uri="{BB962C8B-B14F-4D97-AF65-F5344CB8AC3E}">
        <p14:creationId xmlns:p14="http://schemas.microsoft.com/office/powerpoint/2010/main" val="3646064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C8D53F20-10AF-4850-A865-976E1DAE065A}"/>
              </a:ext>
            </a:extLst>
          </p:cNvPr>
          <p:cNvGraphicFramePr>
            <a:graphicFrameLocks noGrp="1"/>
          </p:cNvGraphicFramePr>
          <p:nvPr>
            <p:extLst>
              <p:ext uri="{D42A27DB-BD31-4B8C-83A1-F6EECF244321}">
                <p14:modId xmlns:p14="http://schemas.microsoft.com/office/powerpoint/2010/main" val="369900501"/>
              </p:ext>
            </p:extLst>
          </p:nvPr>
        </p:nvGraphicFramePr>
        <p:xfrm>
          <a:off x="0" y="649787"/>
          <a:ext cx="9137674" cy="6335810"/>
        </p:xfrm>
        <a:graphic>
          <a:graphicData uri="http://schemas.openxmlformats.org/drawingml/2006/table">
            <a:tbl>
              <a:tblPr bandRow="1">
                <a:tableStyleId>{5C22544A-7EE6-4342-B048-85BDC9FD1C3A}</a:tableStyleId>
              </a:tblPr>
              <a:tblGrid>
                <a:gridCol w="1143227">
                  <a:extLst>
                    <a:ext uri="{9D8B030D-6E8A-4147-A177-3AD203B41FA5}">
                      <a16:colId xmlns:a16="http://schemas.microsoft.com/office/drawing/2014/main" xmlns="" val="2893544708"/>
                    </a:ext>
                  </a:extLst>
                </a:gridCol>
                <a:gridCol w="1847636">
                  <a:extLst>
                    <a:ext uri="{9D8B030D-6E8A-4147-A177-3AD203B41FA5}">
                      <a16:colId xmlns:a16="http://schemas.microsoft.com/office/drawing/2014/main" xmlns="" val="3757608260"/>
                    </a:ext>
                  </a:extLst>
                </a:gridCol>
                <a:gridCol w="1161339">
                  <a:extLst>
                    <a:ext uri="{9D8B030D-6E8A-4147-A177-3AD203B41FA5}">
                      <a16:colId xmlns:a16="http://schemas.microsoft.com/office/drawing/2014/main" xmlns="" val="1240498509"/>
                    </a:ext>
                  </a:extLst>
                </a:gridCol>
                <a:gridCol w="777270">
                  <a:extLst>
                    <a:ext uri="{9D8B030D-6E8A-4147-A177-3AD203B41FA5}">
                      <a16:colId xmlns:a16="http://schemas.microsoft.com/office/drawing/2014/main" xmlns="" val="1567318353"/>
                    </a:ext>
                  </a:extLst>
                </a:gridCol>
                <a:gridCol w="1380815">
                  <a:extLst>
                    <a:ext uri="{9D8B030D-6E8A-4147-A177-3AD203B41FA5}">
                      <a16:colId xmlns:a16="http://schemas.microsoft.com/office/drawing/2014/main" xmlns="" val="3276818720"/>
                    </a:ext>
                  </a:extLst>
                </a:gridCol>
                <a:gridCol w="2827387">
                  <a:extLst>
                    <a:ext uri="{9D8B030D-6E8A-4147-A177-3AD203B41FA5}">
                      <a16:colId xmlns:a16="http://schemas.microsoft.com/office/drawing/2014/main" xmlns="" val="2110686060"/>
                    </a:ext>
                  </a:extLst>
                </a:gridCol>
              </a:tblGrid>
              <a:tr h="2319765">
                <a:tc>
                  <a:txBody>
                    <a:bodyPr/>
                    <a:lstStyle/>
                    <a:p>
                      <a:pPr algn="l" rtl="0" fontAlgn="base">
                        <a:lnSpc>
                          <a:spcPts val="2660"/>
                        </a:lnSpc>
                        <a:buNone/>
                      </a:pPr>
                      <a:r>
                        <a:rPr lang="en-US" sz="1800" b="0" i="0" dirty="0">
                          <a:solidFill>
                            <a:srgbClr val="000000"/>
                          </a:solidFill>
                          <a:effectLst/>
                          <a:latin typeface="Arial"/>
                        </a:rPr>
                        <a:t>[3]</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Identifying online sports betting motivations associated with betting intention</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H. Song, K. K. Byon, P. M. Pedersen</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2024 (pre-pub online 2025)</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Quantitative surveys, regression analysis</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Links motivations with intentions but lacks long-term or tech-driven insights.</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793205106"/>
                  </a:ext>
                </a:extLst>
              </a:tr>
              <a:tr h="2158903">
                <a:tc>
                  <a:txBody>
                    <a:bodyPr/>
                    <a:lstStyle/>
                    <a:p>
                      <a:pPr algn="l" rtl="0" fontAlgn="base">
                        <a:lnSpc>
                          <a:spcPts val="2660"/>
                        </a:lnSpc>
                        <a:buNone/>
                      </a:pPr>
                      <a:r>
                        <a:rPr lang="en-US" sz="1800" b="0" i="0" dirty="0">
                          <a:solidFill>
                            <a:srgbClr val="000000"/>
                          </a:solidFill>
                          <a:effectLst/>
                          <a:latin typeface="Arial"/>
                        </a:rPr>
                        <a:t>[4]</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AI-based betting anomaly detection system to ensure ...</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C. Kim et al.</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2024</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Artificial Intelligence, anomaly detection, machine learning</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Technical focus; limited to anomaly detection; fairness/ethics not addressed.</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698189734"/>
                  </a:ext>
                </a:extLst>
              </a:tr>
              <a:tr h="1794853">
                <a:tc>
                  <a:txBody>
                    <a:bodyPr/>
                    <a:lstStyle/>
                    <a:p>
                      <a:pPr algn="l" rtl="0" fontAlgn="base">
                        <a:lnSpc>
                          <a:spcPts val="2660"/>
                        </a:lnSpc>
                        <a:buNone/>
                      </a:pPr>
                      <a:r>
                        <a:rPr lang="en-US" sz="1800" b="0" i="0" dirty="0">
                          <a:solidFill>
                            <a:srgbClr val="000000"/>
                          </a:solidFill>
                          <a:effectLst/>
                          <a:latin typeface="Arial"/>
                        </a:rPr>
                        <a:t>[5]</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Youth Sports Betting and Problem Gambling</a:t>
                      </a: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F. M. Daniel</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2024</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Literature review, global data synthesis</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tc>
                  <a:txBody>
                    <a:bodyPr/>
                    <a:lstStyle/>
                    <a:p>
                      <a:pPr algn="l" rtl="0" fontAlgn="base">
                        <a:lnSpc>
                          <a:spcPts val="2660"/>
                        </a:lnSpc>
                        <a:buNone/>
                      </a:pPr>
                      <a:r>
                        <a:rPr lang="en-US" sz="1800" b="0" i="0" dirty="0">
                          <a:solidFill>
                            <a:srgbClr val="000000"/>
                          </a:solidFill>
                          <a:effectLst/>
                          <a:latin typeface="Arial"/>
                        </a:rPr>
                        <a:t>Review-only; lacks new experimental or AI-driven interventions.</a:t>
                      </a:r>
                      <a:endParaRPr lang="en-US" b="0" i="0" dirty="0">
                        <a:solidFill>
                          <a:srgbClr val="000000"/>
                        </a:solidFill>
                        <a:effectLst/>
                        <a:latin typeface="Arial"/>
                      </a:endParaRPr>
                    </a:p>
                  </a:txBody>
                  <a:tcPr marL="89859" marR="89859" marT="81896" marB="81896">
                    <a:lnL w="11697" cap="flat" cmpd="sng" algn="ctr">
                      <a:solidFill>
                        <a:srgbClr val="000000"/>
                      </a:solidFill>
                      <a:prstDash val="solid"/>
                      <a:round/>
                      <a:headEnd type="none" w="med" len="med"/>
                      <a:tailEnd type="none" w="med" len="med"/>
                    </a:lnL>
                    <a:lnR w="11697" cap="flat" cmpd="sng" algn="ctr">
                      <a:solidFill>
                        <a:srgbClr val="000000"/>
                      </a:solidFill>
                      <a:prstDash val="solid"/>
                      <a:round/>
                      <a:headEnd type="none" w="med" len="med"/>
                      <a:tailEnd type="none" w="med" len="med"/>
                    </a:lnR>
                    <a:lnT w="11697" cap="flat" cmpd="sng" algn="ctr">
                      <a:solidFill>
                        <a:srgbClr val="000000"/>
                      </a:solidFill>
                      <a:prstDash val="solid"/>
                      <a:round/>
                      <a:headEnd type="none" w="med" len="med"/>
                      <a:tailEnd type="none" w="med" len="med"/>
                    </a:lnT>
                    <a:lnB w="1169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012930096"/>
                  </a:ext>
                </a:extLst>
              </a:tr>
            </a:tbl>
          </a:graphicData>
        </a:graphic>
      </p:graphicFrame>
    </p:spTree>
    <p:extLst>
      <p:ext uri="{BB962C8B-B14F-4D97-AF65-F5344CB8AC3E}">
        <p14:creationId xmlns:p14="http://schemas.microsoft.com/office/powerpoint/2010/main" val="2472588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152335D-D39B-829B-4D21-3BE789478B09}"/>
              </a:ext>
            </a:extLst>
          </p:cNvPr>
          <p:cNvSpPr txBox="1"/>
          <p:nvPr/>
        </p:nvSpPr>
        <p:spPr>
          <a:xfrm>
            <a:off x="320467" y="117504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aphicFrame>
        <p:nvGraphicFramePr>
          <p:cNvPr id="4" name="Table 3">
            <a:extLst>
              <a:ext uri="{FF2B5EF4-FFF2-40B4-BE49-F238E27FC236}">
                <a16:creationId xmlns:a16="http://schemas.microsoft.com/office/drawing/2014/main" xmlns="" id="{241C44C0-1D31-8940-7E28-9006CBCECB9B}"/>
              </a:ext>
            </a:extLst>
          </p:cNvPr>
          <p:cNvGraphicFramePr>
            <a:graphicFrameLocks noGrp="1"/>
          </p:cNvGraphicFramePr>
          <p:nvPr>
            <p:extLst>
              <p:ext uri="{D42A27DB-BD31-4B8C-83A1-F6EECF244321}">
                <p14:modId xmlns:p14="http://schemas.microsoft.com/office/powerpoint/2010/main" val="2288649104"/>
              </p:ext>
            </p:extLst>
          </p:nvPr>
        </p:nvGraphicFramePr>
        <p:xfrm>
          <a:off x="17026" y="638615"/>
          <a:ext cx="9109947" cy="5721883"/>
        </p:xfrm>
        <a:graphic>
          <a:graphicData uri="http://schemas.openxmlformats.org/drawingml/2006/table">
            <a:tbl>
              <a:tblPr bandRow="1">
                <a:tableStyleId>{5C22544A-7EE6-4342-B048-85BDC9FD1C3A}</a:tableStyleId>
              </a:tblPr>
              <a:tblGrid>
                <a:gridCol w="1139762">
                  <a:extLst>
                    <a:ext uri="{9D8B030D-6E8A-4147-A177-3AD203B41FA5}">
                      <a16:colId xmlns:a16="http://schemas.microsoft.com/office/drawing/2014/main" xmlns="" val="2632063732"/>
                    </a:ext>
                  </a:extLst>
                </a:gridCol>
                <a:gridCol w="1842030">
                  <a:extLst>
                    <a:ext uri="{9D8B030D-6E8A-4147-A177-3AD203B41FA5}">
                      <a16:colId xmlns:a16="http://schemas.microsoft.com/office/drawing/2014/main" xmlns="" val="3700362035"/>
                    </a:ext>
                  </a:extLst>
                </a:gridCol>
                <a:gridCol w="1157811">
                  <a:extLst>
                    <a:ext uri="{9D8B030D-6E8A-4147-A177-3AD203B41FA5}">
                      <a16:colId xmlns:a16="http://schemas.microsoft.com/office/drawing/2014/main" xmlns="" val="534316033"/>
                    </a:ext>
                  </a:extLst>
                </a:gridCol>
                <a:gridCol w="774906">
                  <a:extLst>
                    <a:ext uri="{9D8B030D-6E8A-4147-A177-3AD203B41FA5}">
                      <a16:colId xmlns:a16="http://schemas.microsoft.com/office/drawing/2014/main" xmlns="" val="2699846507"/>
                    </a:ext>
                  </a:extLst>
                </a:gridCol>
                <a:gridCol w="1376629">
                  <a:extLst>
                    <a:ext uri="{9D8B030D-6E8A-4147-A177-3AD203B41FA5}">
                      <a16:colId xmlns:a16="http://schemas.microsoft.com/office/drawing/2014/main" xmlns="" val="2233799403"/>
                    </a:ext>
                  </a:extLst>
                </a:gridCol>
                <a:gridCol w="2818809">
                  <a:extLst>
                    <a:ext uri="{9D8B030D-6E8A-4147-A177-3AD203B41FA5}">
                      <a16:colId xmlns:a16="http://schemas.microsoft.com/office/drawing/2014/main" xmlns="" val="923594551"/>
                    </a:ext>
                  </a:extLst>
                </a:gridCol>
              </a:tblGrid>
              <a:tr h="1675827">
                <a:tc>
                  <a:txBody>
                    <a:bodyPr/>
                    <a:lstStyle/>
                    <a:p>
                      <a:pPr algn="l" rtl="0" fontAlgn="base">
                        <a:lnSpc>
                          <a:spcPts val="2948"/>
                        </a:lnSpc>
                        <a:buNone/>
                      </a:pPr>
                      <a:r>
                        <a:rPr lang="en-US" sz="1800" b="0" i="0">
                          <a:solidFill>
                            <a:srgbClr val="000000"/>
                          </a:solidFill>
                          <a:effectLst/>
                          <a:latin typeface="Arial" panose="020B0604020202020204" pitchFamily="34" charset="0"/>
                        </a:rPr>
                        <a:t>[6]</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Auditing Fairness by Betting</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B. Chugg</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2023</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Statistical auditing, fairness in ML</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Theoretical; not tested on large-scale real betting platforms.</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386726357"/>
                  </a:ext>
                </a:extLst>
              </a:tr>
              <a:tr h="1856299">
                <a:tc>
                  <a:txBody>
                    <a:bodyPr/>
                    <a:lstStyle/>
                    <a:p>
                      <a:pPr algn="l" rtl="0" fontAlgn="base">
                        <a:lnSpc>
                          <a:spcPts val="2948"/>
                        </a:lnSpc>
                        <a:buNone/>
                      </a:pPr>
                      <a:r>
                        <a:rPr lang="en-US" sz="1800" b="0" i="0">
                          <a:solidFill>
                            <a:srgbClr val="000000"/>
                          </a:solidFill>
                          <a:effectLst/>
                          <a:latin typeface="Arial" panose="020B0604020202020204" pitchFamily="34" charset="0"/>
                        </a:rPr>
                        <a:t>[7]</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How structural changes in online gambling are shaping the ...</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N. Hing et al.</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2022</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Policy review, structural gambling analysis</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Focuses on market/regulatory aspects; lacks technical prevention measures.</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492895688"/>
                  </a:ext>
                </a:extLst>
              </a:tr>
              <a:tr h="1856299">
                <a:tc>
                  <a:txBody>
                    <a:bodyPr/>
                    <a:lstStyle/>
                    <a:p>
                      <a:pPr algn="l" rtl="0" fontAlgn="base">
                        <a:lnSpc>
                          <a:spcPts val="2948"/>
                        </a:lnSpc>
                        <a:buNone/>
                      </a:pPr>
                      <a:r>
                        <a:rPr lang="en-US" sz="1800" b="0" i="0">
                          <a:solidFill>
                            <a:srgbClr val="000000"/>
                          </a:solidFill>
                          <a:effectLst/>
                          <a:latin typeface="Arial" panose="020B0604020202020204" pitchFamily="34" charset="0"/>
                        </a:rPr>
                        <a:t>[8]</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Favorite-longshot bias</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Wikipedia</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2024 (accessed 2025)</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General reference, statistical gambling bias</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tc>
                  <a:txBody>
                    <a:bodyPr/>
                    <a:lstStyle/>
                    <a:p>
                      <a:pPr algn="l" rtl="0" fontAlgn="base">
                        <a:lnSpc>
                          <a:spcPts val="2948"/>
                        </a:lnSpc>
                        <a:buNone/>
                      </a:pPr>
                      <a:r>
                        <a:rPr lang="en-US" sz="1800" b="0" i="0">
                          <a:solidFill>
                            <a:srgbClr val="000000"/>
                          </a:solidFill>
                          <a:effectLst/>
                          <a:latin typeface="Arial" panose="020B0604020202020204" pitchFamily="34" charset="0"/>
                        </a:rPr>
                        <a:t>Informational only; no new empirical research.</a:t>
                      </a:r>
                      <a:endParaRPr lang="en-US" b="0" i="0">
                        <a:solidFill>
                          <a:srgbClr val="000000"/>
                        </a:solidFill>
                        <a:effectLst/>
                      </a:endParaRPr>
                    </a:p>
                  </a:txBody>
                  <a:tcPr marL="99593" marR="99593" marT="90764" marB="90764">
                    <a:lnL w="12964" cap="flat" cmpd="sng" algn="ctr">
                      <a:solidFill>
                        <a:srgbClr val="000000"/>
                      </a:solidFill>
                      <a:prstDash val="solid"/>
                      <a:round/>
                      <a:headEnd type="none" w="med" len="med"/>
                      <a:tailEnd type="none" w="med" len="med"/>
                    </a:lnL>
                    <a:lnR w="12964" cap="flat" cmpd="sng" algn="ctr">
                      <a:solidFill>
                        <a:srgbClr val="000000"/>
                      </a:solidFill>
                      <a:prstDash val="solid"/>
                      <a:round/>
                      <a:headEnd type="none" w="med" len="med"/>
                      <a:tailEnd type="none" w="med" len="med"/>
                    </a:lnR>
                    <a:lnT w="12964" cap="flat" cmpd="sng" algn="ctr">
                      <a:solidFill>
                        <a:srgbClr val="000000"/>
                      </a:solidFill>
                      <a:prstDash val="solid"/>
                      <a:round/>
                      <a:headEnd type="none" w="med" len="med"/>
                      <a:tailEnd type="none" w="med" len="med"/>
                    </a:lnT>
                    <a:lnB w="129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657001607"/>
                  </a:ext>
                </a:extLst>
              </a:tr>
            </a:tbl>
          </a:graphicData>
        </a:graphic>
      </p:graphicFrame>
    </p:spTree>
    <p:extLst>
      <p:ext uri="{BB962C8B-B14F-4D97-AF65-F5344CB8AC3E}">
        <p14:creationId xmlns:p14="http://schemas.microsoft.com/office/powerpoint/2010/main" val="2479120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DFDF527-5ABA-C3A6-0F9B-8171EA2600C1}"/>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xmlns="" id="{3C59FAE1-044E-2915-FC6B-37036A152D87}"/>
              </a:ext>
            </a:extLst>
          </p:cNvPr>
          <p:cNvSpPr txBox="1"/>
          <p:nvPr/>
        </p:nvSpPr>
        <p:spPr>
          <a:xfrm>
            <a:off x="628560" y="6356520"/>
            <a:ext cx="2057040" cy="364680"/>
          </a:xfrm>
          <a:prstGeom prst="rect">
            <a:avLst/>
          </a:prstGeom>
          <a:noFill/>
          <a:ln>
            <a:noFill/>
          </a:ln>
        </p:spPr>
        <p:txBody>
          <a:bodyPr anchor="ctr">
            <a:noAutofit/>
          </a:bodyPr>
          <a:lstStyle/>
          <a:p>
            <a:pPr>
              <a:lnSpc>
                <a:spcPct val="100000"/>
              </a:lnSpc>
            </a:pPr>
            <a:fld id="{054DD8FE-CF07-45CF-B923-833FF4B076CF}" type="datetime1">
              <a:rPr lang="en-IN" sz="900" b="0" strike="noStrike" spc="-1">
                <a:solidFill>
                  <a:srgbClr val="8B8B8B"/>
                </a:solidFill>
                <a:latin typeface="Calibri"/>
              </a:rPr>
              <a:t>15-11-2025</a:t>
            </a:fld>
            <a:endParaRPr lang="en-IN" sz="900" b="0" strike="noStrike" spc="-1">
              <a:latin typeface="Times New Roman"/>
            </a:endParaRPr>
          </a:p>
        </p:txBody>
      </p:sp>
      <p:sp>
        <p:nvSpPr>
          <p:cNvPr id="54" name="TextShape 2">
            <a:extLst>
              <a:ext uri="{FF2B5EF4-FFF2-40B4-BE49-F238E27FC236}">
                <a16:creationId xmlns:a16="http://schemas.microsoft.com/office/drawing/2014/main" xmlns="" id="{962E86B3-2238-FF67-6AEA-83DB05335D3C}"/>
              </a:ext>
            </a:extLst>
          </p:cNvPr>
          <p:cNvSpPr txBox="1"/>
          <p:nvPr/>
        </p:nvSpPr>
        <p:spPr>
          <a:xfrm>
            <a:off x="6458040" y="6356520"/>
            <a:ext cx="2057040" cy="364680"/>
          </a:xfrm>
          <a:prstGeom prst="rect">
            <a:avLst/>
          </a:prstGeom>
          <a:noFill/>
          <a:ln>
            <a:noFill/>
          </a:ln>
        </p:spPr>
        <p:txBody>
          <a:bodyPr anchor="ctr">
            <a:noAutofit/>
          </a:bodyPr>
          <a:lstStyle/>
          <a:p>
            <a:pPr algn="r">
              <a:lnSpc>
                <a:spcPct val="100000"/>
              </a:lnSpc>
            </a:pPr>
            <a:fld id="{87702EE6-03C5-4479-9169-3E95CD032EDE}" type="slidenum">
              <a:rPr lang="en-IN" sz="900" b="0" strike="noStrike" spc="-1">
                <a:solidFill>
                  <a:srgbClr val="8B8B8B"/>
                </a:solidFill>
                <a:latin typeface="Calibri"/>
              </a:rPr>
              <a:t>8</a:t>
            </a:fld>
            <a:endParaRPr lang="en-IN" sz="900" b="0" strike="noStrike" spc="-1">
              <a:latin typeface="Times New Roman"/>
            </a:endParaRPr>
          </a:p>
        </p:txBody>
      </p:sp>
      <p:sp>
        <p:nvSpPr>
          <p:cNvPr id="3" name="TextBox 2">
            <a:extLst>
              <a:ext uri="{FF2B5EF4-FFF2-40B4-BE49-F238E27FC236}">
                <a16:creationId xmlns:a16="http://schemas.microsoft.com/office/drawing/2014/main" xmlns="" id="{CC50F31C-331E-87EE-BCBF-B92477696DF5}"/>
              </a:ext>
            </a:extLst>
          </p:cNvPr>
          <p:cNvSpPr txBox="1"/>
          <p:nvPr/>
        </p:nvSpPr>
        <p:spPr>
          <a:xfrm>
            <a:off x="2910948" y="891360"/>
            <a:ext cx="3322528"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31800" lvl="2"/>
            <a:r>
              <a:rPr lang="en-US" sz="2400" b="1" dirty="0">
                <a:latin typeface="Times New Roman"/>
                <a:ea typeface="Calibri"/>
                <a:cs typeface="Calibri"/>
              </a:rPr>
              <a:t>Proposed System </a:t>
            </a:r>
            <a:endParaRPr lang="en-IN" sz="2400" dirty="0">
              <a:latin typeface="Times New Roman"/>
              <a:ea typeface="Calibri"/>
              <a:cs typeface="Calibri"/>
            </a:endParaRPr>
          </a:p>
          <a:p>
            <a:pPr algn="ctr"/>
            <a:endParaRPr lang="en-US" sz="2800" b="1" dirty="0"/>
          </a:p>
        </p:txBody>
      </p:sp>
      <p:sp>
        <p:nvSpPr>
          <p:cNvPr id="5" name="TextBox 4">
            <a:extLst>
              <a:ext uri="{FF2B5EF4-FFF2-40B4-BE49-F238E27FC236}">
                <a16:creationId xmlns:a16="http://schemas.microsoft.com/office/drawing/2014/main" xmlns="" id="{90846316-EDEA-ED9D-70A5-9AB338E0057B}"/>
              </a:ext>
            </a:extLst>
          </p:cNvPr>
          <p:cNvSpPr txBox="1"/>
          <p:nvPr/>
        </p:nvSpPr>
        <p:spPr>
          <a:xfrm>
            <a:off x="92380" y="1337154"/>
            <a:ext cx="8959240" cy="59980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ea typeface="+mn-lt"/>
                <a:cs typeface="+mn-lt"/>
              </a:rPr>
              <a:t>Our solution is a unified framework that uses machine learning to bring transparency to the online betting market. It establishes a "fair odds" benchmark to historically analyze market manipulation and assess platform fairness.</a:t>
            </a:r>
          </a:p>
          <a:p>
            <a:endParaRPr lang="en-US" dirty="0">
              <a:latin typeface="Times New Roman"/>
              <a:ea typeface="+mn-lt"/>
              <a:cs typeface="+mn-lt"/>
            </a:endParaRPr>
          </a:p>
          <a:p>
            <a:r>
              <a:rPr lang="en-US" b="1" dirty="0">
                <a:latin typeface="Times New Roman"/>
                <a:ea typeface="+mn-lt"/>
                <a:cs typeface="+mn-lt"/>
              </a:rPr>
              <a:t>1. Data &amp; Preprocessing Engine :</a:t>
            </a:r>
            <a:endParaRPr lang="en-US" b="1" dirty="0">
              <a:latin typeface="Times New Roman"/>
              <a:cs typeface="Arial"/>
            </a:endParaRPr>
          </a:p>
          <a:p>
            <a:pPr marL="285750" indent="-285750">
              <a:buFont typeface="Arial"/>
              <a:buChar char="•"/>
            </a:pPr>
            <a:r>
              <a:rPr lang="en-US" i="1" u="sng" dirty="0">
                <a:latin typeface="Times New Roman"/>
                <a:ea typeface="+mn-lt"/>
                <a:cs typeface="+mn-lt"/>
              </a:rPr>
              <a:t>Function</a:t>
            </a:r>
            <a:r>
              <a:rPr lang="en-US" dirty="0">
                <a:latin typeface="Times New Roman"/>
                <a:ea typeface="+mn-lt"/>
                <a:cs typeface="+mn-lt"/>
              </a:rPr>
              <a:t>: Processes and cleans the existing dataset of over 14,700 races.</a:t>
            </a:r>
            <a:endParaRPr lang="en-US" dirty="0">
              <a:latin typeface="Times New Roman"/>
            </a:endParaRPr>
          </a:p>
          <a:p>
            <a:pPr marL="285750" indent="-285750">
              <a:buFont typeface="Arial"/>
              <a:buChar char="•"/>
            </a:pPr>
            <a:r>
              <a:rPr lang="en-US" i="1" u="sng" dirty="0">
                <a:latin typeface="Times New Roman"/>
                <a:ea typeface="+mn-lt"/>
                <a:cs typeface="+mn-lt"/>
              </a:rPr>
              <a:t>Key Technology:</a:t>
            </a:r>
            <a:r>
              <a:rPr lang="en-US" dirty="0">
                <a:latin typeface="Times New Roman"/>
                <a:ea typeface="+mn-lt"/>
                <a:cs typeface="+mn-lt"/>
              </a:rPr>
              <a:t> Utilizes the SMOTE technique to correct data imbalance, ensuring unbiased analysis.</a:t>
            </a:r>
            <a:endParaRPr lang="en-US" dirty="0">
              <a:latin typeface="Times New Roman"/>
              <a:cs typeface="Arial"/>
            </a:endParaRPr>
          </a:p>
          <a:p>
            <a:pPr marL="285750" indent="-285750">
              <a:buFont typeface="Arial"/>
              <a:buChar char="•"/>
            </a:pPr>
            <a:endParaRPr lang="en-US" dirty="0">
              <a:latin typeface="Times New Roman"/>
              <a:ea typeface="+mn-lt"/>
              <a:cs typeface="+mn-lt"/>
            </a:endParaRPr>
          </a:p>
          <a:p>
            <a:r>
              <a:rPr lang="en-US" b="1" dirty="0">
                <a:latin typeface="Times New Roman"/>
                <a:ea typeface="+mn-lt"/>
                <a:cs typeface="+mn-lt"/>
              </a:rPr>
              <a:t>2. Predictive Modeling Core :</a:t>
            </a:r>
            <a:endParaRPr lang="en-US" b="1" dirty="0">
              <a:latin typeface="Times New Roman"/>
            </a:endParaRPr>
          </a:p>
          <a:p>
            <a:pPr marL="285750" indent="-285750">
              <a:buFont typeface="Arial"/>
              <a:buChar char="•"/>
            </a:pPr>
            <a:r>
              <a:rPr lang="en-US" i="1" u="sng" dirty="0">
                <a:latin typeface="Times New Roman"/>
                <a:ea typeface="+mn-lt"/>
                <a:cs typeface="+mn-lt"/>
              </a:rPr>
              <a:t>Function</a:t>
            </a:r>
            <a:r>
              <a:rPr lang="en-US" dirty="0">
                <a:latin typeface="Times New Roman"/>
                <a:ea typeface="+mn-lt"/>
                <a:cs typeface="+mn-lt"/>
              </a:rPr>
              <a:t>: Calculates the true, unbiased probability of winning for each horse from the historical data.</a:t>
            </a:r>
            <a:endParaRPr lang="en-US" dirty="0">
              <a:latin typeface="Times New Roman"/>
            </a:endParaRPr>
          </a:p>
          <a:p>
            <a:pPr marL="285750" indent="-285750">
              <a:buFont typeface="Arial"/>
              <a:buChar char="•"/>
            </a:pPr>
            <a:r>
              <a:rPr lang="en-US" i="1" u="sng" dirty="0">
                <a:latin typeface="Times New Roman"/>
                <a:ea typeface="+mn-lt"/>
                <a:cs typeface="+mn-lt"/>
              </a:rPr>
              <a:t>Key Technology: </a:t>
            </a:r>
            <a:r>
              <a:rPr lang="en-US" dirty="0">
                <a:latin typeface="Times New Roman"/>
                <a:ea typeface="+mn-lt"/>
                <a:cs typeface="+mn-lt"/>
              </a:rPr>
              <a:t>Powered by a Random Forest algorithm with  accuracy.</a:t>
            </a:r>
            <a:endParaRPr lang="en-US" dirty="0">
              <a:latin typeface="Times New Roman"/>
            </a:endParaRPr>
          </a:p>
          <a:p>
            <a:pPr marL="285750" indent="-285750">
              <a:buFont typeface="Arial"/>
              <a:buChar char="•"/>
            </a:pPr>
            <a:r>
              <a:rPr lang="en-US" dirty="0">
                <a:latin typeface="Times New Roman"/>
                <a:ea typeface="+mn-lt"/>
                <a:cs typeface="+mn-lt"/>
              </a:rPr>
              <a:t>Output: Generates a data-driven "Fair Odds" baseline for every race in the dataset.</a:t>
            </a:r>
            <a:endParaRPr lang="en-US" dirty="0">
              <a:latin typeface="Times New Roman"/>
              <a:cs typeface="Arial"/>
            </a:endParaRPr>
          </a:p>
          <a:p>
            <a:pPr marL="285750" indent="-285750">
              <a:buFont typeface="Arial"/>
              <a:buChar char="•"/>
            </a:pPr>
            <a:endParaRPr lang="en-US" dirty="0">
              <a:latin typeface="Times New Roman"/>
              <a:ea typeface="+mn-lt"/>
              <a:cs typeface="+mn-lt"/>
            </a:endParaRPr>
          </a:p>
          <a:p>
            <a:r>
              <a:rPr lang="en-US" b="1" dirty="0">
                <a:latin typeface="Times New Roman"/>
                <a:ea typeface="+mn-lt"/>
                <a:cs typeface="+mn-lt"/>
              </a:rPr>
              <a:t>3. Historical Market Odds Engine :</a:t>
            </a:r>
            <a:endParaRPr lang="en-US" b="1" dirty="0">
              <a:latin typeface="Times New Roman"/>
            </a:endParaRPr>
          </a:p>
          <a:p>
            <a:pPr marL="285750" indent="-285750">
              <a:buFont typeface="Arial"/>
              <a:buChar char="•"/>
            </a:pPr>
            <a:r>
              <a:rPr lang="en-US" i="1" u="sng" dirty="0">
                <a:latin typeface="Times New Roman"/>
                <a:ea typeface="+mn-lt"/>
                <a:cs typeface="+mn-lt"/>
              </a:rPr>
              <a:t>Function</a:t>
            </a:r>
            <a:r>
              <a:rPr lang="en-US" dirty="0">
                <a:latin typeface="Times New Roman"/>
                <a:ea typeface="+mn-lt"/>
                <a:cs typeface="+mn-lt"/>
              </a:rPr>
              <a:t>: Compiles and analyzes the historical betting odds that were offered for the races in our dataset.</a:t>
            </a:r>
            <a:endParaRPr lang="en-US" dirty="0">
              <a:latin typeface="Times New Roman"/>
            </a:endParaRPr>
          </a:p>
          <a:p>
            <a:pPr marL="285750" indent="-285750">
              <a:buFont typeface="Arial"/>
              <a:buChar char="•"/>
            </a:pPr>
            <a:r>
              <a:rPr lang="en-US" i="1" u="sng" dirty="0">
                <a:latin typeface="Times New Roman"/>
                <a:ea typeface="+mn-lt"/>
                <a:cs typeface="+mn-lt"/>
              </a:rPr>
              <a:t>Output</a:t>
            </a:r>
            <a:r>
              <a:rPr lang="en-US" dirty="0">
                <a:latin typeface="Times New Roman"/>
                <a:ea typeface="+mn-lt"/>
                <a:cs typeface="+mn-lt"/>
              </a:rPr>
              <a:t>: Creates a comparative database of the "Market Odds" that were presented to consumers.</a:t>
            </a:r>
            <a:endParaRPr lang="en-US" dirty="0">
              <a:latin typeface="Times New Roman"/>
            </a:endParaRPr>
          </a:p>
          <a:p>
            <a:pPr>
              <a:lnSpc>
                <a:spcPct val="150000"/>
              </a:lnSpc>
            </a:pPr>
            <a:endParaRPr lang="en-US" dirty="0">
              <a:latin typeface="Times New Roman"/>
              <a:cs typeface="Arial"/>
            </a:endParaRPr>
          </a:p>
        </p:txBody>
      </p:sp>
    </p:spTree>
    <p:extLst>
      <p:ext uri="{BB962C8B-B14F-4D97-AF65-F5344CB8AC3E}">
        <p14:creationId xmlns:p14="http://schemas.microsoft.com/office/powerpoint/2010/main" val="2769717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2790DE3-3342-9548-1D95-A41D8F06BEBD}"/>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xmlns="" id="{870AA494-5269-268D-FD9E-DB5118E0575F}"/>
              </a:ext>
            </a:extLst>
          </p:cNvPr>
          <p:cNvSpPr txBox="1"/>
          <p:nvPr/>
        </p:nvSpPr>
        <p:spPr>
          <a:xfrm>
            <a:off x="628560" y="6356520"/>
            <a:ext cx="2057040" cy="364680"/>
          </a:xfrm>
          <a:prstGeom prst="rect">
            <a:avLst/>
          </a:prstGeom>
          <a:noFill/>
          <a:ln>
            <a:noFill/>
          </a:ln>
        </p:spPr>
        <p:txBody>
          <a:bodyPr anchor="ctr">
            <a:noAutofit/>
          </a:bodyPr>
          <a:lstStyle/>
          <a:p>
            <a:pPr>
              <a:lnSpc>
                <a:spcPct val="100000"/>
              </a:lnSpc>
            </a:pPr>
            <a:fld id="{054DD8FE-CF07-45CF-B923-833FF4B076CF}" type="datetime1">
              <a:rPr lang="en-IN" sz="900" b="0" strike="noStrike" spc="-1">
                <a:solidFill>
                  <a:srgbClr val="8B8B8B"/>
                </a:solidFill>
                <a:latin typeface="Calibri"/>
              </a:rPr>
              <a:t>15-11-2025</a:t>
            </a:fld>
            <a:endParaRPr lang="en-IN" sz="900" b="0" strike="noStrike" spc="-1">
              <a:latin typeface="Times New Roman"/>
            </a:endParaRPr>
          </a:p>
        </p:txBody>
      </p:sp>
      <p:sp>
        <p:nvSpPr>
          <p:cNvPr id="54" name="TextShape 2">
            <a:extLst>
              <a:ext uri="{FF2B5EF4-FFF2-40B4-BE49-F238E27FC236}">
                <a16:creationId xmlns:a16="http://schemas.microsoft.com/office/drawing/2014/main" xmlns="" id="{0D62E9CE-DD52-C295-6E07-FD908C0B8805}"/>
              </a:ext>
            </a:extLst>
          </p:cNvPr>
          <p:cNvSpPr txBox="1"/>
          <p:nvPr/>
        </p:nvSpPr>
        <p:spPr>
          <a:xfrm>
            <a:off x="6458040" y="6356520"/>
            <a:ext cx="2057040" cy="364680"/>
          </a:xfrm>
          <a:prstGeom prst="rect">
            <a:avLst/>
          </a:prstGeom>
          <a:noFill/>
          <a:ln>
            <a:noFill/>
          </a:ln>
        </p:spPr>
        <p:txBody>
          <a:bodyPr anchor="ctr">
            <a:noAutofit/>
          </a:bodyPr>
          <a:lstStyle/>
          <a:p>
            <a:pPr algn="r">
              <a:lnSpc>
                <a:spcPct val="100000"/>
              </a:lnSpc>
            </a:pPr>
            <a:fld id="{87702EE6-03C5-4479-9169-3E95CD032EDE}" type="slidenum">
              <a:rPr lang="en-IN" sz="900" b="0" strike="noStrike" spc="-1">
                <a:solidFill>
                  <a:srgbClr val="8B8B8B"/>
                </a:solidFill>
                <a:latin typeface="Calibri"/>
              </a:rPr>
              <a:t>9</a:t>
            </a:fld>
            <a:endParaRPr lang="en-IN" sz="900" b="0" strike="noStrike" spc="-1">
              <a:latin typeface="Times New Roman"/>
            </a:endParaRPr>
          </a:p>
        </p:txBody>
      </p:sp>
      <p:sp>
        <p:nvSpPr>
          <p:cNvPr id="3" name="TextBox 2">
            <a:extLst>
              <a:ext uri="{FF2B5EF4-FFF2-40B4-BE49-F238E27FC236}">
                <a16:creationId xmlns:a16="http://schemas.microsoft.com/office/drawing/2014/main" xmlns="" id="{C5C59BC1-9CAB-AC47-F50D-F4E844E3398D}"/>
              </a:ext>
            </a:extLst>
          </p:cNvPr>
          <p:cNvSpPr txBox="1"/>
          <p:nvPr/>
        </p:nvSpPr>
        <p:spPr>
          <a:xfrm>
            <a:off x="2910948" y="726956"/>
            <a:ext cx="3322528"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31800" lvl="2"/>
            <a:r>
              <a:rPr lang="en-US" sz="2400" b="1" dirty="0">
                <a:latin typeface="Times New Roman"/>
                <a:ea typeface="Calibri"/>
                <a:cs typeface="Calibri"/>
              </a:rPr>
              <a:t>Proposed System </a:t>
            </a:r>
            <a:endParaRPr lang="en-IN" sz="2400" dirty="0">
              <a:latin typeface="Times New Roman"/>
              <a:ea typeface="Calibri"/>
              <a:cs typeface="Calibri"/>
            </a:endParaRPr>
          </a:p>
          <a:p>
            <a:pPr algn="ctr"/>
            <a:endParaRPr lang="en-US" sz="2800" b="1" dirty="0"/>
          </a:p>
        </p:txBody>
      </p:sp>
      <p:sp>
        <p:nvSpPr>
          <p:cNvPr id="5" name="TextBox 4">
            <a:extLst>
              <a:ext uri="{FF2B5EF4-FFF2-40B4-BE49-F238E27FC236}">
                <a16:creationId xmlns:a16="http://schemas.microsoft.com/office/drawing/2014/main" xmlns="" id="{D1B57F65-29B2-DF64-30FD-3CF1F20BE800}"/>
              </a:ext>
            </a:extLst>
          </p:cNvPr>
          <p:cNvSpPr txBox="1"/>
          <p:nvPr/>
        </p:nvSpPr>
        <p:spPr>
          <a:xfrm>
            <a:off x="186325" y="1172750"/>
            <a:ext cx="8959240" cy="23391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Times New Roman"/>
                <a:ea typeface="+mn-lt"/>
                <a:cs typeface="+mn-lt"/>
              </a:rPr>
              <a:t>4. Platform Fairness Dashboard </a:t>
            </a:r>
            <a:endParaRPr lang="en-US" dirty="0">
              <a:latin typeface="Times New Roman"/>
            </a:endParaRPr>
          </a:p>
          <a:p>
            <a:pPr marL="285750" indent="-285750">
              <a:buFont typeface="Arial"/>
              <a:buChar char="•"/>
            </a:pPr>
            <a:r>
              <a:rPr lang="en-US" sz="1600" dirty="0">
                <a:latin typeface="Times New Roman"/>
                <a:ea typeface="+mn-lt"/>
                <a:cs typeface="+mn-lt"/>
              </a:rPr>
              <a:t>Function: A web-based analytical tool that visualizes the historical data.</a:t>
            </a:r>
            <a:endParaRPr lang="en-US" dirty="0">
              <a:latin typeface="Times New Roman"/>
              <a:ea typeface="+mn-lt"/>
              <a:cs typeface="+mn-lt"/>
            </a:endParaRPr>
          </a:p>
          <a:p>
            <a:pPr marL="285750" indent="-285750">
              <a:buFont typeface="Arial"/>
              <a:buChar char="•"/>
            </a:pPr>
            <a:r>
              <a:rPr lang="en-US" sz="1600" dirty="0">
                <a:latin typeface="Times New Roman"/>
                <a:ea typeface="+mn-lt"/>
                <a:cs typeface="+mn-lt"/>
              </a:rPr>
              <a:t>Key Features:</a:t>
            </a:r>
            <a:endParaRPr lang="en-US" dirty="0">
              <a:latin typeface="Times New Roman"/>
              <a:ea typeface="+mn-lt"/>
              <a:cs typeface="+mn-lt"/>
            </a:endParaRPr>
          </a:p>
          <a:p>
            <a:pPr marL="742950" lvl="1" indent="-285750">
              <a:buFont typeface="Arial"/>
              <a:buChar char="•"/>
            </a:pPr>
            <a:r>
              <a:rPr lang="en-US" sz="1600" dirty="0">
                <a:latin typeface="Times New Roman"/>
                <a:ea typeface="+mn-lt"/>
                <a:cs typeface="+mn-lt"/>
              </a:rPr>
              <a:t>Directly compares our calculated "Fair Odds" vs. historical "Market Odds".</a:t>
            </a:r>
            <a:endParaRPr lang="en-US" sz="1600" dirty="0">
              <a:latin typeface="Times New Roman"/>
              <a:cs typeface="Arial"/>
            </a:endParaRPr>
          </a:p>
          <a:p>
            <a:pPr marL="742950" lvl="1" indent="-285750">
              <a:buFont typeface="Arial"/>
              <a:buChar char="•"/>
            </a:pPr>
            <a:r>
              <a:rPr lang="en-US" sz="1600" dirty="0">
                <a:latin typeface="Times New Roman"/>
                <a:ea typeface="+mn-lt"/>
                <a:cs typeface="+mn-lt"/>
              </a:rPr>
              <a:t>Generates a historical "Fairness Score" for different betting sites.</a:t>
            </a:r>
            <a:endParaRPr lang="en-US" sz="1600" dirty="0">
              <a:latin typeface="Times New Roman"/>
              <a:cs typeface="Arial"/>
            </a:endParaRPr>
          </a:p>
          <a:p>
            <a:pPr marL="742950" lvl="1" indent="-285750">
              <a:buFont typeface="Arial"/>
              <a:buChar char="•"/>
            </a:pPr>
            <a:endParaRPr lang="en-US" sz="1600" dirty="0">
              <a:latin typeface="Times New Roman"/>
              <a:cs typeface="Arial"/>
            </a:endParaRPr>
          </a:p>
          <a:p>
            <a:pPr lvl="1"/>
            <a:endParaRPr lang="en-US" sz="1600" dirty="0">
              <a:latin typeface="Times New Roman"/>
              <a:cs typeface="Arial"/>
            </a:endParaRPr>
          </a:p>
          <a:p>
            <a:pPr marL="742950" lvl="1" indent="-285750">
              <a:buFont typeface="Arial"/>
              <a:buChar char="•"/>
            </a:pPr>
            <a:endParaRPr lang="en-US" dirty="0">
              <a:latin typeface="Times New Roman"/>
              <a:cs typeface="Arial"/>
            </a:endParaRPr>
          </a:p>
          <a:p>
            <a:endParaRPr lang="en-US" sz="1600" dirty="0">
              <a:latin typeface="Times New Roman"/>
              <a:cs typeface="Arial"/>
            </a:endParaRPr>
          </a:p>
        </p:txBody>
      </p:sp>
      <p:pic>
        <p:nvPicPr>
          <p:cNvPr id="2" name="Picture 1" descr="A diagram of a model&#10;&#10;AI-generated content may be incorrect.">
            <a:extLst>
              <a:ext uri="{FF2B5EF4-FFF2-40B4-BE49-F238E27FC236}">
                <a16:creationId xmlns:a16="http://schemas.microsoft.com/office/drawing/2014/main" xmlns="" id="{AE90467C-27C2-4950-7A75-32FA81006606}"/>
              </a:ext>
            </a:extLst>
          </p:cNvPr>
          <p:cNvPicPr>
            <a:picLocks noChangeAspect="1"/>
          </p:cNvPicPr>
          <p:nvPr/>
        </p:nvPicPr>
        <p:blipFill>
          <a:blip r:embed="rId2"/>
          <a:stretch>
            <a:fillRect/>
          </a:stretch>
        </p:blipFill>
        <p:spPr>
          <a:xfrm>
            <a:off x="3914" y="2681614"/>
            <a:ext cx="9144000" cy="4180040"/>
          </a:xfrm>
          <a:prstGeom prst="rect">
            <a:avLst/>
          </a:prstGeom>
        </p:spPr>
      </p:pic>
    </p:spTree>
    <p:extLst>
      <p:ext uri="{BB962C8B-B14F-4D97-AF65-F5344CB8AC3E}">
        <p14:creationId xmlns:p14="http://schemas.microsoft.com/office/powerpoint/2010/main" val="2323888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B840DDC-AD48-B997-3D28-035924405150}"/>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xmlns="" id="{EBECBAC6-DBD0-D722-9832-3B338DE592A3}"/>
              </a:ext>
            </a:extLst>
          </p:cNvPr>
          <p:cNvSpPr txBox="1"/>
          <p:nvPr/>
        </p:nvSpPr>
        <p:spPr>
          <a:xfrm>
            <a:off x="628560" y="6356520"/>
            <a:ext cx="2057040" cy="364680"/>
          </a:xfrm>
          <a:prstGeom prst="rect">
            <a:avLst/>
          </a:prstGeom>
          <a:noFill/>
          <a:ln>
            <a:noFill/>
          </a:ln>
        </p:spPr>
        <p:txBody>
          <a:bodyPr anchor="ctr">
            <a:noAutofit/>
          </a:bodyPr>
          <a:lstStyle/>
          <a:p>
            <a:pPr>
              <a:lnSpc>
                <a:spcPct val="100000"/>
              </a:lnSpc>
            </a:pPr>
            <a:fld id="{054DD8FE-CF07-45CF-B923-833FF4B076CF}" type="datetime1">
              <a:rPr lang="en-IN" sz="900" b="0" strike="noStrike" spc="-1">
                <a:solidFill>
                  <a:srgbClr val="8B8B8B"/>
                </a:solidFill>
                <a:latin typeface="Calibri"/>
              </a:rPr>
              <a:t>15-11-2025</a:t>
            </a:fld>
            <a:endParaRPr lang="en-IN" sz="900" b="0" strike="noStrike" spc="-1">
              <a:latin typeface="Times New Roman"/>
            </a:endParaRPr>
          </a:p>
        </p:txBody>
      </p:sp>
      <p:sp>
        <p:nvSpPr>
          <p:cNvPr id="54" name="TextShape 2">
            <a:extLst>
              <a:ext uri="{FF2B5EF4-FFF2-40B4-BE49-F238E27FC236}">
                <a16:creationId xmlns:a16="http://schemas.microsoft.com/office/drawing/2014/main" xmlns="" id="{4F28B660-E69B-2EB8-6324-671F80848326}"/>
              </a:ext>
            </a:extLst>
          </p:cNvPr>
          <p:cNvSpPr txBox="1"/>
          <p:nvPr/>
        </p:nvSpPr>
        <p:spPr>
          <a:xfrm>
            <a:off x="6458040" y="6356520"/>
            <a:ext cx="2057040" cy="364680"/>
          </a:xfrm>
          <a:prstGeom prst="rect">
            <a:avLst/>
          </a:prstGeom>
          <a:noFill/>
          <a:ln>
            <a:noFill/>
          </a:ln>
        </p:spPr>
        <p:txBody>
          <a:bodyPr anchor="ctr">
            <a:noAutofit/>
          </a:bodyPr>
          <a:lstStyle/>
          <a:p>
            <a:pPr algn="r">
              <a:lnSpc>
                <a:spcPct val="100000"/>
              </a:lnSpc>
            </a:pPr>
            <a:fld id="{87702EE6-03C5-4479-9169-3E95CD032EDE}" type="slidenum">
              <a:rPr lang="en-IN" sz="900" b="0" strike="noStrike" spc="-1">
                <a:solidFill>
                  <a:srgbClr val="8B8B8B"/>
                </a:solidFill>
                <a:latin typeface="Calibri"/>
              </a:rPr>
              <a:t>10</a:t>
            </a:fld>
            <a:endParaRPr lang="en-IN" sz="900" b="0" strike="noStrike" spc="-1">
              <a:latin typeface="Times New Roman"/>
            </a:endParaRPr>
          </a:p>
        </p:txBody>
      </p:sp>
      <p:pic>
        <p:nvPicPr>
          <p:cNvPr id="4" name="Picture 3" descr="A diagram of a process">
            <a:extLst>
              <a:ext uri="{FF2B5EF4-FFF2-40B4-BE49-F238E27FC236}">
                <a16:creationId xmlns:a16="http://schemas.microsoft.com/office/drawing/2014/main" xmlns="" id="{5CC9EA46-0B37-3C4C-E8CD-E38C1BC4CDB9}"/>
              </a:ext>
            </a:extLst>
          </p:cNvPr>
          <p:cNvPicPr>
            <a:picLocks noChangeAspect="1"/>
          </p:cNvPicPr>
          <p:nvPr/>
        </p:nvPicPr>
        <p:blipFill>
          <a:blip r:embed="rId2"/>
          <a:stretch>
            <a:fillRect/>
          </a:stretch>
        </p:blipFill>
        <p:spPr>
          <a:xfrm>
            <a:off x="-3174" y="787058"/>
            <a:ext cx="9144000" cy="6222814"/>
          </a:xfrm>
          <a:prstGeom prst="rect">
            <a:avLst/>
          </a:prstGeom>
        </p:spPr>
      </p:pic>
      <p:sp>
        <p:nvSpPr>
          <p:cNvPr id="5" name="TextBox 4">
            <a:extLst>
              <a:ext uri="{FF2B5EF4-FFF2-40B4-BE49-F238E27FC236}">
                <a16:creationId xmlns:a16="http://schemas.microsoft.com/office/drawing/2014/main" xmlns="" id="{83B07196-4C9B-CF66-A787-6CA9A8CA549C}"/>
              </a:ext>
            </a:extLst>
          </p:cNvPr>
          <p:cNvSpPr txBox="1"/>
          <p:nvPr/>
        </p:nvSpPr>
        <p:spPr>
          <a:xfrm>
            <a:off x="2684442" y="724013"/>
            <a:ext cx="3768768"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31800" lvl="2"/>
            <a:r>
              <a:rPr lang="en-US" sz="2400" b="1">
                <a:latin typeface="Times New Roman"/>
                <a:cs typeface="Times New Roman"/>
              </a:rPr>
              <a:t>Proposed Methodology</a:t>
            </a:r>
            <a:endParaRPr lang="en-IN" sz="2400">
              <a:latin typeface="Times New Roman"/>
              <a:cs typeface="Times New Roman"/>
            </a:endParaRPr>
          </a:p>
          <a:p>
            <a:pPr algn="ctr"/>
            <a:endParaRPr lang="en-US" sz="2800" dirty="0">
              <a:cs typeface="Arial"/>
            </a:endParaRPr>
          </a:p>
          <a:p>
            <a:pPr algn="l"/>
            <a:endParaRPr lang="en-US" dirty="0"/>
          </a:p>
        </p:txBody>
      </p:sp>
    </p:spTree>
    <p:extLst>
      <p:ext uri="{BB962C8B-B14F-4D97-AF65-F5344CB8AC3E}">
        <p14:creationId xmlns:p14="http://schemas.microsoft.com/office/powerpoint/2010/main" val="651820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094092F-DD87-BF4C-2B9F-1359BA887C67}"/>
              </a:ext>
            </a:extLst>
          </p:cNvPr>
          <p:cNvSpPr txBox="1"/>
          <p:nvPr/>
        </p:nvSpPr>
        <p:spPr>
          <a:xfrm>
            <a:off x="2609450" y="924687"/>
            <a:ext cx="391751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Calibri"/>
                <a:ea typeface="Calibri"/>
                <a:cs typeface="Calibri"/>
              </a:rPr>
              <a:t>Outcome of the project</a:t>
            </a:r>
            <a:endParaRPr lang="en-US" sz="2800"/>
          </a:p>
        </p:txBody>
      </p:sp>
      <p:sp>
        <p:nvSpPr>
          <p:cNvPr id="3" name="TextBox 2">
            <a:extLst>
              <a:ext uri="{FF2B5EF4-FFF2-40B4-BE49-F238E27FC236}">
                <a16:creationId xmlns:a16="http://schemas.microsoft.com/office/drawing/2014/main" xmlns="" id="{B9A90791-C7A8-0594-ACF9-9678AC163D12}"/>
              </a:ext>
            </a:extLst>
          </p:cNvPr>
          <p:cNvSpPr txBox="1"/>
          <p:nvPr/>
        </p:nvSpPr>
        <p:spPr>
          <a:xfrm>
            <a:off x="361432" y="1782488"/>
            <a:ext cx="841905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b="1" dirty="0">
                <a:latin typeface="Times New Roman"/>
                <a:ea typeface="+mn-lt"/>
                <a:cs typeface="+mn-lt"/>
              </a:rPr>
              <a:t>A Quantitative Analysis of Market Fairness:</a:t>
            </a:r>
            <a:r>
              <a:rPr lang="en-US" dirty="0">
                <a:latin typeface="Times New Roman"/>
                <a:ea typeface="+mn-lt"/>
                <a:cs typeface="+mn-lt"/>
              </a:rPr>
              <a:t> The system will produce a detailed report quantifying the statistical difference between the "fair odds" and the actual "market odds," effectively measuring the "house edge" and identifying instances of potential manipulation.</a:t>
            </a:r>
          </a:p>
          <a:p>
            <a:pPr marL="342900" indent="-342900">
              <a:buAutoNum type="arabicPeriod"/>
            </a:pPr>
            <a:endParaRPr lang="en-US" dirty="0">
              <a:latin typeface="Times New Roman"/>
              <a:cs typeface="Arial"/>
            </a:endParaRPr>
          </a:p>
          <a:p>
            <a:pPr marL="342900" indent="-342900">
              <a:buAutoNum type="arabicPeriod"/>
            </a:pPr>
            <a:r>
              <a:rPr lang="en-US" b="1" dirty="0">
                <a:latin typeface="Times New Roman"/>
                <a:ea typeface="+mn-lt"/>
                <a:cs typeface="+mn-lt"/>
              </a:rPr>
              <a:t>An Analytical Dashboard Prototype:</a:t>
            </a:r>
            <a:r>
              <a:rPr lang="en-US" dirty="0">
                <a:latin typeface="Times New Roman"/>
                <a:ea typeface="+mn-lt"/>
                <a:cs typeface="+mn-lt"/>
              </a:rPr>
              <a:t> The project will result in a proof-of-concept software dashboard that visually presents the findings, allowing users to explore the historical fairness of  betting platforms.</a:t>
            </a:r>
          </a:p>
          <a:p>
            <a:pPr marL="342900" indent="-342900">
              <a:buAutoNum type="arabicPeriod"/>
            </a:pPr>
            <a:endParaRPr lang="en-US" dirty="0">
              <a:latin typeface="Times New Roman"/>
              <a:cs typeface="Arial"/>
            </a:endParaRPr>
          </a:p>
          <a:p>
            <a:pPr marL="342900" indent="-342900">
              <a:buAutoNum type="arabicPeriod"/>
            </a:pPr>
            <a:r>
              <a:rPr lang="en-US" b="1" dirty="0">
                <a:latin typeface="Times New Roman"/>
                <a:ea typeface="+mn-lt"/>
                <a:cs typeface="+mn-lt"/>
              </a:rPr>
              <a:t>Increased Consumer Awareness:</a:t>
            </a:r>
            <a:r>
              <a:rPr lang="en-US" dirty="0">
                <a:latin typeface="Times New Roman"/>
                <a:ea typeface="+mn-lt"/>
                <a:cs typeface="+mn-lt"/>
              </a:rPr>
              <a:t> The project's findings will serve as a powerful educational tool, raising public awareness about the hidden mathematical disadvantages and potential unfairness within the unregulated online betting industry.</a:t>
            </a:r>
            <a:endParaRPr lang="en-US" dirty="0">
              <a:latin typeface="Times New Roman"/>
            </a:endParaRPr>
          </a:p>
          <a:p>
            <a:pPr marL="342900" indent="-342900">
              <a:buAutoNum type="arabicPeriod"/>
            </a:pPr>
            <a:endParaRPr lang="en-US" dirty="0">
              <a:latin typeface="Times New Roman"/>
              <a:cs typeface="Arial"/>
            </a:endParaRPr>
          </a:p>
          <a:p>
            <a:pPr marL="342900" indent="-342900">
              <a:buAutoNum type="arabicPeriod"/>
            </a:pPr>
            <a:endParaRPr lang="en-US" dirty="0">
              <a:latin typeface="Times New Roman"/>
              <a:cs typeface="Arial"/>
            </a:endParaRPr>
          </a:p>
        </p:txBody>
      </p:sp>
    </p:spTree>
    <p:extLst>
      <p:ext uri="{BB962C8B-B14F-4D97-AF65-F5344CB8AC3E}">
        <p14:creationId xmlns:p14="http://schemas.microsoft.com/office/powerpoint/2010/main" val="2970633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5B3F01C2-F42B-5CC3-E823-BA7385888C90}"/>
              </a:ext>
            </a:extLst>
          </p:cNvPr>
          <p:cNvSpPr txBox="1"/>
          <p:nvPr/>
        </p:nvSpPr>
        <p:spPr>
          <a:xfrm>
            <a:off x="-1590" y="1713969"/>
            <a:ext cx="915496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latin typeface="Times New Roman"/>
                <a:ea typeface="+mn-lt"/>
                <a:cs typeface="+mn-lt"/>
              </a:rPr>
              <a:t>Programming Language:</a:t>
            </a:r>
            <a:endParaRPr lang="en-US" b="1" dirty="0">
              <a:latin typeface="Times New Roman"/>
            </a:endParaRPr>
          </a:p>
          <a:p>
            <a:pPr marL="285750" indent="-285750">
              <a:buFont typeface="Arial"/>
              <a:buChar char="•"/>
            </a:pPr>
            <a:r>
              <a:rPr lang="en-US" i="1" dirty="0">
                <a:latin typeface="Times New Roman"/>
                <a:ea typeface="+mn-lt"/>
                <a:cs typeface="+mn-lt"/>
              </a:rPr>
              <a:t>Python</a:t>
            </a:r>
            <a:r>
              <a:rPr lang="en-US" dirty="0">
                <a:latin typeface="Times New Roman"/>
                <a:ea typeface="+mn-lt"/>
                <a:cs typeface="+mn-lt"/>
              </a:rPr>
              <a:t>: The most common and powerful language for data science, used for implementing the entire workflow.</a:t>
            </a:r>
            <a:endParaRPr lang="en-US" dirty="0">
              <a:latin typeface="Times New Roman"/>
            </a:endParaRPr>
          </a:p>
          <a:p>
            <a:pPr marL="285750" indent="-285750">
              <a:buFont typeface="Arial"/>
              <a:buChar char="•"/>
            </a:pPr>
            <a:endParaRPr lang="en-US" dirty="0">
              <a:latin typeface="Times New Roman"/>
              <a:ea typeface="+mn-lt"/>
              <a:cs typeface="+mn-lt"/>
            </a:endParaRPr>
          </a:p>
          <a:p>
            <a:pPr marL="285750" indent="-285750">
              <a:buFont typeface="Arial"/>
              <a:buChar char="•"/>
            </a:pPr>
            <a:r>
              <a:rPr lang="en-US" b="1" dirty="0">
                <a:latin typeface="Times New Roman"/>
                <a:ea typeface="+mn-lt"/>
                <a:cs typeface="+mn-lt"/>
              </a:rPr>
              <a:t>Core Machine Learning &amp; Data Science Libraries:</a:t>
            </a:r>
            <a:endParaRPr lang="en-US" b="1" dirty="0">
              <a:latin typeface="Times New Roman"/>
            </a:endParaRPr>
          </a:p>
          <a:p>
            <a:pPr marL="742950" lvl="1" indent="-285750">
              <a:buFont typeface="Arial"/>
              <a:buChar char="•"/>
            </a:pPr>
            <a:r>
              <a:rPr lang="en-US" i="1" u="sng" dirty="0">
                <a:latin typeface="Times New Roman"/>
                <a:ea typeface="+mn-lt"/>
                <a:cs typeface="+mn-lt"/>
              </a:rPr>
              <a:t>Scikit-learn</a:t>
            </a:r>
            <a:r>
              <a:rPr lang="en-US" dirty="0">
                <a:latin typeface="Times New Roman"/>
                <a:ea typeface="+mn-lt"/>
                <a:cs typeface="+mn-lt"/>
              </a:rPr>
              <a:t>: A fundamental library for implementing the machine learning models.</a:t>
            </a:r>
            <a:endParaRPr lang="en-US" dirty="0">
              <a:latin typeface="Times New Roman"/>
              <a:cs typeface="Arial"/>
            </a:endParaRPr>
          </a:p>
          <a:p>
            <a:pPr marL="1200150" lvl="2" indent="-285750">
              <a:buFont typeface="Wingdings"/>
              <a:buChar char="§"/>
            </a:pPr>
            <a:r>
              <a:rPr lang="en-US" dirty="0">
                <a:latin typeface="Times New Roman"/>
                <a:ea typeface="+mn-lt"/>
                <a:cs typeface="+mn-lt"/>
              </a:rPr>
              <a:t>Random Forest (Primary Model)</a:t>
            </a:r>
          </a:p>
          <a:p>
            <a:pPr marL="742950" lvl="1" indent="-285750">
              <a:buFont typeface="Arial"/>
              <a:buChar char="•"/>
            </a:pPr>
            <a:r>
              <a:rPr lang="en-US" i="1" u="sng" dirty="0">
                <a:latin typeface="Times New Roman"/>
                <a:ea typeface="+mn-lt"/>
                <a:cs typeface="+mn-lt"/>
              </a:rPr>
              <a:t>Imbalanced-learn:</a:t>
            </a:r>
            <a:r>
              <a:rPr lang="en-US" dirty="0">
                <a:latin typeface="Times New Roman"/>
                <a:ea typeface="+mn-lt"/>
                <a:cs typeface="+mn-lt"/>
              </a:rPr>
              <a:t> A specialized library used to implement the SMOTE (Synthetic Minority Oversampling Technique) for handling the imbalanced dataset.</a:t>
            </a:r>
            <a:endParaRPr lang="en-US" dirty="0">
              <a:latin typeface="Times New Roman"/>
            </a:endParaRPr>
          </a:p>
          <a:p>
            <a:pPr marL="742950" lvl="1" indent="-285750">
              <a:buFont typeface="Arial"/>
              <a:buChar char="•"/>
            </a:pPr>
            <a:r>
              <a:rPr lang="en-US" i="1" u="sng" dirty="0">
                <a:latin typeface="Times New Roman"/>
                <a:ea typeface="+mn-lt"/>
                <a:cs typeface="+mn-lt"/>
              </a:rPr>
              <a:t>Pandas</a:t>
            </a:r>
            <a:r>
              <a:rPr lang="en-US" dirty="0">
                <a:latin typeface="Times New Roman"/>
                <a:ea typeface="+mn-lt"/>
                <a:cs typeface="+mn-lt"/>
              </a:rPr>
              <a:t>: The essential library for data manipulation, including loading, cleaning, and structuring the  dataset.</a:t>
            </a:r>
            <a:endParaRPr lang="en-US" dirty="0">
              <a:latin typeface="Times New Roman"/>
            </a:endParaRPr>
          </a:p>
          <a:p>
            <a:pPr marL="742950" lvl="1" indent="-285750">
              <a:buFont typeface="Arial"/>
              <a:buChar char="•"/>
            </a:pPr>
            <a:r>
              <a:rPr lang="en-US" i="1" u="sng" dirty="0">
                <a:latin typeface="Times New Roman"/>
                <a:ea typeface="+mn-lt"/>
                <a:cs typeface="+mn-lt"/>
              </a:rPr>
              <a:t>NumPy</a:t>
            </a:r>
            <a:r>
              <a:rPr lang="en-US" dirty="0">
                <a:latin typeface="Times New Roman"/>
                <a:ea typeface="+mn-lt"/>
                <a:cs typeface="+mn-lt"/>
              </a:rPr>
              <a:t>: A critical library for high-performance numerical and mathematical operations on the data.</a:t>
            </a:r>
            <a:endParaRPr lang="en-US" dirty="0">
              <a:latin typeface="Times New Roman"/>
              <a:cs typeface="Arial"/>
            </a:endParaRPr>
          </a:p>
          <a:p>
            <a:pPr marL="742950" lvl="1" indent="-285750">
              <a:buFont typeface="Arial"/>
              <a:buChar char="•"/>
            </a:pPr>
            <a:endParaRPr lang="en-US" dirty="0">
              <a:latin typeface="Times New Roman"/>
              <a:ea typeface="+mn-lt"/>
              <a:cs typeface="+mn-lt"/>
            </a:endParaRPr>
          </a:p>
          <a:p>
            <a:pPr marL="285750" indent="-285750">
              <a:buFont typeface="Arial"/>
              <a:buChar char="•"/>
            </a:pPr>
            <a:r>
              <a:rPr lang="en-US" b="1" dirty="0">
                <a:latin typeface="Times New Roman"/>
                <a:ea typeface="+mn-lt"/>
                <a:cs typeface="+mn-lt"/>
              </a:rPr>
              <a:t>Development Environment:</a:t>
            </a:r>
            <a:endParaRPr lang="en-US" b="1" dirty="0">
              <a:latin typeface="Times New Roman"/>
            </a:endParaRPr>
          </a:p>
          <a:p>
            <a:pPr marL="742950" lvl="1" indent="-285750">
              <a:buFont typeface="Arial"/>
              <a:buChar char="•"/>
            </a:pPr>
            <a:r>
              <a:rPr lang="en-US" dirty="0" err="1">
                <a:latin typeface="Times New Roman"/>
                <a:ea typeface="+mn-lt"/>
                <a:cs typeface="+mn-lt"/>
              </a:rPr>
              <a:t>Jupyter</a:t>
            </a:r>
            <a:r>
              <a:rPr lang="en-US" dirty="0">
                <a:latin typeface="Times New Roman"/>
                <a:ea typeface="+mn-lt"/>
                <a:cs typeface="+mn-lt"/>
              </a:rPr>
              <a:t> Notebook / </a:t>
            </a:r>
            <a:r>
              <a:rPr lang="en-US" dirty="0" err="1">
                <a:latin typeface="Times New Roman"/>
                <a:ea typeface="+mn-lt"/>
                <a:cs typeface="+mn-lt"/>
              </a:rPr>
              <a:t>JupyterLab</a:t>
            </a:r>
            <a:r>
              <a:rPr lang="en-US" dirty="0">
                <a:latin typeface="Times New Roman"/>
                <a:ea typeface="+mn-lt"/>
                <a:cs typeface="+mn-lt"/>
              </a:rPr>
              <a:t> / VS Code: An interactive environment ideal for data exploration, model development, and visualizing results step-by-step.</a:t>
            </a:r>
            <a:endParaRPr lang="en-US" dirty="0">
              <a:latin typeface="Times New Roman"/>
            </a:endParaRPr>
          </a:p>
          <a:p>
            <a:endParaRPr lang="en-US" dirty="0">
              <a:latin typeface="Times New Roman"/>
            </a:endParaRPr>
          </a:p>
        </p:txBody>
      </p:sp>
      <p:sp>
        <p:nvSpPr>
          <p:cNvPr id="7" name="TextBox 6">
            <a:extLst>
              <a:ext uri="{FF2B5EF4-FFF2-40B4-BE49-F238E27FC236}">
                <a16:creationId xmlns:a16="http://schemas.microsoft.com/office/drawing/2014/main" xmlns="" id="{E5608F85-BE49-A4A5-CF3D-D8E0F69D42DD}"/>
              </a:ext>
            </a:extLst>
          </p:cNvPr>
          <p:cNvSpPr txBox="1"/>
          <p:nvPr/>
        </p:nvSpPr>
        <p:spPr>
          <a:xfrm>
            <a:off x="2456761" y="930504"/>
            <a:ext cx="370613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Calibri"/>
                <a:ea typeface="Calibri"/>
                <a:cs typeface="Calibri"/>
              </a:rPr>
              <a:t>Tools and Technologies </a:t>
            </a:r>
            <a:endParaRPr lang="en-US" sz="2800" dirty="0"/>
          </a:p>
        </p:txBody>
      </p:sp>
    </p:spTree>
    <p:extLst>
      <p:ext uri="{BB962C8B-B14F-4D97-AF65-F5344CB8AC3E}">
        <p14:creationId xmlns:p14="http://schemas.microsoft.com/office/powerpoint/2010/main" val="4075096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927EA4C-DA6A-5650-ABD4-5037C4FC26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xmlns="" id="{BCA169B1-AAE9-54CD-D681-7CBF5843A1E9}"/>
              </a:ext>
            </a:extLst>
          </p:cNvPr>
          <p:cNvSpPr txBox="1"/>
          <p:nvPr/>
        </p:nvSpPr>
        <p:spPr>
          <a:xfrm>
            <a:off x="-1590" y="1455620"/>
            <a:ext cx="915496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ea typeface="+mn-lt"/>
                <a:cs typeface="+mn-lt"/>
              </a:rPr>
              <a:t> These are the recommended minimum specifications for a system to efficiently handle the   dataset and model training as described in the paper.</a:t>
            </a:r>
            <a:endParaRPr lang="en-US" b="1" dirty="0">
              <a:latin typeface="Times New Roman"/>
              <a:ea typeface="+mn-lt"/>
              <a:cs typeface="+mn-lt"/>
            </a:endParaRPr>
          </a:p>
          <a:p>
            <a:pPr>
              <a:buFont typeface="Arial"/>
              <a:buChar char="•"/>
            </a:pPr>
            <a:endParaRPr lang="en-US" dirty="0">
              <a:latin typeface="Times New Roman"/>
              <a:ea typeface="+mn-lt"/>
              <a:cs typeface="+mn-lt"/>
            </a:endParaRPr>
          </a:p>
          <a:p>
            <a:pPr>
              <a:buFont typeface="Arial"/>
              <a:buChar char="•"/>
            </a:pPr>
            <a:r>
              <a:rPr lang="en-US" b="1" dirty="0">
                <a:latin typeface="Times New Roman"/>
                <a:ea typeface="+mn-lt"/>
                <a:cs typeface="+mn-lt"/>
              </a:rPr>
              <a:t>Hardware Requirements (Functional):</a:t>
            </a:r>
            <a:endParaRPr lang="en-US" dirty="0">
              <a:latin typeface="Times New Roman"/>
            </a:endParaRPr>
          </a:p>
          <a:p>
            <a:pPr lvl="1">
              <a:buFont typeface="Arial"/>
              <a:buChar char="•"/>
            </a:pPr>
            <a:r>
              <a:rPr lang="en-US" i="1" u="sng" dirty="0">
                <a:latin typeface="Times New Roman"/>
                <a:ea typeface="+mn-lt"/>
                <a:cs typeface="+mn-lt"/>
              </a:rPr>
              <a:t>CPU</a:t>
            </a:r>
            <a:r>
              <a:rPr lang="en-US" b="1" dirty="0">
                <a:latin typeface="Times New Roman"/>
                <a:ea typeface="+mn-lt"/>
                <a:cs typeface="+mn-lt"/>
              </a:rPr>
              <a:t>:</a:t>
            </a:r>
            <a:r>
              <a:rPr lang="en-US" dirty="0">
                <a:latin typeface="Times New Roman"/>
                <a:ea typeface="+mn-lt"/>
                <a:cs typeface="+mn-lt"/>
              </a:rPr>
              <a:t> Multi-core processor (e.g., Intel Core i5 / AMD Ryzen 5 or better).</a:t>
            </a:r>
            <a:endParaRPr lang="en-US" dirty="0">
              <a:latin typeface="Times New Roman"/>
            </a:endParaRPr>
          </a:p>
          <a:p>
            <a:pPr lvl="1">
              <a:buFont typeface="Arial"/>
              <a:buChar char="•"/>
            </a:pPr>
            <a:r>
              <a:rPr lang="en-US" i="1" u="sng" dirty="0">
                <a:latin typeface="Times New Roman"/>
                <a:ea typeface="+mn-lt"/>
                <a:cs typeface="+mn-lt"/>
              </a:rPr>
              <a:t>RAM</a:t>
            </a:r>
            <a:r>
              <a:rPr lang="en-US" b="1" dirty="0">
                <a:latin typeface="Times New Roman"/>
                <a:ea typeface="+mn-lt"/>
                <a:cs typeface="+mn-lt"/>
              </a:rPr>
              <a:t>:</a:t>
            </a:r>
            <a:r>
              <a:rPr lang="en-US" dirty="0">
                <a:latin typeface="Times New Roman"/>
                <a:ea typeface="+mn-lt"/>
                <a:cs typeface="+mn-lt"/>
              </a:rPr>
              <a:t> </a:t>
            </a:r>
            <a:r>
              <a:rPr lang="en-US" b="1" dirty="0">
                <a:latin typeface="Times New Roman"/>
                <a:ea typeface="+mn-lt"/>
                <a:cs typeface="+mn-lt"/>
              </a:rPr>
              <a:t>8 GB minimum</a:t>
            </a:r>
            <a:r>
              <a:rPr lang="en-US" dirty="0">
                <a:latin typeface="Times New Roman"/>
                <a:ea typeface="+mn-lt"/>
                <a:cs typeface="+mn-lt"/>
              </a:rPr>
              <a:t>, 16 GB recommended for smoother data handling and model training.</a:t>
            </a:r>
          </a:p>
          <a:p>
            <a:pPr lvl="1">
              <a:buFont typeface="Arial"/>
              <a:buChar char="•"/>
            </a:pPr>
            <a:r>
              <a:rPr lang="en-US" i="1" u="sng" dirty="0">
                <a:latin typeface="Times New Roman"/>
                <a:ea typeface="+mn-lt"/>
                <a:cs typeface="+mn-lt"/>
              </a:rPr>
              <a:t>Storage</a:t>
            </a:r>
            <a:r>
              <a:rPr lang="en-US" b="1" dirty="0">
                <a:latin typeface="Times New Roman"/>
                <a:ea typeface="+mn-lt"/>
                <a:cs typeface="+mn-lt"/>
              </a:rPr>
              <a:t>:</a:t>
            </a:r>
            <a:r>
              <a:rPr lang="en-US" dirty="0">
                <a:latin typeface="Times New Roman"/>
                <a:ea typeface="+mn-lt"/>
                <a:cs typeface="+mn-lt"/>
              </a:rPr>
              <a:t> </a:t>
            </a:r>
            <a:r>
              <a:rPr lang="en-US" b="1" dirty="0">
                <a:latin typeface="Times New Roman"/>
                <a:ea typeface="+mn-lt"/>
                <a:cs typeface="+mn-lt"/>
              </a:rPr>
              <a:t>256 GB SSD</a:t>
            </a:r>
            <a:r>
              <a:rPr lang="en-US" dirty="0">
                <a:latin typeface="Times New Roman"/>
                <a:ea typeface="+mn-lt"/>
                <a:cs typeface="+mn-lt"/>
              </a:rPr>
              <a:t> (Solid State Drive) recommended for fast data loading and access times.</a:t>
            </a:r>
          </a:p>
          <a:p>
            <a:pPr>
              <a:buFont typeface="Arial"/>
              <a:buChar char="•"/>
            </a:pPr>
            <a:r>
              <a:rPr lang="en-US" b="1" dirty="0">
                <a:latin typeface="Times New Roman"/>
                <a:ea typeface="+mn-lt"/>
                <a:cs typeface="+mn-lt"/>
              </a:rPr>
              <a:t>Software Requirements (Non-Functional):</a:t>
            </a:r>
            <a:endParaRPr lang="en-US" dirty="0">
              <a:latin typeface="Times New Roman"/>
            </a:endParaRPr>
          </a:p>
          <a:p>
            <a:pPr lvl="1">
              <a:buFont typeface="Arial"/>
              <a:buChar char="•"/>
            </a:pPr>
            <a:r>
              <a:rPr lang="en-US" i="1" u="sng" dirty="0">
                <a:latin typeface="Times New Roman"/>
                <a:ea typeface="+mn-lt"/>
                <a:cs typeface="+mn-lt"/>
              </a:rPr>
              <a:t>Operating System</a:t>
            </a:r>
            <a:r>
              <a:rPr lang="en-US" b="1" dirty="0">
                <a:latin typeface="Times New Roman"/>
                <a:ea typeface="+mn-lt"/>
                <a:cs typeface="+mn-lt"/>
              </a:rPr>
              <a:t>:</a:t>
            </a:r>
            <a:r>
              <a:rPr lang="en-US" dirty="0">
                <a:latin typeface="Times New Roman"/>
                <a:ea typeface="+mn-lt"/>
                <a:cs typeface="+mn-lt"/>
              </a:rPr>
              <a:t> Windows 10/11, macOS, or any modern Linux Distribution (e.g., Ubuntu).</a:t>
            </a:r>
            <a:endParaRPr lang="en-US" dirty="0">
              <a:latin typeface="Times New Roman"/>
            </a:endParaRPr>
          </a:p>
          <a:p>
            <a:pPr lvl="1">
              <a:buFont typeface="Arial"/>
              <a:buChar char="•"/>
            </a:pPr>
            <a:r>
              <a:rPr lang="en-US" b="1" dirty="0">
                <a:latin typeface="Times New Roman"/>
                <a:ea typeface="+mn-lt"/>
                <a:cs typeface="+mn-lt"/>
              </a:rPr>
              <a:t>Core Software:</a:t>
            </a:r>
            <a:endParaRPr lang="en-US" dirty="0">
              <a:latin typeface="Times New Roman"/>
              <a:ea typeface="+mn-lt"/>
              <a:cs typeface="+mn-lt"/>
            </a:endParaRPr>
          </a:p>
          <a:p>
            <a:pPr lvl="2">
              <a:buFont typeface="Arial"/>
              <a:buChar char="•"/>
            </a:pPr>
            <a:r>
              <a:rPr lang="en-US" dirty="0">
                <a:latin typeface="Times New Roman"/>
                <a:ea typeface="+mn-lt"/>
                <a:cs typeface="+mn-lt"/>
              </a:rPr>
              <a:t>Python (Version 3.7 or newer).</a:t>
            </a:r>
            <a:endParaRPr lang="en-US" dirty="0">
              <a:latin typeface="Times New Roman"/>
            </a:endParaRPr>
          </a:p>
          <a:p>
            <a:pPr lvl="2">
              <a:buFont typeface="Arial"/>
              <a:buChar char="•"/>
            </a:pPr>
            <a:r>
              <a:rPr lang="en-US" i="1" u="sng" dirty="0">
                <a:latin typeface="Times New Roman"/>
                <a:ea typeface="+mn-lt"/>
                <a:cs typeface="+mn-lt"/>
              </a:rPr>
              <a:t>Anaconda Distribution:</a:t>
            </a:r>
            <a:r>
              <a:rPr lang="en-US" dirty="0">
                <a:latin typeface="Times New Roman"/>
                <a:ea typeface="+mn-lt"/>
                <a:cs typeface="+mn-lt"/>
              </a:rPr>
              <a:t> Highly recommended as it simplifies the management of Python environments and the installation of all the necessary data science libraries listed above.</a:t>
            </a:r>
          </a:p>
          <a:p>
            <a:pPr marL="285750" indent="-285750">
              <a:buFont typeface="Arial"/>
              <a:buChar char="•"/>
            </a:pPr>
            <a:endParaRPr lang="en-US" b="1" dirty="0">
              <a:latin typeface="Times New Roman"/>
              <a:cs typeface="Arial"/>
            </a:endParaRPr>
          </a:p>
        </p:txBody>
      </p:sp>
      <p:sp>
        <p:nvSpPr>
          <p:cNvPr id="7" name="TextBox 6">
            <a:extLst>
              <a:ext uri="{FF2B5EF4-FFF2-40B4-BE49-F238E27FC236}">
                <a16:creationId xmlns:a16="http://schemas.microsoft.com/office/drawing/2014/main" xmlns="" id="{045AF87F-B84F-5A4F-23E3-D75C45EB1FBE}"/>
              </a:ext>
            </a:extLst>
          </p:cNvPr>
          <p:cNvSpPr txBox="1"/>
          <p:nvPr/>
        </p:nvSpPr>
        <p:spPr>
          <a:xfrm>
            <a:off x="2456761" y="930504"/>
            <a:ext cx="370613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Calibri"/>
                <a:ea typeface="Calibri"/>
                <a:cs typeface="Calibri"/>
              </a:rPr>
              <a:t>Tools and Technologies </a:t>
            </a:r>
            <a:endParaRPr lang="en-US" sz="2800"/>
          </a:p>
        </p:txBody>
      </p:sp>
    </p:spTree>
    <p:extLst>
      <p:ext uri="{BB962C8B-B14F-4D97-AF65-F5344CB8AC3E}">
        <p14:creationId xmlns:p14="http://schemas.microsoft.com/office/powerpoint/2010/main" val="1698753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8F9AE048-CB9D-9998-8270-47515050E434}"/>
              </a:ext>
            </a:extLst>
          </p:cNvPr>
          <p:cNvSpPr txBox="1"/>
          <p:nvPr/>
        </p:nvSpPr>
        <p:spPr>
          <a:xfrm>
            <a:off x="2281088" y="910815"/>
            <a:ext cx="4575131"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31800" lvl="2"/>
            <a:r>
              <a:rPr lang="en-US" sz="2800" b="1" dirty="0">
                <a:latin typeface="Calibri"/>
                <a:ea typeface="Calibri"/>
                <a:cs typeface="Calibri"/>
              </a:rPr>
              <a:t>Applications of the Project</a:t>
            </a:r>
            <a:endParaRPr lang="en-IN" sz="2800" dirty="0">
              <a:latin typeface="Calibri"/>
              <a:ea typeface="Calibri"/>
              <a:cs typeface="Calibri"/>
            </a:endParaRPr>
          </a:p>
          <a:p>
            <a:pPr algn="l"/>
            <a:endParaRPr lang="en-US" dirty="0"/>
          </a:p>
        </p:txBody>
      </p:sp>
      <p:sp>
        <p:nvSpPr>
          <p:cNvPr id="3" name="TextBox 2">
            <a:extLst>
              <a:ext uri="{FF2B5EF4-FFF2-40B4-BE49-F238E27FC236}">
                <a16:creationId xmlns:a16="http://schemas.microsoft.com/office/drawing/2014/main" xmlns="" id="{9DAB86C8-788B-5B8D-F05C-7F1ED52BBB7B}"/>
              </a:ext>
            </a:extLst>
          </p:cNvPr>
          <p:cNvSpPr txBox="1"/>
          <p:nvPr/>
        </p:nvSpPr>
        <p:spPr>
          <a:xfrm>
            <a:off x="55069" y="1525985"/>
            <a:ext cx="902970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mn-lt"/>
                <a:cs typeface="+mn-lt"/>
              </a:rPr>
              <a:t>Market Fairness Analysis:</a:t>
            </a:r>
            <a:endParaRPr lang="en-US">
              <a:ea typeface="+mn-lt"/>
              <a:cs typeface="+mn-lt"/>
            </a:endParaRPr>
          </a:p>
          <a:p>
            <a:pPr marL="742950" lvl="1" indent="-285750">
              <a:buFont typeface="Arial"/>
              <a:buChar char="•"/>
            </a:pPr>
            <a:r>
              <a:rPr lang="en-US" dirty="0">
                <a:ea typeface="+mn-lt"/>
                <a:cs typeface="+mn-lt"/>
              </a:rPr>
              <a:t>Provides a clear, data-driven method to study and determine if betting apps are fair or biased.</a:t>
            </a:r>
            <a:endParaRPr lang="en-US">
              <a:ea typeface="+mn-lt"/>
              <a:cs typeface="+mn-lt"/>
            </a:endParaRPr>
          </a:p>
          <a:p>
            <a:pPr marL="285750" indent="-285750">
              <a:buFont typeface="Arial"/>
              <a:buChar char="•"/>
            </a:pPr>
            <a:r>
              <a:rPr lang="en-US" b="1" dirty="0">
                <a:ea typeface="+mn-lt"/>
                <a:cs typeface="+mn-lt"/>
              </a:rPr>
              <a:t>Consumer Awareness &amp; Education:</a:t>
            </a:r>
            <a:endParaRPr lang="en-US" dirty="0">
              <a:ea typeface="+mn-lt"/>
              <a:cs typeface="+mn-lt"/>
            </a:endParaRPr>
          </a:p>
          <a:p>
            <a:pPr marL="742950" lvl="1" indent="-285750">
              <a:buFont typeface="Arial"/>
              <a:buChar char="•"/>
            </a:pPr>
            <a:r>
              <a:rPr lang="en-US" dirty="0">
                <a:ea typeface="+mn-lt"/>
                <a:cs typeface="+mn-lt"/>
              </a:rPr>
              <a:t>Clearly demonstrates to users the long-term financial risks, even when games appear fair initially.</a:t>
            </a:r>
          </a:p>
          <a:p>
            <a:pPr marL="742950" lvl="1" indent="-285750">
              <a:buFont typeface="Arial"/>
              <a:buChar char="•"/>
            </a:pPr>
            <a:r>
              <a:rPr lang="en-US" dirty="0">
                <a:ea typeface="+mn-lt"/>
                <a:cs typeface="+mn-lt"/>
              </a:rPr>
              <a:t>Creates public awareness about the dangers of online betting and promotes responsible choices.</a:t>
            </a:r>
          </a:p>
          <a:p>
            <a:pPr marL="285750" indent="-285750">
              <a:buFont typeface="Arial"/>
              <a:buChar char="•"/>
            </a:pPr>
            <a:r>
              <a:rPr lang="en-US" b="1" dirty="0">
                <a:ea typeface="+mn-lt"/>
                <a:cs typeface="+mn-lt"/>
              </a:rPr>
              <a:t>Academic &amp; Research Support:</a:t>
            </a:r>
            <a:endParaRPr lang="en-US" dirty="0">
              <a:ea typeface="+mn-lt"/>
              <a:cs typeface="+mn-lt"/>
            </a:endParaRPr>
          </a:p>
          <a:p>
            <a:pPr marL="742950" lvl="1" indent="-285750">
              <a:buFont typeface="Arial"/>
              <a:buChar char="•"/>
            </a:pPr>
            <a:r>
              <a:rPr lang="en-US" dirty="0">
                <a:ea typeface="+mn-lt"/>
                <a:cs typeface="+mn-lt"/>
              </a:rPr>
              <a:t>Offers a valuable resource for researchers, educators, and students in fields like gambling studies, psychology, and consumer protection.</a:t>
            </a:r>
          </a:p>
          <a:p>
            <a:pPr marL="285750" indent="-285750">
              <a:buFont typeface="Arial"/>
              <a:buChar char="•"/>
            </a:pPr>
            <a:r>
              <a:rPr lang="en-US" b="1" dirty="0">
                <a:ea typeface="+mn-lt"/>
                <a:cs typeface="+mn-lt"/>
              </a:rPr>
              <a:t>Policy &amp; Regulation Support:</a:t>
            </a:r>
            <a:endParaRPr lang="en-US" dirty="0">
              <a:ea typeface="+mn-lt"/>
              <a:cs typeface="+mn-lt"/>
            </a:endParaRPr>
          </a:p>
          <a:p>
            <a:pPr marL="742950" lvl="1" indent="-285750">
              <a:buFont typeface="Arial"/>
              <a:buChar char="•"/>
            </a:pPr>
            <a:r>
              <a:rPr lang="en-US" dirty="0">
                <a:ea typeface="+mn-lt"/>
                <a:cs typeface="+mn-lt"/>
              </a:rPr>
              <a:t>Delivers crucial insights for policymakers to help them draft effective laws and regulations to protect users from unfair digital betting systems.</a:t>
            </a:r>
          </a:p>
          <a:p>
            <a:pPr marL="285750" indent="-285750">
              <a:buFont typeface="Arial"/>
              <a:buChar char="•"/>
            </a:pPr>
            <a:r>
              <a:rPr lang="en-US" b="1" dirty="0">
                <a:ea typeface="+mn-lt"/>
                <a:cs typeface="+mn-lt"/>
              </a:rPr>
              <a:t>Future Scope &amp; Development:</a:t>
            </a:r>
            <a:endParaRPr lang="en-US" dirty="0">
              <a:ea typeface="+mn-lt"/>
              <a:cs typeface="+mn-lt"/>
            </a:endParaRPr>
          </a:p>
          <a:p>
            <a:pPr marL="742950" lvl="1" indent="-285750">
              <a:buFont typeface="Arial"/>
              <a:buChar char="•"/>
            </a:pPr>
            <a:r>
              <a:rPr lang="en-US" dirty="0">
                <a:ea typeface="+mn-lt"/>
                <a:cs typeface="+mn-lt"/>
              </a:rPr>
              <a:t>Establishes a foundation that can be expanded with more advanced machine learning to detect even deeper, hidden patterns in odds and betting behavior.</a:t>
            </a:r>
          </a:p>
          <a:p>
            <a:pPr marL="285750" indent="-285750" algn="l">
              <a:buFont typeface="Arial"/>
              <a:buChar char="•"/>
            </a:pPr>
            <a:endParaRPr lang="en-US" dirty="0"/>
          </a:p>
        </p:txBody>
      </p:sp>
    </p:spTree>
    <p:extLst>
      <p:ext uri="{BB962C8B-B14F-4D97-AF65-F5344CB8AC3E}">
        <p14:creationId xmlns:p14="http://schemas.microsoft.com/office/powerpoint/2010/main" val="655476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503FB5B-D004-C9CF-4861-04DC67D22CAF}"/>
              </a:ext>
            </a:extLst>
          </p:cNvPr>
          <p:cNvSpPr txBox="1"/>
          <p:nvPr/>
        </p:nvSpPr>
        <p:spPr>
          <a:xfrm>
            <a:off x="3197649" y="922038"/>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Calibri"/>
                <a:ea typeface="Calibri"/>
                <a:cs typeface="Calibri"/>
              </a:rPr>
              <a:t>CONCLUSION</a:t>
            </a:r>
            <a:endParaRPr lang="en-US" sz="2800" dirty="0"/>
          </a:p>
        </p:txBody>
      </p:sp>
      <p:sp>
        <p:nvSpPr>
          <p:cNvPr id="3" name="TextBox 2">
            <a:extLst>
              <a:ext uri="{FF2B5EF4-FFF2-40B4-BE49-F238E27FC236}">
                <a16:creationId xmlns:a16="http://schemas.microsoft.com/office/drawing/2014/main" xmlns="" id="{D970B72A-628A-3A70-F3D7-4FD9585962D2}"/>
              </a:ext>
            </a:extLst>
          </p:cNvPr>
          <p:cNvSpPr txBox="1"/>
          <p:nvPr/>
        </p:nvSpPr>
        <p:spPr>
          <a:xfrm>
            <a:off x="310413" y="2295555"/>
            <a:ext cx="852082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latin typeface="Times New Roman"/>
                <a:ea typeface="+mn-lt"/>
                <a:cs typeface="+mn-lt"/>
              </a:rPr>
              <a:t>Betting apps in India show users the dream of winning money, but in reality, they are designed in a way that the company always earns profit. Most people do not know about this hidden bias and end up losing more than they win. In this project, we collected odds, compared them with real chances, and showed through simulations how users are at a disadvantage. The system makes it simple to understand that betting apps are not fair and that awareness is very important to avoid financial and social problems. The study is small, but it can grow into bigger research and also help in making fair rules for online betting in India</a:t>
            </a:r>
            <a:r>
              <a:rPr lang="en-US" dirty="0">
                <a:latin typeface="Times New Roman"/>
                <a:cs typeface="Arial"/>
              </a:rPr>
              <a:t>.</a:t>
            </a:r>
            <a:endParaRPr lang="en-US">
              <a:latin typeface="Times New Roman"/>
            </a:endParaRPr>
          </a:p>
          <a:p>
            <a:pPr algn="l"/>
            <a:endParaRPr lang="en-US" dirty="0">
              <a:latin typeface="Times New Roman"/>
            </a:endParaRPr>
          </a:p>
        </p:txBody>
      </p:sp>
    </p:spTree>
    <p:extLst>
      <p:ext uri="{BB962C8B-B14F-4D97-AF65-F5344CB8AC3E}">
        <p14:creationId xmlns:p14="http://schemas.microsoft.com/office/powerpoint/2010/main" val="244423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25257902-675D-CF2C-6CE4-8FD69F43D296}"/>
              </a:ext>
            </a:extLst>
          </p:cNvPr>
          <p:cNvSpPr txBox="1"/>
          <p:nvPr/>
        </p:nvSpPr>
        <p:spPr>
          <a:xfrm>
            <a:off x="180776" y="1560454"/>
            <a:ext cx="8779178" cy="4770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Times New Roman"/>
                <a:cs typeface="Times New Roman"/>
              </a:rPr>
              <a:t>[1] C.-B. Kim, J.-H. Park, and J.-Y. Lee, "AI-based betting anomaly detection system to ensure fairness in sports and prevent illegal gambling," </a:t>
            </a:r>
            <a:r>
              <a:rPr lang="en-US" sz="1600" i="1" dirty="0">
                <a:latin typeface="Times New Roman"/>
                <a:cs typeface="Times New Roman"/>
              </a:rPr>
              <a:t>Scientific Reports</a:t>
            </a:r>
            <a:r>
              <a:rPr lang="en-US" sz="1600" dirty="0">
                <a:latin typeface="Times New Roman"/>
                <a:cs typeface="Times New Roman"/>
              </a:rPr>
              <a:t>, vol. 14, no. 1, p. 6470, Mar. 2024. [Online]. Available: </a:t>
            </a:r>
            <a:r>
              <a:rPr lang="en-US" sz="1600" u="sng" dirty="0">
                <a:latin typeface="Times New Roman"/>
                <a:cs typeface="Times New Roman"/>
                <a:hlinkClick r:id="rId2"/>
              </a:rPr>
              <a:t>https://www.nature.com/articles/s41598-024-57195-8</a:t>
            </a:r>
            <a:r>
              <a:rPr lang="en-US" sz="1600" u="sng" dirty="0">
                <a:latin typeface="Times New Roman"/>
                <a:cs typeface="Times New Roman"/>
              </a:rPr>
              <a:t> .</a:t>
            </a:r>
            <a:endParaRPr lang="en-US" sz="1600" dirty="0"/>
          </a:p>
          <a:p>
            <a:endParaRPr lang="en-US" sz="1600" u="sng" dirty="0">
              <a:latin typeface="Times New Roman"/>
              <a:cs typeface="Times New Roman"/>
            </a:endParaRPr>
          </a:p>
          <a:p>
            <a:r>
              <a:rPr lang="en-US" sz="1600" dirty="0">
                <a:latin typeface="Times New Roman"/>
                <a:cs typeface="Times New Roman"/>
              </a:rPr>
              <a:t>[2] G. </a:t>
            </a:r>
            <a:r>
              <a:rPr lang="en-US" sz="1600" dirty="0" err="1">
                <a:latin typeface="Times New Roman"/>
                <a:cs typeface="Times New Roman"/>
              </a:rPr>
              <a:t>Elaad</a:t>
            </a:r>
            <a:r>
              <a:rPr lang="en-US" sz="1600" dirty="0">
                <a:latin typeface="Times New Roman"/>
                <a:cs typeface="Times New Roman"/>
              </a:rPr>
              <a:t>, J. J. Reade, and C. Singleton, "Information, prices and efficiency in an online betting market," </a:t>
            </a:r>
            <a:r>
              <a:rPr lang="en-US" sz="1600" i="1" dirty="0">
                <a:latin typeface="Times New Roman"/>
                <a:cs typeface="Times New Roman"/>
              </a:rPr>
              <a:t>Finance Research Letters</a:t>
            </a:r>
            <a:r>
              <a:rPr lang="en-US" sz="1600" dirty="0">
                <a:latin typeface="Times New Roman"/>
                <a:cs typeface="Times New Roman"/>
              </a:rPr>
              <a:t>, vol. 35, p. 101321, Jul. 2020. [Online]. Available:</a:t>
            </a:r>
            <a:r>
              <a:rPr lang="en-US" sz="1600" dirty="0">
                <a:latin typeface="Times New Roman"/>
                <a:cs typeface="Times New Roman"/>
                <a:hlinkClick r:id="" action="ppaction://noaction"/>
              </a:rPr>
              <a:t> </a:t>
            </a:r>
            <a:r>
              <a:rPr lang="en-US" sz="1600" u="sng" dirty="0">
                <a:latin typeface="Times New Roman"/>
                <a:cs typeface="Times New Roman"/>
                <a:hlinkClick r:id="" action="ppaction://noaction"/>
              </a:rPr>
              <a:t>https://linkinghub.elsevier.com/retrieve/pii/S1544612319306440</a:t>
            </a:r>
            <a:r>
              <a:rPr lang="en-US" sz="1600" dirty="0">
                <a:latin typeface="Arial"/>
                <a:cs typeface="Times New Roman"/>
              </a:rPr>
              <a:t> .</a:t>
            </a:r>
            <a:endParaRPr lang="en-US" sz="1600" dirty="0"/>
          </a:p>
          <a:p>
            <a:endParaRPr lang="en-US" sz="1600" dirty="0">
              <a:latin typeface="Arial"/>
              <a:cs typeface="Times New Roman"/>
            </a:endParaRPr>
          </a:p>
          <a:p>
            <a:r>
              <a:rPr lang="en-US" sz="1600" dirty="0">
                <a:latin typeface="Times New Roman"/>
                <a:cs typeface="Times New Roman"/>
              </a:rPr>
              <a:t>[3] N. Bhanot and R. Sharma, "Mapping the Emotional and Psychological Dimensions of Fantasy Sports Betting: A Bibliometric Analysis," </a:t>
            </a:r>
            <a:r>
              <a:rPr lang="en-US" sz="1600" i="1" dirty="0">
                <a:latin typeface="Times New Roman"/>
                <a:cs typeface="Times New Roman"/>
              </a:rPr>
              <a:t>Journal of Gambling Issues</a:t>
            </a:r>
            <a:r>
              <a:rPr lang="en-US" sz="1600" dirty="0">
                <a:latin typeface="Times New Roman"/>
                <a:cs typeface="Times New Roman"/>
              </a:rPr>
              <a:t>, 2025.</a:t>
            </a:r>
            <a:endParaRPr lang="en-US" sz="1600" dirty="0"/>
          </a:p>
          <a:p>
            <a:endParaRPr lang="en-US" sz="1600" dirty="0">
              <a:latin typeface="Times New Roman"/>
              <a:cs typeface="Times New Roman"/>
            </a:endParaRPr>
          </a:p>
          <a:p>
            <a:r>
              <a:rPr lang="en-US" sz="1600" dirty="0">
                <a:latin typeface="Times New Roman"/>
                <a:cs typeface="Times New Roman"/>
              </a:rPr>
              <a:t>[4] P. Prakash, S. Girdhar, and A. Jose, "Online Gambling Addiction: A Study among College Students of Kerala State, India," </a:t>
            </a:r>
            <a:r>
              <a:rPr lang="en-US" sz="1600" i="1" dirty="0">
                <a:latin typeface="Times New Roman"/>
                <a:cs typeface="Times New Roman"/>
              </a:rPr>
              <a:t>Journal of University of Shanghai for Science and Technology</a:t>
            </a:r>
            <a:r>
              <a:rPr lang="en-US" sz="1600" dirty="0">
                <a:latin typeface="Times New Roman"/>
                <a:cs typeface="Times New Roman"/>
              </a:rPr>
              <a:t>, vol. 16, no. 2, pp. 0-3, 2024.</a:t>
            </a:r>
            <a:endParaRPr lang="en-US" sz="1600" dirty="0"/>
          </a:p>
          <a:p>
            <a:endParaRPr lang="en-US" sz="1600" dirty="0">
              <a:latin typeface="Times New Roman"/>
              <a:cs typeface="Times New Roman"/>
            </a:endParaRPr>
          </a:p>
          <a:p>
            <a:r>
              <a:rPr lang="en-US" sz="1600" dirty="0">
                <a:latin typeface="Times New Roman"/>
                <a:cs typeface="Times New Roman"/>
              </a:rPr>
              <a:t>[5] S. J. </a:t>
            </a:r>
            <a:r>
              <a:rPr lang="en-US" sz="1600" err="1">
                <a:latin typeface="Times New Roman"/>
                <a:cs typeface="Times New Roman"/>
              </a:rPr>
              <a:t>Avenyo</a:t>
            </a:r>
            <a:r>
              <a:rPr lang="en-US" sz="1600" dirty="0">
                <a:latin typeface="Times New Roman"/>
                <a:cs typeface="Times New Roman"/>
              </a:rPr>
              <a:t>, N. S. </a:t>
            </a:r>
            <a:r>
              <a:rPr lang="en-US" sz="1600" err="1">
                <a:latin typeface="Times New Roman"/>
                <a:cs typeface="Times New Roman"/>
              </a:rPr>
              <a:t>Kwashie</a:t>
            </a:r>
            <a:r>
              <a:rPr lang="en-US" sz="1600" dirty="0">
                <a:latin typeface="Times New Roman"/>
                <a:cs typeface="Times New Roman"/>
              </a:rPr>
              <a:t>, and J. </a:t>
            </a:r>
            <a:r>
              <a:rPr lang="en-US" sz="1600" err="1">
                <a:latin typeface="Times New Roman"/>
                <a:cs typeface="Times New Roman"/>
              </a:rPr>
              <a:t>Demuyakor</a:t>
            </a:r>
            <a:r>
              <a:rPr lang="en-US" sz="1600" dirty="0">
                <a:latin typeface="Times New Roman"/>
                <a:cs typeface="Times New Roman"/>
              </a:rPr>
              <a:t>, "Online sports betting in universities: Does online sports betting addictions impact the academic achievements and social relations of students?," </a:t>
            </a:r>
            <a:r>
              <a:rPr lang="en-US" sz="1600" i="1" dirty="0">
                <a:latin typeface="Times New Roman"/>
                <a:cs typeface="Times New Roman"/>
              </a:rPr>
              <a:t>Journal of Digital Educational Technology</a:t>
            </a:r>
            <a:r>
              <a:rPr lang="en-US" sz="1600" dirty="0">
                <a:latin typeface="Times New Roman"/>
                <a:cs typeface="Times New Roman"/>
              </a:rPr>
              <a:t>, vol. 4, no. 1, p. ep2402, 2024.</a:t>
            </a:r>
            <a:endParaRPr lang="en-US" sz="1600" dirty="0"/>
          </a:p>
          <a:p>
            <a:endParaRPr lang="en-US" sz="1600" dirty="0">
              <a:latin typeface="Times New Roman"/>
              <a:cs typeface="Times New Roman"/>
            </a:endParaRPr>
          </a:p>
        </p:txBody>
      </p:sp>
      <p:sp>
        <p:nvSpPr>
          <p:cNvPr id="3" name="TextBox 2">
            <a:extLst>
              <a:ext uri="{FF2B5EF4-FFF2-40B4-BE49-F238E27FC236}">
                <a16:creationId xmlns:a16="http://schemas.microsoft.com/office/drawing/2014/main" xmlns="" id="{D6CCF066-7003-CBD0-4E99-DB8BE23DAA57}"/>
              </a:ext>
            </a:extLst>
          </p:cNvPr>
          <p:cNvSpPr txBox="1"/>
          <p:nvPr/>
        </p:nvSpPr>
        <p:spPr>
          <a:xfrm>
            <a:off x="3201548" y="919389"/>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dirty="0">
                <a:latin typeface="Times New Roman"/>
              </a:rPr>
              <a:t>REFRENCES</a:t>
            </a:r>
          </a:p>
        </p:txBody>
      </p:sp>
    </p:spTree>
    <p:extLst>
      <p:ext uri="{BB962C8B-B14F-4D97-AF65-F5344CB8AC3E}">
        <p14:creationId xmlns:p14="http://schemas.microsoft.com/office/powerpoint/2010/main" val="159348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A6805E-8228-EEE1-9214-A8FBDA9C466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55F70B0A-464B-81EE-1352-897A9F49313A}"/>
              </a:ext>
            </a:extLst>
          </p:cNvPr>
          <p:cNvSpPr txBox="1"/>
          <p:nvPr/>
        </p:nvSpPr>
        <p:spPr>
          <a:xfrm>
            <a:off x="180776" y="1717030"/>
            <a:ext cx="8779178" cy="46474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latin typeface="Times New Roman"/>
                <a:cs typeface="Times New Roman"/>
              </a:rPr>
              <a:t>[6] M. Gupta and L. Singh, "Predicting Outcomes of Horse Racing using Machine Learning," </a:t>
            </a:r>
            <a:r>
              <a:rPr lang="en-US" sz="1600" i="1" dirty="0">
                <a:latin typeface="Times New Roman"/>
                <a:cs typeface="Times New Roman"/>
              </a:rPr>
              <a:t>International Journal on Recent and Innovation Trends in Computing and Communication</a:t>
            </a:r>
            <a:r>
              <a:rPr lang="en-US" sz="1600" dirty="0">
                <a:latin typeface="Times New Roman"/>
                <a:cs typeface="Times New Roman"/>
              </a:rPr>
              <a:t>, vol. 11, no. 9, pp. 38–47, Oct. 2023.</a:t>
            </a:r>
            <a:endParaRPr lang="en-US" sz="1600"/>
          </a:p>
          <a:p>
            <a:endParaRPr lang="en-US" sz="1600" dirty="0">
              <a:latin typeface="Times New Roman"/>
              <a:cs typeface="Times New Roman"/>
            </a:endParaRPr>
          </a:p>
          <a:p>
            <a:r>
              <a:rPr lang="en-US" sz="1600" dirty="0">
                <a:latin typeface="Times New Roman"/>
                <a:cs typeface="Times New Roman"/>
              </a:rPr>
              <a:t>[7] M. J. </a:t>
            </a:r>
            <a:r>
              <a:rPr lang="en-US" sz="1600" err="1">
                <a:latin typeface="Times New Roman"/>
                <a:cs typeface="Times New Roman"/>
              </a:rPr>
              <a:t>Rockloff</a:t>
            </a:r>
            <a:r>
              <a:rPr lang="en-US" sz="1600" dirty="0">
                <a:latin typeface="Times New Roman"/>
                <a:cs typeface="Times New Roman"/>
              </a:rPr>
              <a:t>, N. Greer, P. A. Newall, and M. J. Browne, "Sports betting incentives encourage gamblers to select the long odds: An experimental investigation using monetary rewards," </a:t>
            </a:r>
            <a:r>
              <a:rPr lang="en-US" sz="1600" i="1" dirty="0">
                <a:latin typeface="Times New Roman"/>
                <a:cs typeface="Times New Roman"/>
              </a:rPr>
              <a:t>Journal of Behavioral Addictions</a:t>
            </a:r>
            <a:r>
              <a:rPr lang="en-US" sz="1600" dirty="0">
                <a:latin typeface="Times New Roman"/>
                <a:cs typeface="Times New Roman"/>
              </a:rPr>
              <a:t>, vol. 9, no. 1, pp. 136-147, Mar. 2020.</a:t>
            </a:r>
            <a:endParaRPr lang="en-US" sz="1600" dirty="0"/>
          </a:p>
          <a:p>
            <a:endParaRPr lang="en-US" sz="1600" dirty="0">
              <a:latin typeface="Times New Roman"/>
              <a:cs typeface="Times New Roman"/>
            </a:endParaRPr>
          </a:p>
          <a:p>
            <a:r>
              <a:rPr lang="en-US" sz="1600" dirty="0">
                <a:latin typeface="Times New Roman"/>
                <a:cs typeface="Times New Roman"/>
              </a:rPr>
              <a:t>[8] D. Forrest and I. G. McHale, "Using statistics to detect match fixing in sport," </a:t>
            </a:r>
            <a:r>
              <a:rPr lang="en-US" sz="1600" i="1" dirty="0">
                <a:latin typeface="Times New Roman"/>
                <a:cs typeface="Times New Roman"/>
              </a:rPr>
              <a:t>IMA Journal of Management Mathematics</a:t>
            </a:r>
            <a:r>
              <a:rPr lang="en-US" sz="1600" dirty="0">
                <a:latin typeface="Times New Roman"/>
                <a:cs typeface="Times New Roman"/>
              </a:rPr>
              <a:t>, vol. 30, no. 4, pp. 431–449, Oct. 2019.</a:t>
            </a:r>
            <a:endParaRPr lang="en-US" sz="1600" dirty="0"/>
          </a:p>
          <a:p>
            <a:endParaRPr lang="en-US" sz="1600" dirty="0">
              <a:latin typeface="Times New Roman"/>
              <a:cs typeface="Times New Roman"/>
            </a:endParaRPr>
          </a:p>
          <a:p>
            <a:r>
              <a:rPr lang="en-US" sz="1600" dirty="0">
                <a:latin typeface="Times New Roman"/>
                <a:cs typeface="Times New Roman"/>
              </a:rPr>
              <a:t>[9] A. Gupta, "Brand Bets: Unveiling the Marketing Magic Behind Online Gambling's Success," </a:t>
            </a:r>
            <a:r>
              <a:rPr lang="en-US" sz="1600" i="1" dirty="0">
                <a:latin typeface="Times New Roman"/>
                <a:cs typeface="Times New Roman"/>
              </a:rPr>
              <a:t>International Journal of Marketing &amp; Business Communication</a:t>
            </a:r>
            <a:r>
              <a:rPr lang="en-US" sz="1600" dirty="0">
                <a:latin typeface="Times New Roman"/>
                <a:cs typeface="Times New Roman"/>
              </a:rPr>
              <a:t>, vol. 11, no. 1, pp. 1-10, Jan. 2022.</a:t>
            </a:r>
            <a:endParaRPr lang="en-US" sz="1600" dirty="0"/>
          </a:p>
          <a:p>
            <a:endParaRPr lang="en-US" sz="1600" dirty="0">
              <a:latin typeface="Times New Roman"/>
              <a:cs typeface="Times New Roman"/>
            </a:endParaRPr>
          </a:p>
          <a:p>
            <a:r>
              <a:rPr lang="en-US" sz="1600" dirty="0">
                <a:latin typeface="Times New Roman"/>
                <a:cs typeface="Times New Roman"/>
              </a:rPr>
              <a:t>[10] A. S. Panicker and S. S. Kumar, "Legalizing Cricket Betting in India: A Comparative Analysis with the United Kingdom and Australia," </a:t>
            </a:r>
            <a:r>
              <a:rPr lang="en-US" sz="1600" i="1" dirty="0">
                <a:latin typeface="Times New Roman"/>
                <a:cs typeface="Times New Roman"/>
              </a:rPr>
              <a:t>International Journal of Law Management &amp; Humanities</a:t>
            </a:r>
            <a:r>
              <a:rPr lang="en-US" sz="1600" dirty="0">
                <a:latin typeface="Times New Roman"/>
                <a:cs typeface="Times New Roman"/>
              </a:rPr>
              <a:t>, vol. 5, no. 3, pp. 138-150, 2022.</a:t>
            </a:r>
            <a:endParaRPr lang="en-US" sz="1600" dirty="0"/>
          </a:p>
          <a:p>
            <a:pPr algn="l"/>
            <a:endParaRPr lang="en-US" sz="2400" dirty="0"/>
          </a:p>
        </p:txBody>
      </p:sp>
      <p:sp>
        <p:nvSpPr>
          <p:cNvPr id="3" name="TextBox 2">
            <a:extLst>
              <a:ext uri="{FF2B5EF4-FFF2-40B4-BE49-F238E27FC236}">
                <a16:creationId xmlns:a16="http://schemas.microsoft.com/office/drawing/2014/main" xmlns="" id="{C8DC217E-46CC-3CA0-0686-D70F4A9D197B}"/>
              </a:ext>
            </a:extLst>
          </p:cNvPr>
          <p:cNvSpPr txBox="1"/>
          <p:nvPr/>
        </p:nvSpPr>
        <p:spPr>
          <a:xfrm>
            <a:off x="2833596" y="911560"/>
            <a:ext cx="347910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Times New Roman"/>
              </a:rPr>
              <a:t>REFRENCES Contd.</a:t>
            </a:r>
          </a:p>
        </p:txBody>
      </p:sp>
    </p:spTree>
    <p:extLst>
      <p:ext uri="{BB962C8B-B14F-4D97-AF65-F5344CB8AC3E}">
        <p14:creationId xmlns:p14="http://schemas.microsoft.com/office/powerpoint/2010/main" val="3230375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635</TotalTime>
  <Words>1763</Words>
  <Application>Microsoft Office PowerPoint</Application>
  <PresentationFormat>On-screen Show (4:3)</PresentationFormat>
  <Paragraphs>182</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DejaVu Sans</vt:lpstr>
      <vt:lpstr>Lucida Sans</vt:lpstr>
      <vt:lpstr>Open Sans</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Principal</dc:creator>
  <dc:description/>
  <cp:lastModifiedBy>Microsoft account</cp:lastModifiedBy>
  <cp:revision>529</cp:revision>
  <dcterms:created xsi:type="dcterms:W3CDTF">2019-02-22T15:27:18Z</dcterms:created>
  <dcterms:modified xsi:type="dcterms:W3CDTF">2025-11-15T13:47:26Z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3</vt:i4>
  </property>
</Properties>
</file>