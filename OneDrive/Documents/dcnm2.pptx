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1" r:id="rId2"/>
  </p:sldMasterIdLst>
  <p:notesMasterIdLst>
    <p:notesMasterId r:id="rId65"/>
  </p:notesMasterIdLst>
  <p:sldIdLst>
    <p:sldId id="256" r:id="rId3"/>
    <p:sldId id="257" r:id="rId4"/>
    <p:sldId id="258" r:id="rId5"/>
    <p:sldId id="259" r:id="rId6"/>
    <p:sldId id="260" r:id="rId7"/>
    <p:sldId id="262" r:id="rId8"/>
    <p:sldId id="261" r:id="rId9"/>
    <p:sldId id="263" r:id="rId10"/>
    <p:sldId id="264" r:id="rId11"/>
    <p:sldId id="265" r:id="rId12"/>
    <p:sldId id="266" r:id="rId13"/>
    <p:sldId id="267" r:id="rId14"/>
    <p:sldId id="268" r:id="rId15"/>
    <p:sldId id="269" r:id="rId16"/>
    <p:sldId id="271" r:id="rId17"/>
    <p:sldId id="272" r:id="rId18"/>
    <p:sldId id="273" r:id="rId19"/>
    <p:sldId id="274" r:id="rId20"/>
    <p:sldId id="275" r:id="rId21"/>
    <p:sldId id="276" r:id="rId22"/>
    <p:sldId id="277" r:id="rId23"/>
    <p:sldId id="278" r:id="rId24"/>
    <p:sldId id="279" r:id="rId25"/>
    <p:sldId id="280" r:id="rId26"/>
    <p:sldId id="306" r:id="rId27"/>
    <p:sldId id="309" r:id="rId28"/>
    <p:sldId id="312" r:id="rId29"/>
    <p:sldId id="315" r:id="rId30"/>
    <p:sldId id="318" r:id="rId31"/>
    <p:sldId id="321" r:id="rId32"/>
    <p:sldId id="324" r:id="rId33"/>
    <p:sldId id="327" r:id="rId34"/>
    <p:sldId id="330" r:id="rId35"/>
    <p:sldId id="333" r:id="rId36"/>
    <p:sldId id="336" r:id="rId37"/>
    <p:sldId id="339" r:id="rId38"/>
    <p:sldId id="342" r:id="rId39"/>
    <p:sldId id="345" r:id="rId40"/>
    <p:sldId id="348" r:id="rId41"/>
    <p:sldId id="351" r:id="rId42"/>
    <p:sldId id="354" r:id="rId43"/>
    <p:sldId id="357" r:id="rId44"/>
    <p:sldId id="360" r:id="rId45"/>
    <p:sldId id="363" r:id="rId46"/>
    <p:sldId id="366" r:id="rId47"/>
    <p:sldId id="369" r:id="rId48"/>
    <p:sldId id="372" r:id="rId49"/>
    <p:sldId id="375" r:id="rId50"/>
    <p:sldId id="378" r:id="rId51"/>
    <p:sldId id="381" r:id="rId52"/>
    <p:sldId id="384" r:id="rId53"/>
    <p:sldId id="387" r:id="rId54"/>
    <p:sldId id="390" r:id="rId55"/>
    <p:sldId id="393" r:id="rId56"/>
    <p:sldId id="396" r:id="rId57"/>
    <p:sldId id="399" r:id="rId58"/>
    <p:sldId id="402" r:id="rId59"/>
    <p:sldId id="405" r:id="rId60"/>
    <p:sldId id="408" r:id="rId61"/>
    <p:sldId id="411" r:id="rId62"/>
    <p:sldId id="414" r:id="rId63"/>
    <p:sldId id="417" r:id="rId64"/>
  </p:sldIdLst>
  <p:sldSz cx="12192000" cy="6858000"/>
  <p:notesSz cx="6858000" cy="9144000"/>
  <p:custDataLst>
    <p:tags r:id="rId6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120" y="846"/>
      </p:cViewPr>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viewProps" Target="viewProps.xml"/><Relationship Id="rId7" Type="http://schemas.openxmlformats.org/officeDocument/2006/relationships/slide" Target="slides/slide5.xml"/><Relationship Id="rId71"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tags" Target="tags/tag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vitha D" userId="c845f4cbb7af092d" providerId="LiveId" clId="{A86BF639-28A2-4204-9B22-0920EA6B39CE}"/>
    <pc:docChg chg="custSel modSld">
      <pc:chgData name="Kavitha D" userId="c845f4cbb7af092d" providerId="LiveId" clId="{A86BF639-28A2-4204-9B22-0920EA6B39CE}" dt="2025-09-25T10:34:15.188" v="31" actId="14100"/>
      <pc:docMkLst>
        <pc:docMk/>
      </pc:docMkLst>
      <pc:sldChg chg="modSp mod">
        <pc:chgData name="Kavitha D" userId="c845f4cbb7af092d" providerId="LiveId" clId="{A86BF639-28A2-4204-9B22-0920EA6B39CE}" dt="2025-09-25T07:07:47.842" v="27" actId="20577"/>
        <pc:sldMkLst>
          <pc:docMk/>
          <pc:sldMk cId="1666715912" sldId="348"/>
        </pc:sldMkLst>
        <pc:spChg chg="mod">
          <ac:chgData name="Kavitha D" userId="c845f4cbb7af092d" providerId="LiveId" clId="{A86BF639-28A2-4204-9B22-0920EA6B39CE}" dt="2025-09-25T07:07:47.842" v="27" actId="20577"/>
          <ac:spMkLst>
            <pc:docMk/>
            <pc:sldMk cId="1666715912" sldId="348"/>
            <ac:spMk id="7" creationId="{EDCEB6CB-544D-3F0D-FF2F-ACC9DE41D9DA}"/>
          </ac:spMkLst>
        </pc:spChg>
      </pc:sldChg>
      <pc:sldChg chg="addSp modSp mod">
        <pc:chgData name="Kavitha D" userId="c845f4cbb7af092d" providerId="LiveId" clId="{A86BF639-28A2-4204-9B22-0920EA6B39CE}" dt="2025-09-25T10:34:15.188" v="31" actId="14100"/>
        <pc:sldMkLst>
          <pc:docMk/>
          <pc:sldMk cId="3102116584" sldId="357"/>
        </pc:sldMkLst>
        <pc:picChg chg="add mod">
          <ac:chgData name="Kavitha D" userId="c845f4cbb7af092d" providerId="LiveId" clId="{A86BF639-28A2-4204-9B22-0920EA6B39CE}" dt="2025-09-25T10:34:15.188" v="31" actId="14100"/>
          <ac:picMkLst>
            <pc:docMk/>
            <pc:sldMk cId="3102116584" sldId="357"/>
            <ac:picMk id="3" creationId="{7987F0E1-AF04-6D20-2387-70C98CB353D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3F4ED9-E0DA-4AD3-BE70-70B9C5E2FA3F}" type="datetimeFigureOut">
              <a:rPr lang="en-IN" smtClean="0"/>
              <a:t>07-10-2025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353400-FE9E-4F0A-BCA5-87E518CB5FCA}" type="slidenum">
              <a:rPr lang="en-IN" smtClean="0"/>
              <a:t>‹#›</a:t>
            </a:fld>
            <a:endParaRPr lang="en-IN"/>
          </a:p>
        </p:txBody>
      </p:sp>
    </p:spTree>
    <p:extLst>
      <p:ext uri="{BB962C8B-B14F-4D97-AF65-F5344CB8AC3E}">
        <p14:creationId xmlns:p14="http://schemas.microsoft.com/office/powerpoint/2010/main" val="2963493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F3353400-FE9E-4F0A-BCA5-87E518CB5FCA}" type="slidenum">
              <a:rPr lang="en-IN" smtClean="0"/>
              <a:t>39</a:t>
            </a:fld>
            <a:endParaRPr lang="en-IN"/>
          </a:p>
        </p:txBody>
      </p:sp>
    </p:spTree>
    <p:extLst>
      <p:ext uri="{BB962C8B-B14F-4D97-AF65-F5344CB8AC3E}">
        <p14:creationId xmlns:p14="http://schemas.microsoft.com/office/powerpoint/2010/main" val="10330046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F3353400-FE9E-4F0A-BCA5-87E518CB5FCA}" type="slidenum">
              <a:rPr lang="en-IN" smtClean="0"/>
              <a:t>42</a:t>
            </a:fld>
            <a:endParaRPr lang="en-IN"/>
          </a:p>
        </p:txBody>
      </p:sp>
    </p:spTree>
    <p:extLst>
      <p:ext uri="{BB962C8B-B14F-4D97-AF65-F5344CB8AC3E}">
        <p14:creationId xmlns:p14="http://schemas.microsoft.com/office/powerpoint/2010/main" val="22494288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6CEB7C2-334F-B2B3-4FDB-51E251F4A5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FB68D9BD-6F74-6B3C-654B-5951C73A7B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706D1F0D-01BF-09B0-3203-E898C35E6B75}"/>
              </a:ext>
            </a:extLst>
          </p:cNvPr>
          <p:cNvSpPr>
            <a:spLocks noGrp="1"/>
          </p:cNvSpPr>
          <p:nvPr>
            <p:ph type="dt" sz="half" idx="10"/>
          </p:nvPr>
        </p:nvSpPr>
        <p:spPr/>
        <p:txBody>
          <a:bodyPr/>
          <a:lstStyle/>
          <a:p>
            <a:fld id="{80CC4309-B1E8-465C-80E9-7DE3BAEC2330}" type="datetimeFigureOut">
              <a:rPr lang="en-IN" smtClean="0"/>
              <a:t>07-10-2025</a:t>
            </a:fld>
            <a:endParaRPr lang="en-IN"/>
          </a:p>
        </p:txBody>
      </p:sp>
      <p:sp>
        <p:nvSpPr>
          <p:cNvPr id="5" name="Footer Placeholder 4">
            <a:extLst>
              <a:ext uri="{FF2B5EF4-FFF2-40B4-BE49-F238E27FC236}">
                <a16:creationId xmlns:a16="http://schemas.microsoft.com/office/drawing/2014/main" xmlns="" id="{C8403230-A408-E13E-82A9-9D0C8C59B2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EDB47D2D-F3D8-0D62-AA01-BB90538E85F3}"/>
              </a:ext>
            </a:extLst>
          </p:cNvPr>
          <p:cNvSpPr>
            <a:spLocks noGrp="1"/>
          </p:cNvSpPr>
          <p:nvPr>
            <p:ph type="sldNum" sz="quarter" idx="12"/>
          </p:nvPr>
        </p:nvSpPr>
        <p:spPr/>
        <p:txBody>
          <a:bodyPr/>
          <a:lstStyle/>
          <a:p>
            <a:fld id="{1D7301F7-6AE8-43EF-BA4A-90C6AF7C56FC}" type="slidenum">
              <a:rPr lang="en-IN" smtClean="0"/>
              <a:t>‹#›</a:t>
            </a:fld>
            <a:endParaRPr lang="en-IN"/>
          </a:p>
        </p:txBody>
      </p:sp>
    </p:spTree>
    <p:extLst>
      <p:ext uri="{BB962C8B-B14F-4D97-AF65-F5344CB8AC3E}">
        <p14:creationId xmlns:p14="http://schemas.microsoft.com/office/powerpoint/2010/main" val="92756722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95638E0-7A52-0BD1-CB7E-5A6E751B875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BA398B9A-A3A9-69AA-BEB9-87D9B8F75E1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68EFEADC-4BFD-B234-D628-E8E5DBC4A609}"/>
              </a:ext>
            </a:extLst>
          </p:cNvPr>
          <p:cNvSpPr>
            <a:spLocks noGrp="1"/>
          </p:cNvSpPr>
          <p:nvPr>
            <p:ph type="dt" sz="half" idx="10"/>
          </p:nvPr>
        </p:nvSpPr>
        <p:spPr/>
        <p:txBody>
          <a:bodyPr/>
          <a:lstStyle/>
          <a:p>
            <a:fld id="{80CC4309-B1E8-465C-80E9-7DE3BAEC2330}" type="datetimeFigureOut">
              <a:rPr lang="en-IN" smtClean="0"/>
              <a:t>07-10-2025</a:t>
            </a:fld>
            <a:endParaRPr lang="en-IN"/>
          </a:p>
        </p:txBody>
      </p:sp>
      <p:sp>
        <p:nvSpPr>
          <p:cNvPr id="5" name="Footer Placeholder 4">
            <a:extLst>
              <a:ext uri="{FF2B5EF4-FFF2-40B4-BE49-F238E27FC236}">
                <a16:creationId xmlns:a16="http://schemas.microsoft.com/office/drawing/2014/main" xmlns="" id="{D7E53E1D-5FD7-66A3-4CC6-4D1AF2CDEA5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044A76FE-672C-2E59-BF2A-658623C13788}"/>
              </a:ext>
            </a:extLst>
          </p:cNvPr>
          <p:cNvSpPr>
            <a:spLocks noGrp="1"/>
          </p:cNvSpPr>
          <p:nvPr>
            <p:ph type="sldNum" sz="quarter" idx="12"/>
          </p:nvPr>
        </p:nvSpPr>
        <p:spPr/>
        <p:txBody>
          <a:bodyPr/>
          <a:lstStyle/>
          <a:p>
            <a:fld id="{1D7301F7-6AE8-43EF-BA4A-90C6AF7C56FC}" type="slidenum">
              <a:rPr lang="en-IN" smtClean="0"/>
              <a:t>‹#›</a:t>
            </a:fld>
            <a:endParaRPr lang="en-IN"/>
          </a:p>
        </p:txBody>
      </p:sp>
    </p:spTree>
    <p:extLst>
      <p:ext uri="{BB962C8B-B14F-4D97-AF65-F5344CB8AC3E}">
        <p14:creationId xmlns:p14="http://schemas.microsoft.com/office/powerpoint/2010/main" val="674773851"/>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0CD983C-03A9-1ADE-717E-8D0106F61C7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49DB6F2F-09FA-2487-F73F-535CD5A43CB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C085196C-5B98-B1F2-12EE-F04F605E4F3C}"/>
              </a:ext>
            </a:extLst>
          </p:cNvPr>
          <p:cNvSpPr>
            <a:spLocks noGrp="1"/>
          </p:cNvSpPr>
          <p:nvPr>
            <p:ph type="dt" sz="half" idx="10"/>
          </p:nvPr>
        </p:nvSpPr>
        <p:spPr/>
        <p:txBody>
          <a:bodyPr/>
          <a:lstStyle/>
          <a:p>
            <a:fld id="{80CC4309-B1E8-465C-80E9-7DE3BAEC2330}" type="datetimeFigureOut">
              <a:rPr lang="en-IN" smtClean="0"/>
              <a:t>07-10-2025</a:t>
            </a:fld>
            <a:endParaRPr lang="en-IN"/>
          </a:p>
        </p:txBody>
      </p:sp>
      <p:sp>
        <p:nvSpPr>
          <p:cNvPr id="5" name="Footer Placeholder 4">
            <a:extLst>
              <a:ext uri="{FF2B5EF4-FFF2-40B4-BE49-F238E27FC236}">
                <a16:creationId xmlns:a16="http://schemas.microsoft.com/office/drawing/2014/main" xmlns="" id="{4CFD5060-6845-56A0-C98C-1003142B86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A2B1E526-01B0-AE26-94CE-B2548BB81DE7}"/>
              </a:ext>
            </a:extLst>
          </p:cNvPr>
          <p:cNvSpPr>
            <a:spLocks noGrp="1"/>
          </p:cNvSpPr>
          <p:nvPr>
            <p:ph type="sldNum" sz="quarter" idx="12"/>
          </p:nvPr>
        </p:nvSpPr>
        <p:spPr/>
        <p:txBody>
          <a:bodyPr/>
          <a:lstStyle/>
          <a:p>
            <a:fld id="{1D7301F7-6AE8-43EF-BA4A-90C6AF7C56FC}" type="slidenum">
              <a:rPr lang="en-IN" smtClean="0"/>
              <a:t>‹#›</a:t>
            </a:fld>
            <a:endParaRPr lang="en-IN"/>
          </a:p>
        </p:txBody>
      </p:sp>
    </p:spTree>
    <p:extLst>
      <p:ext uri="{BB962C8B-B14F-4D97-AF65-F5344CB8AC3E}">
        <p14:creationId xmlns:p14="http://schemas.microsoft.com/office/powerpoint/2010/main" val="2231250958"/>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0FB2978-E9CD-3D6F-3F75-EFBD22541D5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084C06FF-65BC-F5E9-9303-E826A573CB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CC47ED4E-D1BA-37A2-B646-2E61FF51BCD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F7512023-D820-F992-C7A4-21A17E0D42F6}"/>
              </a:ext>
            </a:extLst>
          </p:cNvPr>
          <p:cNvSpPr>
            <a:spLocks noGrp="1"/>
          </p:cNvSpPr>
          <p:nvPr>
            <p:ph type="dt" sz="half" idx="10"/>
          </p:nvPr>
        </p:nvSpPr>
        <p:spPr/>
        <p:txBody>
          <a:bodyPr/>
          <a:lstStyle/>
          <a:p>
            <a:fld id="{80CC4309-B1E8-465C-80E9-7DE3BAEC2330}" type="datetimeFigureOut">
              <a:rPr lang="en-IN" smtClean="0"/>
              <a:t>07-10-2025</a:t>
            </a:fld>
            <a:endParaRPr lang="en-IN"/>
          </a:p>
        </p:txBody>
      </p:sp>
      <p:sp>
        <p:nvSpPr>
          <p:cNvPr id="6" name="Footer Placeholder 5">
            <a:extLst>
              <a:ext uri="{FF2B5EF4-FFF2-40B4-BE49-F238E27FC236}">
                <a16:creationId xmlns:a16="http://schemas.microsoft.com/office/drawing/2014/main" xmlns="" id="{C2EC8419-2806-6CB8-CAA7-894BFE552B4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D72064C7-29B6-71D5-48EE-29D31D099299}"/>
              </a:ext>
            </a:extLst>
          </p:cNvPr>
          <p:cNvSpPr>
            <a:spLocks noGrp="1"/>
          </p:cNvSpPr>
          <p:nvPr>
            <p:ph type="sldNum" sz="quarter" idx="12"/>
          </p:nvPr>
        </p:nvSpPr>
        <p:spPr/>
        <p:txBody>
          <a:bodyPr/>
          <a:lstStyle/>
          <a:p>
            <a:fld id="{1D7301F7-6AE8-43EF-BA4A-90C6AF7C56FC}" type="slidenum">
              <a:rPr lang="en-IN" smtClean="0"/>
              <a:t>‹#›</a:t>
            </a:fld>
            <a:endParaRPr lang="en-IN"/>
          </a:p>
        </p:txBody>
      </p:sp>
    </p:spTree>
    <p:extLst>
      <p:ext uri="{BB962C8B-B14F-4D97-AF65-F5344CB8AC3E}">
        <p14:creationId xmlns:p14="http://schemas.microsoft.com/office/powerpoint/2010/main" val="779495482"/>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3AA3CE9-4C9C-9800-9A61-5EFBD0CFB27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2F449283-286C-E7BA-4DA7-99FD064357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DB8D55C6-7F31-7DA0-EF39-17E21BED252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CAFB3B8E-7F1A-E0D9-649E-28CAF24D13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32160EA8-2A2D-5479-CD91-EB602CE4276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F127B0BB-26A7-D5A0-06C2-1B33E2CEF8FC}"/>
              </a:ext>
            </a:extLst>
          </p:cNvPr>
          <p:cNvSpPr>
            <a:spLocks noGrp="1"/>
          </p:cNvSpPr>
          <p:nvPr>
            <p:ph type="dt" sz="half" idx="10"/>
          </p:nvPr>
        </p:nvSpPr>
        <p:spPr/>
        <p:txBody>
          <a:bodyPr/>
          <a:lstStyle/>
          <a:p>
            <a:fld id="{80CC4309-B1E8-465C-80E9-7DE3BAEC2330}" type="datetimeFigureOut">
              <a:rPr lang="en-IN" smtClean="0"/>
              <a:t>07-10-2025</a:t>
            </a:fld>
            <a:endParaRPr lang="en-IN"/>
          </a:p>
        </p:txBody>
      </p:sp>
      <p:sp>
        <p:nvSpPr>
          <p:cNvPr id="8" name="Footer Placeholder 7">
            <a:extLst>
              <a:ext uri="{FF2B5EF4-FFF2-40B4-BE49-F238E27FC236}">
                <a16:creationId xmlns:a16="http://schemas.microsoft.com/office/drawing/2014/main" xmlns="" id="{3BB19E42-3DBB-8A1B-C7C6-0B8BB410750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006028C0-CC32-B944-640E-225B3BB3E72F}"/>
              </a:ext>
            </a:extLst>
          </p:cNvPr>
          <p:cNvSpPr>
            <a:spLocks noGrp="1"/>
          </p:cNvSpPr>
          <p:nvPr>
            <p:ph type="sldNum" sz="quarter" idx="12"/>
          </p:nvPr>
        </p:nvSpPr>
        <p:spPr/>
        <p:txBody>
          <a:bodyPr/>
          <a:lstStyle/>
          <a:p>
            <a:fld id="{1D7301F7-6AE8-43EF-BA4A-90C6AF7C56FC}" type="slidenum">
              <a:rPr lang="en-IN" smtClean="0"/>
              <a:t>‹#›</a:t>
            </a:fld>
            <a:endParaRPr lang="en-IN"/>
          </a:p>
        </p:txBody>
      </p:sp>
    </p:spTree>
    <p:extLst>
      <p:ext uri="{BB962C8B-B14F-4D97-AF65-F5344CB8AC3E}">
        <p14:creationId xmlns:p14="http://schemas.microsoft.com/office/powerpoint/2010/main" val="467590399"/>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430B6E6-DC83-B919-81D0-D79E1CF69CE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B7214315-FFBA-1BEF-93E2-9B4E040A1D58}"/>
              </a:ext>
            </a:extLst>
          </p:cNvPr>
          <p:cNvSpPr>
            <a:spLocks noGrp="1"/>
          </p:cNvSpPr>
          <p:nvPr>
            <p:ph type="dt" sz="half" idx="10"/>
          </p:nvPr>
        </p:nvSpPr>
        <p:spPr/>
        <p:txBody>
          <a:bodyPr/>
          <a:lstStyle/>
          <a:p>
            <a:fld id="{80CC4309-B1E8-465C-80E9-7DE3BAEC2330}" type="datetimeFigureOut">
              <a:rPr lang="en-IN" smtClean="0"/>
              <a:t>07-10-2025</a:t>
            </a:fld>
            <a:endParaRPr lang="en-IN"/>
          </a:p>
        </p:txBody>
      </p:sp>
      <p:sp>
        <p:nvSpPr>
          <p:cNvPr id="4" name="Footer Placeholder 3">
            <a:extLst>
              <a:ext uri="{FF2B5EF4-FFF2-40B4-BE49-F238E27FC236}">
                <a16:creationId xmlns:a16="http://schemas.microsoft.com/office/drawing/2014/main" xmlns="" id="{03E23184-9787-1BDF-274C-60F85313D0D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3F387BE3-849B-E460-4BA4-9F60C4CC30EB}"/>
              </a:ext>
            </a:extLst>
          </p:cNvPr>
          <p:cNvSpPr>
            <a:spLocks noGrp="1"/>
          </p:cNvSpPr>
          <p:nvPr>
            <p:ph type="sldNum" sz="quarter" idx="12"/>
          </p:nvPr>
        </p:nvSpPr>
        <p:spPr/>
        <p:txBody>
          <a:bodyPr/>
          <a:lstStyle/>
          <a:p>
            <a:fld id="{1D7301F7-6AE8-43EF-BA4A-90C6AF7C56FC}" type="slidenum">
              <a:rPr lang="en-IN" smtClean="0"/>
              <a:t>‹#›</a:t>
            </a:fld>
            <a:endParaRPr lang="en-IN"/>
          </a:p>
        </p:txBody>
      </p:sp>
    </p:spTree>
    <p:extLst>
      <p:ext uri="{BB962C8B-B14F-4D97-AF65-F5344CB8AC3E}">
        <p14:creationId xmlns:p14="http://schemas.microsoft.com/office/powerpoint/2010/main" val="1923215257"/>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16402B60-546D-39B4-45F0-01B281A01672}"/>
              </a:ext>
            </a:extLst>
          </p:cNvPr>
          <p:cNvSpPr>
            <a:spLocks noGrp="1"/>
          </p:cNvSpPr>
          <p:nvPr>
            <p:ph type="dt" sz="half" idx="10"/>
          </p:nvPr>
        </p:nvSpPr>
        <p:spPr/>
        <p:txBody>
          <a:bodyPr/>
          <a:lstStyle/>
          <a:p>
            <a:fld id="{80CC4309-B1E8-465C-80E9-7DE3BAEC2330}" type="datetimeFigureOut">
              <a:rPr lang="en-IN" smtClean="0"/>
              <a:t>07-10-2025</a:t>
            </a:fld>
            <a:endParaRPr lang="en-IN"/>
          </a:p>
        </p:txBody>
      </p:sp>
      <p:sp>
        <p:nvSpPr>
          <p:cNvPr id="3" name="Footer Placeholder 2">
            <a:extLst>
              <a:ext uri="{FF2B5EF4-FFF2-40B4-BE49-F238E27FC236}">
                <a16:creationId xmlns:a16="http://schemas.microsoft.com/office/drawing/2014/main" xmlns="" id="{F5BA855D-E65A-93D5-B595-E5A4D3FACC7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1A6ACAEC-2201-036D-038B-22573227CFA3}"/>
              </a:ext>
            </a:extLst>
          </p:cNvPr>
          <p:cNvSpPr>
            <a:spLocks noGrp="1"/>
          </p:cNvSpPr>
          <p:nvPr>
            <p:ph type="sldNum" sz="quarter" idx="12"/>
          </p:nvPr>
        </p:nvSpPr>
        <p:spPr/>
        <p:txBody>
          <a:bodyPr/>
          <a:lstStyle/>
          <a:p>
            <a:fld id="{1D7301F7-6AE8-43EF-BA4A-90C6AF7C56FC}" type="slidenum">
              <a:rPr lang="en-IN" smtClean="0"/>
              <a:t>‹#›</a:t>
            </a:fld>
            <a:endParaRPr lang="en-IN"/>
          </a:p>
        </p:txBody>
      </p:sp>
    </p:spTree>
    <p:extLst>
      <p:ext uri="{BB962C8B-B14F-4D97-AF65-F5344CB8AC3E}">
        <p14:creationId xmlns:p14="http://schemas.microsoft.com/office/powerpoint/2010/main" val="1708483191"/>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D5EABA3-9A4B-6ADA-9B01-C9ED491A0F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CF615284-98AA-9E84-3F2C-E7F3EA9E7B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3B2F7810-11D4-085F-3AD6-7C6970AFD5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E2BC68FB-7078-D1FB-9C62-6C7B4151E80D}"/>
              </a:ext>
            </a:extLst>
          </p:cNvPr>
          <p:cNvSpPr>
            <a:spLocks noGrp="1"/>
          </p:cNvSpPr>
          <p:nvPr>
            <p:ph type="dt" sz="half" idx="10"/>
          </p:nvPr>
        </p:nvSpPr>
        <p:spPr/>
        <p:txBody>
          <a:bodyPr/>
          <a:lstStyle/>
          <a:p>
            <a:fld id="{80CC4309-B1E8-465C-80E9-7DE3BAEC2330}" type="datetimeFigureOut">
              <a:rPr lang="en-IN" smtClean="0"/>
              <a:t>07-10-2025</a:t>
            </a:fld>
            <a:endParaRPr lang="en-IN"/>
          </a:p>
        </p:txBody>
      </p:sp>
      <p:sp>
        <p:nvSpPr>
          <p:cNvPr id="6" name="Footer Placeholder 5">
            <a:extLst>
              <a:ext uri="{FF2B5EF4-FFF2-40B4-BE49-F238E27FC236}">
                <a16:creationId xmlns:a16="http://schemas.microsoft.com/office/drawing/2014/main" xmlns="" id="{5B55B884-C6AD-60ED-09B1-BC26B436992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056091C4-4D99-43EF-32FB-061E2B9FFEC9}"/>
              </a:ext>
            </a:extLst>
          </p:cNvPr>
          <p:cNvSpPr>
            <a:spLocks noGrp="1"/>
          </p:cNvSpPr>
          <p:nvPr>
            <p:ph type="sldNum" sz="quarter" idx="12"/>
          </p:nvPr>
        </p:nvSpPr>
        <p:spPr/>
        <p:txBody>
          <a:bodyPr/>
          <a:lstStyle/>
          <a:p>
            <a:fld id="{1D7301F7-6AE8-43EF-BA4A-90C6AF7C56FC}" type="slidenum">
              <a:rPr lang="en-IN" smtClean="0"/>
              <a:t>‹#›</a:t>
            </a:fld>
            <a:endParaRPr lang="en-IN"/>
          </a:p>
        </p:txBody>
      </p:sp>
    </p:spTree>
    <p:extLst>
      <p:ext uri="{BB962C8B-B14F-4D97-AF65-F5344CB8AC3E}">
        <p14:creationId xmlns:p14="http://schemas.microsoft.com/office/powerpoint/2010/main" val="2218459836"/>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86856F-678C-A44E-BD80-CAAED7A204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7F998DC9-8702-C572-10EB-09E30F09D6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0C3F2B7C-1DE3-8691-C60F-CF38053308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76F0F854-B260-A6CC-8352-02414F434357}"/>
              </a:ext>
            </a:extLst>
          </p:cNvPr>
          <p:cNvSpPr>
            <a:spLocks noGrp="1"/>
          </p:cNvSpPr>
          <p:nvPr>
            <p:ph type="dt" sz="half" idx="10"/>
          </p:nvPr>
        </p:nvSpPr>
        <p:spPr/>
        <p:txBody>
          <a:bodyPr/>
          <a:lstStyle/>
          <a:p>
            <a:fld id="{80CC4309-B1E8-465C-80E9-7DE3BAEC2330}" type="datetimeFigureOut">
              <a:rPr lang="en-IN" smtClean="0"/>
              <a:t>07-10-2025</a:t>
            </a:fld>
            <a:endParaRPr lang="en-IN"/>
          </a:p>
        </p:txBody>
      </p:sp>
      <p:sp>
        <p:nvSpPr>
          <p:cNvPr id="6" name="Footer Placeholder 5">
            <a:extLst>
              <a:ext uri="{FF2B5EF4-FFF2-40B4-BE49-F238E27FC236}">
                <a16:creationId xmlns:a16="http://schemas.microsoft.com/office/drawing/2014/main" xmlns="" id="{5597A94F-230D-5C67-B76F-EC8D467D503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5687B674-EE7C-1816-F6EE-ED331358AA56}"/>
              </a:ext>
            </a:extLst>
          </p:cNvPr>
          <p:cNvSpPr>
            <a:spLocks noGrp="1"/>
          </p:cNvSpPr>
          <p:nvPr>
            <p:ph type="sldNum" sz="quarter" idx="12"/>
          </p:nvPr>
        </p:nvSpPr>
        <p:spPr/>
        <p:txBody>
          <a:bodyPr/>
          <a:lstStyle/>
          <a:p>
            <a:fld id="{1D7301F7-6AE8-43EF-BA4A-90C6AF7C56FC}" type="slidenum">
              <a:rPr lang="en-IN" smtClean="0"/>
              <a:t>‹#›</a:t>
            </a:fld>
            <a:endParaRPr lang="en-IN"/>
          </a:p>
        </p:txBody>
      </p:sp>
    </p:spTree>
    <p:extLst>
      <p:ext uri="{BB962C8B-B14F-4D97-AF65-F5344CB8AC3E}">
        <p14:creationId xmlns:p14="http://schemas.microsoft.com/office/powerpoint/2010/main" val="1427408307"/>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6E2F096-B3DA-CB62-E2DD-57117184E4A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61693458-3F4F-2225-9B90-D41D8F5C36C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48D191AD-1B3C-5619-3E8D-8F53C82B5F33}"/>
              </a:ext>
            </a:extLst>
          </p:cNvPr>
          <p:cNvSpPr>
            <a:spLocks noGrp="1"/>
          </p:cNvSpPr>
          <p:nvPr>
            <p:ph type="dt" sz="half" idx="10"/>
          </p:nvPr>
        </p:nvSpPr>
        <p:spPr/>
        <p:txBody>
          <a:bodyPr/>
          <a:lstStyle/>
          <a:p>
            <a:fld id="{80CC4309-B1E8-465C-80E9-7DE3BAEC2330}" type="datetimeFigureOut">
              <a:rPr lang="en-IN" smtClean="0"/>
              <a:t>07-10-2025</a:t>
            </a:fld>
            <a:endParaRPr lang="en-IN"/>
          </a:p>
        </p:txBody>
      </p:sp>
      <p:sp>
        <p:nvSpPr>
          <p:cNvPr id="5" name="Footer Placeholder 4">
            <a:extLst>
              <a:ext uri="{FF2B5EF4-FFF2-40B4-BE49-F238E27FC236}">
                <a16:creationId xmlns:a16="http://schemas.microsoft.com/office/drawing/2014/main" xmlns="" id="{A863C9A0-F2C1-6775-9C52-4C3C74E410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D6DD3BDC-A02A-B299-7E28-5F13D60B78FA}"/>
              </a:ext>
            </a:extLst>
          </p:cNvPr>
          <p:cNvSpPr>
            <a:spLocks noGrp="1"/>
          </p:cNvSpPr>
          <p:nvPr>
            <p:ph type="sldNum" sz="quarter" idx="12"/>
          </p:nvPr>
        </p:nvSpPr>
        <p:spPr/>
        <p:txBody>
          <a:bodyPr/>
          <a:lstStyle/>
          <a:p>
            <a:fld id="{1D7301F7-6AE8-43EF-BA4A-90C6AF7C56FC}" type="slidenum">
              <a:rPr lang="en-IN" smtClean="0"/>
              <a:t>‹#›</a:t>
            </a:fld>
            <a:endParaRPr lang="en-IN"/>
          </a:p>
        </p:txBody>
      </p:sp>
    </p:spTree>
    <p:extLst>
      <p:ext uri="{BB962C8B-B14F-4D97-AF65-F5344CB8AC3E}">
        <p14:creationId xmlns:p14="http://schemas.microsoft.com/office/powerpoint/2010/main" val="2220718210"/>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7E2733E6-EDA1-5311-F9C1-ED242CCC1DB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7D6472F7-E5D8-2A18-C83B-DF8CF2D0826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3D1064FB-AB77-695D-BADB-0B1D2F350558}"/>
              </a:ext>
            </a:extLst>
          </p:cNvPr>
          <p:cNvSpPr>
            <a:spLocks noGrp="1"/>
          </p:cNvSpPr>
          <p:nvPr>
            <p:ph type="dt" sz="half" idx="10"/>
          </p:nvPr>
        </p:nvSpPr>
        <p:spPr/>
        <p:txBody>
          <a:bodyPr/>
          <a:lstStyle/>
          <a:p>
            <a:fld id="{80CC4309-B1E8-465C-80E9-7DE3BAEC2330}" type="datetimeFigureOut">
              <a:rPr lang="en-IN" smtClean="0"/>
              <a:t>07-10-2025</a:t>
            </a:fld>
            <a:endParaRPr lang="en-IN"/>
          </a:p>
        </p:txBody>
      </p:sp>
      <p:sp>
        <p:nvSpPr>
          <p:cNvPr id="5" name="Footer Placeholder 4">
            <a:extLst>
              <a:ext uri="{FF2B5EF4-FFF2-40B4-BE49-F238E27FC236}">
                <a16:creationId xmlns:a16="http://schemas.microsoft.com/office/drawing/2014/main" xmlns="" id="{36858E91-61CE-A721-DC8B-BBF7D9D5760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8B7C76C0-51D9-5C3F-0F90-7DBB334D8027}"/>
              </a:ext>
            </a:extLst>
          </p:cNvPr>
          <p:cNvSpPr>
            <a:spLocks noGrp="1"/>
          </p:cNvSpPr>
          <p:nvPr>
            <p:ph type="sldNum" sz="quarter" idx="12"/>
          </p:nvPr>
        </p:nvSpPr>
        <p:spPr/>
        <p:txBody>
          <a:bodyPr/>
          <a:lstStyle/>
          <a:p>
            <a:fld id="{1D7301F7-6AE8-43EF-BA4A-90C6AF7C56FC}" type="slidenum">
              <a:rPr lang="en-IN" smtClean="0"/>
              <a:t>‹#›</a:t>
            </a:fld>
            <a:endParaRPr lang="en-IN"/>
          </a:p>
        </p:txBody>
      </p:sp>
    </p:spTree>
    <p:extLst>
      <p:ext uri="{BB962C8B-B14F-4D97-AF65-F5344CB8AC3E}">
        <p14:creationId xmlns:p14="http://schemas.microsoft.com/office/powerpoint/2010/main" val="3475976767"/>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01BB73A-2ACA-ABCD-2EFA-3B9B2B5E5D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BF4BEFFF-C1DE-BFC3-A966-F37E0D1C21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96501E35-818C-2DBD-256E-A782AC7ED7B4}"/>
              </a:ext>
            </a:extLst>
          </p:cNvPr>
          <p:cNvSpPr>
            <a:spLocks noGrp="1"/>
          </p:cNvSpPr>
          <p:nvPr>
            <p:ph type="dt" sz="half" idx="10"/>
          </p:nvPr>
        </p:nvSpPr>
        <p:spPr/>
        <p:txBody>
          <a:bodyPr/>
          <a:lstStyle/>
          <a:p>
            <a:fld id="{BCE7B8B4-93C3-4FF1-B18F-57CFB518327B}" type="datetimeFigureOut">
              <a:rPr lang="en-IN" smtClean="0"/>
              <a:t>07-10-2025</a:t>
            </a:fld>
            <a:endParaRPr lang="en-IN"/>
          </a:p>
        </p:txBody>
      </p:sp>
      <p:sp>
        <p:nvSpPr>
          <p:cNvPr id="5" name="Footer Placeholder 4">
            <a:extLst>
              <a:ext uri="{FF2B5EF4-FFF2-40B4-BE49-F238E27FC236}">
                <a16:creationId xmlns:a16="http://schemas.microsoft.com/office/drawing/2014/main" xmlns="" id="{410E63EB-AC0F-3E19-A0BD-ED95A7713E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0ACCB22B-91D6-61FA-F212-8B6E8B3EAE55}"/>
              </a:ext>
            </a:extLst>
          </p:cNvPr>
          <p:cNvSpPr>
            <a:spLocks noGrp="1"/>
          </p:cNvSpPr>
          <p:nvPr>
            <p:ph type="sldNum" sz="quarter" idx="12"/>
          </p:nvPr>
        </p:nvSpPr>
        <p:spPr/>
        <p:txBody>
          <a:bodyPr/>
          <a:lstStyle/>
          <a:p>
            <a:fld id="{227D895A-8B31-40B7-A6ED-E381B1C506D2}" type="slidenum">
              <a:rPr lang="en-IN" smtClean="0"/>
              <a:t>‹#›</a:t>
            </a:fld>
            <a:endParaRPr lang="en-IN"/>
          </a:p>
        </p:txBody>
      </p:sp>
    </p:spTree>
    <p:extLst>
      <p:ext uri="{BB962C8B-B14F-4D97-AF65-F5344CB8AC3E}">
        <p14:creationId xmlns:p14="http://schemas.microsoft.com/office/powerpoint/2010/main" val="3026879937"/>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FD19DEF-6CE8-3586-0B24-0B6A99FCB4D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BA045E0B-182E-4E66-B9B3-8AFC22F6205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3B573CAE-0BA1-B472-A5DA-C3FF7A4E1838}"/>
              </a:ext>
            </a:extLst>
          </p:cNvPr>
          <p:cNvSpPr>
            <a:spLocks noGrp="1"/>
          </p:cNvSpPr>
          <p:nvPr>
            <p:ph type="dt" sz="half" idx="10"/>
          </p:nvPr>
        </p:nvSpPr>
        <p:spPr/>
        <p:txBody>
          <a:bodyPr/>
          <a:lstStyle/>
          <a:p>
            <a:fld id="{BCE7B8B4-93C3-4FF1-B18F-57CFB518327B}" type="datetimeFigureOut">
              <a:rPr lang="en-IN" smtClean="0"/>
              <a:t>07-10-2025</a:t>
            </a:fld>
            <a:endParaRPr lang="en-IN"/>
          </a:p>
        </p:txBody>
      </p:sp>
      <p:sp>
        <p:nvSpPr>
          <p:cNvPr id="5" name="Footer Placeholder 4">
            <a:extLst>
              <a:ext uri="{FF2B5EF4-FFF2-40B4-BE49-F238E27FC236}">
                <a16:creationId xmlns:a16="http://schemas.microsoft.com/office/drawing/2014/main" xmlns="" id="{2B281597-5953-E8C4-C5CD-3BBF31D12A9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0D63F380-306B-98AF-2716-5A429FDB441B}"/>
              </a:ext>
            </a:extLst>
          </p:cNvPr>
          <p:cNvSpPr>
            <a:spLocks noGrp="1"/>
          </p:cNvSpPr>
          <p:nvPr>
            <p:ph type="sldNum" sz="quarter" idx="12"/>
          </p:nvPr>
        </p:nvSpPr>
        <p:spPr/>
        <p:txBody>
          <a:bodyPr/>
          <a:lstStyle/>
          <a:p>
            <a:fld id="{227D895A-8B31-40B7-A6ED-E381B1C506D2}" type="slidenum">
              <a:rPr lang="en-IN" smtClean="0"/>
              <a:t>‹#›</a:t>
            </a:fld>
            <a:endParaRPr lang="en-IN"/>
          </a:p>
        </p:txBody>
      </p:sp>
    </p:spTree>
    <p:extLst>
      <p:ext uri="{BB962C8B-B14F-4D97-AF65-F5344CB8AC3E}">
        <p14:creationId xmlns:p14="http://schemas.microsoft.com/office/powerpoint/2010/main" val="1306422488"/>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CDE4382-94A2-52E9-BA08-420833FAF64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6B91E720-D105-FDC4-37A3-23895AEBC4F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0C36F33C-6C60-9814-19A0-E8D89F8ECFAE}"/>
              </a:ext>
            </a:extLst>
          </p:cNvPr>
          <p:cNvSpPr>
            <a:spLocks noGrp="1"/>
          </p:cNvSpPr>
          <p:nvPr>
            <p:ph type="dt" sz="half" idx="10"/>
          </p:nvPr>
        </p:nvSpPr>
        <p:spPr/>
        <p:txBody>
          <a:bodyPr/>
          <a:lstStyle/>
          <a:p>
            <a:fld id="{BCE7B8B4-93C3-4FF1-B18F-57CFB518327B}" type="datetimeFigureOut">
              <a:rPr lang="en-IN" smtClean="0"/>
              <a:t>07-10-2025</a:t>
            </a:fld>
            <a:endParaRPr lang="en-IN"/>
          </a:p>
        </p:txBody>
      </p:sp>
      <p:sp>
        <p:nvSpPr>
          <p:cNvPr id="5" name="Footer Placeholder 4">
            <a:extLst>
              <a:ext uri="{FF2B5EF4-FFF2-40B4-BE49-F238E27FC236}">
                <a16:creationId xmlns:a16="http://schemas.microsoft.com/office/drawing/2014/main" xmlns="" id="{E5391DFC-E90D-5FE8-4B79-8A4D5D23A1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FC0BB20F-78B6-9E0F-0E20-E33070DB6FC5}"/>
              </a:ext>
            </a:extLst>
          </p:cNvPr>
          <p:cNvSpPr>
            <a:spLocks noGrp="1"/>
          </p:cNvSpPr>
          <p:nvPr>
            <p:ph type="sldNum" sz="quarter" idx="12"/>
          </p:nvPr>
        </p:nvSpPr>
        <p:spPr/>
        <p:txBody>
          <a:bodyPr/>
          <a:lstStyle/>
          <a:p>
            <a:fld id="{227D895A-8B31-40B7-A6ED-E381B1C506D2}" type="slidenum">
              <a:rPr lang="en-IN" smtClean="0"/>
              <a:t>‹#›</a:t>
            </a:fld>
            <a:endParaRPr lang="en-IN"/>
          </a:p>
        </p:txBody>
      </p:sp>
    </p:spTree>
    <p:extLst>
      <p:ext uri="{BB962C8B-B14F-4D97-AF65-F5344CB8AC3E}">
        <p14:creationId xmlns:p14="http://schemas.microsoft.com/office/powerpoint/2010/main" val="1022588355"/>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46BB07C-8309-4231-864C-80C71ED1321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47049168-EBEC-F530-394D-3F7A2C0B939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B9CCF8AD-2342-83B7-F0D0-88711A220EB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BCF2DB4D-ED18-F2F4-5A1F-18CE937693F7}"/>
              </a:ext>
            </a:extLst>
          </p:cNvPr>
          <p:cNvSpPr>
            <a:spLocks noGrp="1"/>
          </p:cNvSpPr>
          <p:nvPr>
            <p:ph type="dt" sz="half" idx="10"/>
          </p:nvPr>
        </p:nvSpPr>
        <p:spPr/>
        <p:txBody>
          <a:bodyPr/>
          <a:lstStyle/>
          <a:p>
            <a:fld id="{BCE7B8B4-93C3-4FF1-B18F-57CFB518327B}" type="datetimeFigureOut">
              <a:rPr lang="en-IN" smtClean="0"/>
              <a:t>07-10-2025</a:t>
            </a:fld>
            <a:endParaRPr lang="en-IN"/>
          </a:p>
        </p:txBody>
      </p:sp>
      <p:sp>
        <p:nvSpPr>
          <p:cNvPr id="6" name="Footer Placeholder 5">
            <a:extLst>
              <a:ext uri="{FF2B5EF4-FFF2-40B4-BE49-F238E27FC236}">
                <a16:creationId xmlns:a16="http://schemas.microsoft.com/office/drawing/2014/main" xmlns="" id="{1E44B744-F8FF-09B3-E726-3BDABC4672A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D03647F0-A492-10F4-4CF6-0632ECBD5389}"/>
              </a:ext>
            </a:extLst>
          </p:cNvPr>
          <p:cNvSpPr>
            <a:spLocks noGrp="1"/>
          </p:cNvSpPr>
          <p:nvPr>
            <p:ph type="sldNum" sz="quarter" idx="12"/>
          </p:nvPr>
        </p:nvSpPr>
        <p:spPr/>
        <p:txBody>
          <a:bodyPr/>
          <a:lstStyle/>
          <a:p>
            <a:fld id="{227D895A-8B31-40B7-A6ED-E381B1C506D2}" type="slidenum">
              <a:rPr lang="en-IN" smtClean="0"/>
              <a:t>‹#›</a:t>
            </a:fld>
            <a:endParaRPr lang="en-IN"/>
          </a:p>
        </p:txBody>
      </p:sp>
    </p:spTree>
    <p:extLst>
      <p:ext uri="{BB962C8B-B14F-4D97-AF65-F5344CB8AC3E}">
        <p14:creationId xmlns:p14="http://schemas.microsoft.com/office/powerpoint/2010/main" val="1119134475"/>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9977641-4222-3F36-5CA0-05B0352B1F5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8F9B3613-DEAA-C3F4-F855-09623609C7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F1C5EFE1-74B6-2B23-4796-609932EA5E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A18FCEC5-D1AF-990E-8565-8B73BA0819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6C469E6D-C779-3578-3D65-9A0EBD00204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3FF13A27-B405-BB2D-DA99-1EE63D577704}"/>
              </a:ext>
            </a:extLst>
          </p:cNvPr>
          <p:cNvSpPr>
            <a:spLocks noGrp="1"/>
          </p:cNvSpPr>
          <p:nvPr>
            <p:ph type="dt" sz="half" idx="10"/>
          </p:nvPr>
        </p:nvSpPr>
        <p:spPr/>
        <p:txBody>
          <a:bodyPr/>
          <a:lstStyle/>
          <a:p>
            <a:fld id="{BCE7B8B4-93C3-4FF1-B18F-57CFB518327B}" type="datetimeFigureOut">
              <a:rPr lang="en-IN" smtClean="0"/>
              <a:t>07-10-2025</a:t>
            </a:fld>
            <a:endParaRPr lang="en-IN"/>
          </a:p>
        </p:txBody>
      </p:sp>
      <p:sp>
        <p:nvSpPr>
          <p:cNvPr id="8" name="Footer Placeholder 7">
            <a:extLst>
              <a:ext uri="{FF2B5EF4-FFF2-40B4-BE49-F238E27FC236}">
                <a16:creationId xmlns:a16="http://schemas.microsoft.com/office/drawing/2014/main" xmlns="" id="{E76B2E0A-FE94-C552-AE3E-4A5EEE149E3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23F5ABC9-7660-ADCD-EA4D-34847DB1C97C}"/>
              </a:ext>
            </a:extLst>
          </p:cNvPr>
          <p:cNvSpPr>
            <a:spLocks noGrp="1"/>
          </p:cNvSpPr>
          <p:nvPr>
            <p:ph type="sldNum" sz="quarter" idx="12"/>
          </p:nvPr>
        </p:nvSpPr>
        <p:spPr/>
        <p:txBody>
          <a:bodyPr/>
          <a:lstStyle/>
          <a:p>
            <a:fld id="{227D895A-8B31-40B7-A6ED-E381B1C506D2}" type="slidenum">
              <a:rPr lang="en-IN" smtClean="0"/>
              <a:t>‹#›</a:t>
            </a:fld>
            <a:endParaRPr lang="en-IN"/>
          </a:p>
        </p:txBody>
      </p:sp>
    </p:spTree>
    <p:extLst>
      <p:ext uri="{BB962C8B-B14F-4D97-AF65-F5344CB8AC3E}">
        <p14:creationId xmlns:p14="http://schemas.microsoft.com/office/powerpoint/2010/main" val="3071979829"/>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CE41EBC-A7E9-F8FA-2227-88C50110A43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1AE14E16-C821-0A47-775C-E23B7179869B}"/>
              </a:ext>
            </a:extLst>
          </p:cNvPr>
          <p:cNvSpPr>
            <a:spLocks noGrp="1"/>
          </p:cNvSpPr>
          <p:nvPr>
            <p:ph type="dt" sz="half" idx="10"/>
          </p:nvPr>
        </p:nvSpPr>
        <p:spPr/>
        <p:txBody>
          <a:bodyPr/>
          <a:lstStyle/>
          <a:p>
            <a:fld id="{BCE7B8B4-93C3-4FF1-B18F-57CFB518327B}" type="datetimeFigureOut">
              <a:rPr lang="en-IN" smtClean="0"/>
              <a:t>07-10-2025</a:t>
            </a:fld>
            <a:endParaRPr lang="en-IN"/>
          </a:p>
        </p:txBody>
      </p:sp>
      <p:sp>
        <p:nvSpPr>
          <p:cNvPr id="4" name="Footer Placeholder 3">
            <a:extLst>
              <a:ext uri="{FF2B5EF4-FFF2-40B4-BE49-F238E27FC236}">
                <a16:creationId xmlns:a16="http://schemas.microsoft.com/office/drawing/2014/main" xmlns="" id="{9FF93B2F-E260-8D19-AEBC-36E05FB4B1B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DA64A27C-E9BE-7266-2216-957503768C04}"/>
              </a:ext>
            </a:extLst>
          </p:cNvPr>
          <p:cNvSpPr>
            <a:spLocks noGrp="1"/>
          </p:cNvSpPr>
          <p:nvPr>
            <p:ph type="sldNum" sz="quarter" idx="12"/>
          </p:nvPr>
        </p:nvSpPr>
        <p:spPr/>
        <p:txBody>
          <a:bodyPr/>
          <a:lstStyle/>
          <a:p>
            <a:fld id="{227D895A-8B31-40B7-A6ED-E381B1C506D2}" type="slidenum">
              <a:rPr lang="en-IN" smtClean="0"/>
              <a:t>‹#›</a:t>
            </a:fld>
            <a:endParaRPr lang="en-IN"/>
          </a:p>
        </p:txBody>
      </p:sp>
    </p:spTree>
    <p:extLst>
      <p:ext uri="{BB962C8B-B14F-4D97-AF65-F5344CB8AC3E}">
        <p14:creationId xmlns:p14="http://schemas.microsoft.com/office/powerpoint/2010/main" val="2032502511"/>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A44649BC-5195-05DC-2759-4CA67CCEF943}"/>
              </a:ext>
            </a:extLst>
          </p:cNvPr>
          <p:cNvSpPr>
            <a:spLocks noGrp="1"/>
          </p:cNvSpPr>
          <p:nvPr>
            <p:ph type="dt" sz="half" idx="10"/>
          </p:nvPr>
        </p:nvSpPr>
        <p:spPr/>
        <p:txBody>
          <a:bodyPr/>
          <a:lstStyle/>
          <a:p>
            <a:fld id="{BCE7B8B4-93C3-4FF1-B18F-57CFB518327B}" type="datetimeFigureOut">
              <a:rPr lang="en-IN" smtClean="0"/>
              <a:t>07-10-2025</a:t>
            </a:fld>
            <a:endParaRPr lang="en-IN"/>
          </a:p>
        </p:txBody>
      </p:sp>
      <p:sp>
        <p:nvSpPr>
          <p:cNvPr id="3" name="Footer Placeholder 2">
            <a:extLst>
              <a:ext uri="{FF2B5EF4-FFF2-40B4-BE49-F238E27FC236}">
                <a16:creationId xmlns:a16="http://schemas.microsoft.com/office/drawing/2014/main" xmlns="" id="{EC4ECD59-29CF-EF9C-F2EA-32B44CA4D8D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6EC5CD3B-520E-107B-237B-CDBADC4012ED}"/>
              </a:ext>
            </a:extLst>
          </p:cNvPr>
          <p:cNvSpPr>
            <a:spLocks noGrp="1"/>
          </p:cNvSpPr>
          <p:nvPr>
            <p:ph type="sldNum" sz="quarter" idx="12"/>
          </p:nvPr>
        </p:nvSpPr>
        <p:spPr/>
        <p:txBody>
          <a:bodyPr/>
          <a:lstStyle/>
          <a:p>
            <a:fld id="{227D895A-8B31-40B7-A6ED-E381B1C506D2}" type="slidenum">
              <a:rPr lang="en-IN" smtClean="0"/>
              <a:t>‹#›</a:t>
            </a:fld>
            <a:endParaRPr lang="en-IN"/>
          </a:p>
        </p:txBody>
      </p:sp>
    </p:spTree>
    <p:extLst>
      <p:ext uri="{BB962C8B-B14F-4D97-AF65-F5344CB8AC3E}">
        <p14:creationId xmlns:p14="http://schemas.microsoft.com/office/powerpoint/2010/main" val="2461309584"/>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7C7467B-7B6D-F4AD-02DE-AAC2860130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BBA04921-62F0-CC9B-C6EC-731F8C0C90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B7AB14CE-B7BF-4041-CBDA-E2AFB92AA7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B6697F07-CAC7-E99F-4D3B-DBF124787597}"/>
              </a:ext>
            </a:extLst>
          </p:cNvPr>
          <p:cNvSpPr>
            <a:spLocks noGrp="1"/>
          </p:cNvSpPr>
          <p:nvPr>
            <p:ph type="dt" sz="half" idx="10"/>
          </p:nvPr>
        </p:nvSpPr>
        <p:spPr/>
        <p:txBody>
          <a:bodyPr/>
          <a:lstStyle/>
          <a:p>
            <a:fld id="{BCE7B8B4-93C3-4FF1-B18F-57CFB518327B}" type="datetimeFigureOut">
              <a:rPr lang="en-IN" smtClean="0"/>
              <a:t>07-10-2025</a:t>
            </a:fld>
            <a:endParaRPr lang="en-IN"/>
          </a:p>
        </p:txBody>
      </p:sp>
      <p:sp>
        <p:nvSpPr>
          <p:cNvPr id="6" name="Footer Placeholder 5">
            <a:extLst>
              <a:ext uri="{FF2B5EF4-FFF2-40B4-BE49-F238E27FC236}">
                <a16:creationId xmlns:a16="http://schemas.microsoft.com/office/drawing/2014/main" xmlns="" id="{32C7269C-EF93-EACD-6103-B52ECCF331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5EF51269-A4CA-9B89-7953-8BD17C7818CA}"/>
              </a:ext>
            </a:extLst>
          </p:cNvPr>
          <p:cNvSpPr>
            <a:spLocks noGrp="1"/>
          </p:cNvSpPr>
          <p:nvPr>
            <p:ph type="sldNum" sz="quarter" idx="12"/>
          </p:nvPr>
        </p:nvSpPr>
        <p:spPr/>
        <p:txBody>
          <a:bodyPr/>
          <a:lstStyle/>
          <a:p>
            <a:fld id="{227D895A-8B31-40B7-A6ED-E381B1C506D2}" type="slidenum">
              <a:rPr lang="en-IN" smtClean="0"/>
              <a:t>‹#›</a:t>
            </a:fld>
            <a:endParaRPr lang="en-IN"/>
          </a:p>
        </p:txBody>
      </p:sp>
    </p:spTree>
    <p:extLst>
      <p:ext uri="{BB962C8B-B14F-4D97-AF65-F5344CB8AC3E}">
        <p14:creationId xmlns:p14="http://schemas.microsoft.com/office/powerpoint/2010/main" val="2050621364"/>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F215268-8FEF-3FDB-9641-9B05A6BB45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AD140621-236C-668A-2EE2-91E6AEBF858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376FB991-0D7C-1FD2-629E-6978E983BB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4A139A22-AA18-4F88-C82D-CD674EB7F2F3}"/>
              </a:ext>
            </a:extLst>
          </p:cNvPr>
          <p:cNvSpPr>
            <a:spLocks noGrp="1"/>
          </p:cNvSpPr>
          <p:nvPr>
            <p:ph type="dt" sz="half" idx="10"/>
          </p:nvPr>
        </p:nvSpPr>
        <p:spPr/>
        <p:txBody>
          <a:bodyPr/>
          <a:lstStyle/>
          <a:p>
            <a:fld id="{BCE7B8B4-93C3-4FF1-B18F-57CFB518327B}" type="datetimeFigureOut">
              <a:rPr lang="en-IN" smtClean="0"/>
              <a:t>07-10-2025</a:t>
            </a:fld>
            <a:endParaRPr lang="en-IN"/>
          </a:p>
        </p:txBody>
      </p:sp>
      <p:sp>
        <p:nvSpPr>
          <p:cNvPr id="6" name="Footer Placeholder 5">
            <a:extLst>
              <a:ext uri="{FF2B5EF4-FFF2-40B4-BE49-F238E27FC236}">
                <a16:creationId xmlns:a16="http://schemas.microsoft.com/office/drawing/2014/main" xmlns="" id="{807862C8-31CB-8956-0516-5E69A9BA9B1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D52B9C65-F934-034D-978F-93D290BA24EC}"/>
              </a:ext>
            </a:extLst>
          </p:cNvPr>
          <p:cNvSpPr>
            <a:spLocks noGrp="1"/>
          </p:cNvSpPr>
          <p:nvPr>
            <p:ph type="sldNum" sz="quarter" idx="12"/>
          </p:nvPr>
        </p:nvSpPr>
        <p:spPr/>
        <p:txBody>
          <a:bodyPr/>
          <a:lstStyle/>
          <a:p>
            <a:fld id="{227D895A-8B31-40B7-A6ED-E381B1C506D2}" type="slidenum">
              <a:rPr lang="en-IN" smtClean="0"/>
              <a:t>‹#›</a:t>
            </a:fld>
            <a:endParaRPr lang="en-IN"/>
          </a:p>
        </p:txBody>
      </p:sp>
    </p:spTree>
    <p:extLst>
      <p:ext uri="{BB962C8B-B14F-4D97-AF65-F5344CB8AC3E}">
        <p14:creationId xmlns:p14="http://schemas.microsoft.com/office/powerpoint/2010/main" val="3283784662"/>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E51806E-FEA4-AA20-CBC7-ACBFB658FED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51C07582-6F94-BB11-4531-E434188807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48BDE207-BB0E-1745-B88D-DE843FFD5354}"/>
              </a:ext>
            </a:extLst>
          </p:cNvPr>
          <p:cNvSpPr>
            <a:spLocks noGrp="1"/>
          </p:cNvSpPr>
          <p:nvPr>
            <p:ph type="dt" sz="half" idx="10"/>
          </p:nvPr>
        </p:nvSpPr>
        <p:spPr/>
        <p:txBody>
          <a:bodyPr/>
          <a:lstStyle/>
          <a:p>
            <a:fld id="{BCE7B8B4-93C3-4FF1-B18F-57CFB518327B}" type="datetimeFigureOut">
              <a:rPr lang="en-IN" smtClean="0"/>
              <a:t>07-10-2025</a:t>
            </a:fld>
            <a:endParaRPr lang="en-IN"/>
          </a:p>
        </p:txBody>
      </p:sp>
      <p:sp>
        <p:nvSpPr>
          <p:cNvPr id="5" name="Footer Placeholder 4">
            <a:extLst>
              <a:ext uri="{FF2B5EF4-FFF2-40B4-BE49-F238E27FC236}">
                <a16:creationId xmlns:a16="http://schemas.microsoft.com/office/drawing/2014/main" xmlns="" id="{20960951-10F9-911B-4705-7EB8D0D4A27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C8496D2F-6BDF-DDED-048C-006EC2157750}"/>
              </a:ext>
            </a:extLst>
          </p:cNvPr>
          <p:cNvSpPr>
            <a:spLocks noGrp="1"/>
          </p:cNvSpPr>
          <p:nvPr>
            <p:ph type="sldNum" sz="quarter" idx="12"/>
          </p:nvPr>
        </p:nvSpPr>
        <p:spPr/>
        <p:txBody>
          <a:bodyPr/>
          <a:lstStyle/>
          <a:p>
            <a:fld id="{227D895A-8B31-40B7-A6ED-E381B1C506D2}" type="slidenum">
              <a:rPr lang="en-IN" smtClean="0"/>
              <a:t>‹#›</a:t>
            </a:fld>
            <a:endParaRPr lang="en-IN"/>
          </a:p>
        </p:txBody>
      </p:sp>
    </p:spTree>
    <p:extLst>
      <p:ext uri="{BB962C8B-B14F-4D97-AF65-F5344CB8AC3E}">
        <p14:creationId xmlns:p14="http://schemas.microsoft.com/office/powerpoint/2010/main" val="1324221939"/>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C3D4AB2E-86EF-7649-B075-E20B03D301A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C1E79FDB-2DFF-41C0-A8B8-0DF2260981B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8C149957-5B73-0213-F728-76A45C238326}"/>
              </a:ext>
            </a:extLst>
          </p:cNvPr>
          <p:cNvSpPr>
            <a:spLocks noGrp="1"/>
          </p:cNvSpPr>
          <p:nvPr>
            <p:ph type="dt" sz="half" idx="10"/>
          </p:nvPr>
        </p:nvSpPr>
        <p:spPr/>
        <p:txBody>
          <a:bodyPr/>
          <a:lstStyle/>
          <a:p>
            <a:fld id="{BCE7B8B4-93C3-4FF1-B18F-57CFB518327B}" type="datetimeFigureOut">
              <a:rPr lang="en-IN" smtClean="0"/>
              <a:t>07-10-2025</a:t>
            </a:fld>
            <a:endParaRPr lang="en-IN"/>
          </a:p>
        </p:txBody>
      </p:sp>
      <p:sp>
        <p:nvSpPr>
          <p:cNvPr id="5" name="Footer Placeholder 4">
            <a:extLst>
              <a:ext uri="{FF2B5EF4-FFF2-40B4-BE49-F238E27FC236}">
                <a16:creationId xmlns:a16="http://schemas.microsoft.com/office/drawing/2014/main" xmlns="" id="{F90D88E2-E91D-4313-FCF3-8F78DAD81DB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79B16307-09DC-DB32-AFD8-7A1E567B9ED7}"/>
              </a:ext>
            </a:extLst>
          </p:cNvPr>
          <p:cNvSpPr>
            <a:spLocks noGrp="1"/>
          </p:cNvSpPr>
          <p:nvPr>
            <p:ph type="sldNum" sz="quarter" idx="12"/>
          </p:nvPr>
        </p:nvSpPr>
        <p:spPr/>
        <p:txBody>
          <a:bodyPr/>
          <a:lstStyle/>
          <a:p>
            <a:fld id="{227D895A-8B31-40B7-A6ED-E381B1C506D2}" type="slidenum">
              <a:rPr lang="en-IN" smtClean="0"/>
              <a:t>‹#›</a:t>
            </a:fld>
            <a:endParaRPr lang="en-IN"/>
          </a:p>
        </p:txBody>
      </p:sp>
    </p:spTree>
    <p:extLst>
      <p:ext uri="{BB962C8B-B14F-4D97-AF65-F5344CB8AC3E}">
        <p14:creationId xmlns:p14="http://schemas.microsoft.com/office/powerpoint/2010/main" val="1493483182"/>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117AC7AE-C185-77D5-843A-C23EABDDB5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4E7F5858-E6FA-C2C1-4024-FCCFD73CF8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0838FD28-8B29-2A3D-CF8F-555A0F2FDD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CC4309-B1E8-465C-80E9-7DE3BAEC2330}" type="datetimeFigureOut">
              <a:rPr lang="en-IN" smtClean="0"/>
              <a:t>07-10-2025</a:t>
            </a:fld>
            <a:endParaRPr lang="en-IN"/>
          </a:p>
        </p:txBody>
      </p:sp>
      <p:sp>
        <p:nvSpPr>
          <p:cNvPr id="5" name="Footer Placeholder 4">
            <a:extLst>
              <a:ext uri="{FF2B5EF4-FFF2-40B4-BE49-F238E27FC236}">
                <a16:creationId xmlns:a16="http://schemas.microsoft.com/office/drawing/2014/main" xmlns="" id="{82912486-F1C1-BF2C-D758-0B59544F8B5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B4356E36-BD65-F879-18D9-723A3CEB610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7301F7-6AE8-43EF-BA4A-90C6AF7C56FC}" type="slidenum">
              <a:rPr lang="en-IN" smtClean="0"/>
              <a:t>‹#›</a:t>
            </a:fld>
            <a:endParaRPr lang="en-IN"/>
          </a:p>
        </p:txBody>
      </p:sp>
    </p:spTree>
    <p:extLst>
      <p:ext uri="{BB962C8B-B14F-4D97-AF65-F5344CB8AC3E}">
        <p14:creationId xmlns:p14="http://schemas.microsoft.com/office/powerpoint/2010/main" val="1903596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208209E5-8966-3B52-6660-629A8DCD59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E445D59F-DB25-AA38-6656-6CB6F60CF9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6ADC9408-B393-B8AB-F3F9-D960F37757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CE7B8B4-93C3-4FF1-B18F-57CFB518327B}" type="datetimeFigureOut">
              <a:rPr lang="en-IN" smtClean="0"/>
              <a:t>07-10-2025</a:t>
            </a:fld>
            <a:endParaRPr lang="en-IN"/>
          </a:p>
        </p:txBody>
      </p:sp>
      <p:sp>
        <p:nvSpPr>
          <p:cNvPr id="5" name="Footer Placeholder 4">
            <a:extLst>
              <a:ext uri="{FF2B5EF4-FFF2-40B4-BE49-F238E27FC236}">
                <a16:creationId xmlns:a16="http://schemas.microsoft.com/office/drawing/2014/main" xmlns="" id="{32FAA408-9D89-EEF7-F10E-082399BA52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xmlns="" id="{6FC4E519-348C-045D-4129-9CC604F7B2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27D895A-8B31-40B7-A6ED-E381B1C506D2}" type="slidenum">
              <a:rPr lang="en-IN" smtClean="0"/>
              <a:t>‹#›</a:t>
            </a:fld>
            <a:endParaRPr lang="en-IN"/>
          </a:p>
        </p:txBody>
      </p:sp>
    </p:spTree>
    <p:extLst>
      <p:ext uri="{BB962C8B-B14F-4D97-AF65-F5344CB8AC3E}">
        <p14:creationId xmlns:p14="http://schemas.microsoft.com/office/powerpoint/2010/main" val="2156209937"/>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3.xml"/><Relationship Id="rId5" Type="http://schemas.openxmlformats.org/officeDocument/2006/relationships/image" Target="../media/image32.png"/><Relationship Id="rId4" Type="http://schemas.openxmlformats.org/officeDocument/2006/relationships/image" Target="../media/image31.png"/></Relationships>
</file>

<file path=ppt/slides/_rels/slide3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3.xml"/><Relationship Id="rId5" Type="http://schemas.openxmlformats.org/officeDocument/2006/relationships/image" Target="../media/image37.png"/><Relationship Id="rId4" Type="http://schemas.openxmlformats.org/officeDocument/2006/relationships/image" Target="../media/image36.png"/></Relationships>
</file>

<file path=ppt/slides/_rels/slide3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3.xml"/><Relationship Id="rId4" Type="http://schemas.openxmlformats.org/officeDocument/2006/relationships/image" Target="../media/image49.png"/></Relationships>
</file>

<file path=ppt/slides/_rels/slide4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13.xml"/><Relationship Id="rId4" Type="http://schemas.openxmlformats.org/officeDocument/2006/relationships/image" Target="../media/image54.png"/></Relationships>
</file>

<file path=ppt/slides/_rels/slide5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BD4D4BB-01D9-C75E-128E-AFC468D480B0}"/>
              </a:ext>
            </a:extLst>
          </p:cNvPr>
          <p:cNvSpPr>
            <a:spLocks noGrp="1"/>
          </p:cNvSpPr>
          <p:nvPr>
            <p:ph type="ctrTitle"/>
          </p:nvPr>
        </p:nvSpPr>
        <p:spPr/>
        <p:txBody>
          <a:bodyPr>
            <a:normAutofit/>
          </a:bodyPr>
          <a:lstStyle/>
          <a:p>
            <a:r>
              <a:rPr lang="en-IN" b="1" dirty="0">
                <a:latin typeface="Times New Roman" panose="02020603050405020304" pitchFamily="18" charset="0"/>
                <a:cs typeface="Times New Roman" panose="02020603050405020304" pitchFamily="18" charset="0"/>
              </a:rPr>
              <a:t>MODULE - 2</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xmlns="" id="{098004B7-0FA2-E208-CDB1-A1E459A52D26}"/>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400691609"/>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F1766B3-EADA-29E7-831A-3AE7D9D6A77D}"/>
              </a:ext>
            </a:extLst>
          </p:cNvPr>
          <p:cNvSpPr>
            <a:spLocks noGrp="1"/>
          </p:cNvSpPr>
          <p:nvPr>
            <p:ph type="title"/>
          </p:nvPr>
        </p:nvSpPr>
        <p:spPr/>
        <p:txBody>
          <a:bodyPr/>
          <a:lstStyle/>
          <a:p>
            <a:r>
              <a:rPr lang="en-IN" b="1">
                <a:latin typeface="Times New Roman" panose="02020603050405020304" pitchFamily="18" charset="0"/>
                <a:cs typeface="Times New Roman" panose="02020603050405020304" pitchFamily="18" charset="0"/>
              </a:rPr>
              <a:t>DIGITAL-TO-DIGITAL CONVERSION</a:t>
            </a:r>
            <a:r>
              <a:rPr lang="en-IN">
                <a:latin typeface="Times New Roman" panose="02020603050405020304" pitchFamily="18" charset="0"/>
                <a:cs typeface="Times New Roman" panose="02020603050405020304" pitchFamily="18" charset="0"/>
              </a:rPr>
              <a:t> </a:t>
            </a:r>
            <a:br>
              <a:rPr lang="en-IN">
                <a:latin typeface="Times New Roman" panose="02020603050405020304" pitchFamily="18" charset="0"/>
                <a:cs typeface="Times New Roman" panose="02020603050405020304" pitchFamily="18" charset="0"/>
              </a:rPr>
            </a:br>
            <a:endParaRPr lang="en-IN">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1CAA7936-2AD7-6BAF-7F00-7CFB2B7C0057}"/>
              </a:ext>
            </a:extLst>
          </p:cNvPr>
          <p:cNvSpPr>
            <a:spLocks noGrp="1"/>
          </p:cNvSpPr>
          <p:nvPr>
            <p:ph idx="1"/>
          </p:nvPr>
        </p:nvSpPr>
        <p:spPr>
          <a:xfrm>
            <a:off x="838200" y="1170039"/>
            <a:ext cx="10515600" cy="5006924"/>
          </a:xfrm>
        </p:spPr>
        <p:txBody>
          <a:bodyPr/>
          <a:lstStyle/>
          <a:p>
            <a:r>
              <a:rPr lang="en-US" dirty="0">
                <a:latin typeface="Times New Roman" panose="02020603050405020304" pitchFamily="18" charset="0"/>
                <a:cs typeface="Times New Roman" panose="02020603050405020304" pitchFamily="18" charset="0"/>
              </a:rPr>
              <a:t>Digital data can be represented by using digital signals. The conversion involves three techniques: </a:t>
            </a:r>
          </a:p>
          <a:p>
            <a:r>
              <a:rPr lang="en-US" dirty="0">
                <a:latin typeface="Times New Roman" panose="02020603050405020304" pitchFamily="18" charset="0"/>
                <a:cs typeface="Times New Roman" panose="02020603050405020304" pitchFamily="18" charset="0"/>
              </a:rPr>
              <a:t>line coding, block coding, and scrambling. </a:t>
            </a:r>
          </a:p>
          <a:p>
            <a:r>
              <a:rPr lang="en-US" dirty="0">
                <a:latin typeface="Times New Roman" panose="02020603050405020304" pitchFamily="18" charset="0"/>
                <a:cs typeface="Times New Roman" panose="02020603050405020304" pitchFamily="18" charset="0"/>
              </a:rPr>
              <a:t>Line coding is always needed; block coding and scrambling may or may not be </a:t>
            </a:r>
            <a:r>
              <a:rPr lang="en-US" dirty="0" smtClean="0">
                <a:latin typeface="Times New Roman" panose="02020603050405020304" pitchFamily="18" charset="0"/>
                <a:cs typeface="Times New Roman" panose="02020603050405020304" pitchFamily="18" charset="0"/>
              </a:rPr>
              <a:t>needed.</a:t>
            </a:r>
            <a:r>
              <a:rPr lang="en-US" dirty="0"/>
              <a:t/>
            </a:r>
            <a:br>
              <a:rPr lang="en-US" dirty="0"/>
            </a:br>
            <a:endParaRPr lang="en-IN" dirty="0"/>
          </a:p>
        </p:txBody>
      </p:sp>
    </p:spTree>
    <p:extLst>
      <p:ext uri="{BB962C8B-B14F-4D97-AF65-F5344CB8AC3E}">
        <p14:creationId xmlns:p14="http://schemas.microsoft.com/office/powerpoint/2010/main" val="1627328517"/>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ED1C6E8-1FFA-A7EB-2889-9FCBD39AE69B}"/>
              </a:ext>
            </a:extLst>
          </p:cNvPr>
          <p:cNvSpPr>
            <a:spLocks noGrp="1"/>
          </p:cNvSpPr>
          <p:nvPr>
            <p:ph type="title"/>
          </p:nvPr>
        </p:nvSpPr>
        <p:spPr>
          <a:xfrm>
            <a:off x="717755" y="365126"/>
            <a:ext cx="10636045" cy="657430"/>
          </a:xfrm>
        </p:spPr>
        <p:txBody>
          <a:bodyPr>
            <a:normAutofit fontScale="90000"/>
          </a:bodyPr>
          <a:lstStyle/>
          <a:p>
            <a:r>
              <a:rPr lang="en-US" b="1">
                <a:latin typeface="Times New Roman" panose="02020603050405020304" pitchFamily="18" charset="0"/>
                <a:cs typeface="Times New Roman" panose="02020603050405020304" pitchFamily="18" charset="0"/>
              </a:rPr>
              <a:t>Line Coding</a:t>
            </a:r>
            <a:endParaRPr lang="en-IN">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4BC52E76-1EB8-C506-C3D2-01A5E3A71926}"/>
              </a:ext>
            </a:extLst>
          </p:cNvPr>
          <p:cNvSpPr>
            <a:spLocks noGrp="1"/>
          </p:cNvSpPr>
          <p:nvPr>
            <p:ph idx="1"/>
          </p:nvPr>
        </p:nvSpPr>
        <p:spPr>
          <a:xfrm>
            <a:off x="334297" y="1022556"/>
            <a:ext cx="11690555" cy="5653547"/>
          </a:xfrm>
        </p:spPr>
        <p:txBody>
          <a:bodyPr/>
          <a:lstStyle/>
          <a:p>
            <a:pPr algn="just"/>
            <a:r>
              <a:rPr lang="en-US" b="1" dirty="0">
                <a:latin typeface="Times New Roman" panose="02020603050405020304" pitchFamily="18" charset="0"/>
                <a:cs typeface="Times New Roman" panose="02020603050405020304" pitchFamily="18" charset="0"/>
              </a:rPr>
              <a:t>Line coding </a:t>
            </a:r>
            <a:r>
              <a:rPr lang="en-US" dirty="0">
                <a:latin typeface="Times New Roman" panose="02020603050405020304" pitchFamily="18" charset="0"/>
                <a:cs typeface="Times New Roman" panose="02020603050405020304" pitchFamily="18" charset="0"/>
              </a:rPr>
              <a:t>is the process of converting digital data to digital signals. We assume that data, in the form of text, numbers, graphical images, audio, or video, are stored in computer memory as sequences of bits.</a:t>
            </a:r>
          </a:p>
          <a:p>
            <a:pPr algn="just"/>
            <a:r>
              <a:rPr lang="en-US" dirty="0">
                <a:latin typeface="Times New Roman" panose="02020603050405020304" pitchFamily="18" charset="0"/>
                <a:cs typeface="Times New Roman" panose="02020603050405020304" pitchFamily="18" charset="0"/>
              </a:rPr>
              <a:t>Line coding converts a sequence of bits to a digital signal. At the sender, digital data are encoded into a digital signal; at the receiver, the digital data are recreated by decoding the digital </a:t>
            </a:r>
            <a:r>
              <a:rPr lang="en-US" dirty="0" smtClean="0">
                <a:latin typeface="Times New Roman" panose="02020603050405020304" pitchFamily="18" charset="0"/>
                <a:cs typeface="Times New Roman" panose="02020603050405020304" pitchFamily="18" charset="0"/>
              </a:rPr>
              <a:t>signal . </a:t>
            </a:r>
            <a:endParaRPr lang="en-US"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xmlns="" id="{849ED6C3-9193-381F-A978-13C8A3621538}"/>
              </a:ext>
            </a:extLst>
          </p:cNvPr>
          <p:cNvPicPr>
            <a:picLocks noChangeAspect="1"/>
          </p:cNvPicPr>
          <p:nvPr/>
        </p:nvPicPr>
        <p:blipFill>
          <a:blip r:embed="rId2"/>
          <a:stretch>
            <a:fillRect/>
          </a:stretch>
        </p:blipFill>
        <p:spPr>
          <a:xfrm>
            <a:off x="1464158" y="4144418"/>
            <a:ext cx="9143237" cy="2353555"/>
          </a:xfrm>
          <a:prstGeom prst="rect">
            <a:avLst/>
          </a:prstGeom>
        </p:spPr>
      </p:pic>
    </p:spTree>
    <p:extLst>
      <p:ext uri="{BB962C8B-B14F-4D97-AF65-F5344CB8AC3E}">
        <p14:creationId xmlns:p14="http://schemas.microsoft.com/office/powerpoint/2010/main" val="4186847240"/>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7FF879E-1250-EA8A-5BBA-80C3912128D8}"/>
              </a:ext>
            </a:extLst>
          </p:cNvPr>
          <p:cNvSpPr>
            <a:spLocks noGrp="1"/>
          </p:cNvSpPr>
          <p:nvPr>
            <p:ph type="title"/>
          </p:nvPr>
        </p:nvSpPr>
        <p:spPr>
          <a:xfrm>
            <a:off x="620661" y="0"/>
            <a:ext cx="10515600" cy="942565"/>
          </a:xfrm>
        </p:spPr>
        <p:txBody>
          <a:bodyPr/>
          <a:lstStyle/>
          <a:p>
            <a:r>
              <a:rPr lang="en-IN" b="1" i="1">
                <a:latin typeface="Times New Roman" panose="02020603050405020304" pitchFamily="18" charset="0"/>
                <a:cs typeface="Times New Roman" panose="02020603050405020304" pitchFamily="18" charset="0"/>
              </a:rPr>
              <a:t>Characteristics</a:t>
            </a:r>
            <a:r>
              <a:rPr lang="en-IN">
                <a:latin typeface="Times New Roman" panose="02020603050405020304" pitchFamily="18" charset="0"/>
                <a:cs typeface="Times New Roman" panose="02020603050405020304" pitchFamily="18" charset="0"/>
              </a:rPr>
              <a:t> </a:t>
            </a:r>
          </a:p>
        </p:txBody>
      </p:sp>
      <p:sp>
        <p:nvSpPr>
          <p:cNvPr id="3" name="Content Placeholder 2">
            <a:extLst>
              <a:ext uri="{FF2B5EF4-FFF2-40B4-BE49-F238E27FC236}">
                <a16:creationId xmlns:a16="http://schemas.microsoft.com/office/drawing/2014/main" xmlns="" id="{1967694F-D018-AA68-E5B0-22FB180374DA}"/>
              </a:ext>
            </a:extLst>
          </p:cNvPr>
          <p:cNvSpPr>
            <a:spLocks noGrp="1"/>
          </p:cNvSpPr>
          <p:nvPr>
            <p:ph idx="1"/>
          </p:nvPr>
        </p:nvSpPr>
        <p:spPr>
          <a:xfrm>
            <a:off x="294969" y="1012724"/>
            <a:ext cx="11058832" cy="5164240"/>
          </a:xfrm>
        </p:spPr>
        <p:txBody>
          <a:bodyPr>
            <a:normAutofit/>
          </a:bodyPr>
          <a:lstStyle/>
          <a:p>
            <a:pPr algn="just"/>
            <a:r>
              <a:rPr lang="en-US" b="1" i="1" dirty="0">
                <a:latin typeface="Times New Roman" panose="02020603050405020304" pitchFamily="18" charset="0"/>
                <a:cs typeface="Times New Roman" panose="02020603050405020304" pitchFamily="18" charset="0"/>
              </a:rPr>
              <a:t>Signal Element Versus Data Element</a:t>
            </a:r>
          </a:p>
          <a:p>
            <a:pPr algn="just"/>
            <a:r>
              <a:rPr lang="en-US" dirty="0">
                <a:latin typeface="Times New Roman" panose="02020603050405020304" pitchFamily="18" charset="0"/>
                <a:cs typeface="Times New Roman" panose="02020603050405020304" pitchFamily="18" charset="0"/>
              </a:rPr>
              <a:t>A data element is the smallest entity that can represent a piece of information: this is the bit. </a:t>
            </a:r>
          </a:p>
          <a:p>
            <a:pPr algn="just"/>
            <a:r>
              <a:rPr lang="en-US" dirty="0">
                <a:latin typeface="Times New Roman" panose="02020603050405020304" pitchFamily="18" charset="0"/>
                <a:cs typeface="Times New Roman" panose="02020603050405020304" pitchFamily="18" charset="0"/>
              </a:rPr>
              <a:t>In digital data communications, a signal element carries data elements. </a:t>
            </a:r>
          </a:p>
          <a:p>
            <a:pPr algn="just"/>
            <a:r>
              <a:rPr lang="en-US" dirty="0">
                <a:latin typeface="Times New Roman" panose="02020603050405020304" pitchFamily="18" charset="0"/>
                <a:cs typeface="Times New Roman" panose="02020603050405020304" pitchFamily="18" charset="0"/>
              </a:rPr>
              <a:t>data elements are what we need to send; signal elements are what we can send. Data elements are being carried; signal elements are the carriers.</a:t>
            </a:r>
          </a:p>
          <a:p>
            <a:r>
              <a:rPr lang="en-US" dirty="0">
                <a:latin typeface="Times New Roman" panose="02020603050405020304" pitchFamily="18" charset="0"/>
                <a:cs typeface="Times New Roman" panose="02020603050405020304" pitchFamily="18" charset="0"/>
              </a:rPr>
              <a:t>We define a ratio </a:t>
            </a:r>
            <a:r>
              <a:rPr lang="en-US" i="1" dirty="0">
                <a:latin typeface="Times New Roman" panose="02020603050405020304" pitchFamily="18" charset="0"/>
                <a:cs typeface="Times New Roman" panose="02020603050405020304" pitchFamily="18" charset="0"/>
              </a:rPr>
              <a:t>r </a:t>
            </a:r>
            <a:r>
              <a:rPr lang="en-US" dirty="0">
                <a:latin typeface="Times New Roman" panose="02020603050405020304" pitchFamily="18" charset="0"/>
                <a:cs typeface="Times New Roman" panose="02020603050405020304" pitchFamily="18" charset="0"/>
              </a:rPr>
              <a:t>which is the number of data elements carried by each signal element. </a:t>
            </a:r>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160704"/>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19D18CA-DFB1-E861-92AC-7B2791821CC6}"/>
              </a:ext>
            </a:extLst>
          </p:cNvPr>
          <p:cNvSpPr>
            <a:spLocks noGrp="1"/>
          </p:cNvSpPr>
          <p:nvPr>
            <p:ph type="title"/>
          </p:nvPr>
        </p:nvSpPr>
        <p:spPr>
          <a:xfrm>
            <a:off x="540326" y="365126"/>
            <a:ext cx="10813473" cy="1037648"/>
          </a:xfrm>
        </p:spPr>
        <p:txBody>
          <a:bodyPr/>
          <a:lstStyle/>
          <a:p>
            <a:r>
              <a:rPr lang="en-IN" b="1" i="1">
                <a:latin typeface="Times New Roman" panose="02020603050405020304" pitchFamily="18" charset="0"/>
                <a:cs typeface="Times New Roman" panose="02020603050405020304" pitchFamily="18" charset="0"/>
              </a:rPr>
              <a:t>Characteristics</a:t>
            </a:r>
            <a:r>
              <a:rPr lang="en-IN">
                <a:latin typeface="Times New Roman" panose="02020603050405020304" pitchFamily="18" charset="0"/>
                <a:cs typeface="Times New Roman" panose="02020603050405020304" pitchFamily="18" charset="0"/>
              </a:rPr>
              <a:t> cont</a:t>
            </a:r>
            <a:endParaRPr lang="en-IN"/>
          </a:p>
        </p:txBody>
      </p:sp>
      <p:sp>
        <p:nvSpPr>
          <p:cNvPr id="3" name="Content Placeholder 2">
            <a:extLst>
              <a:ext uri="{FF2B5EF4-FFF2-40B4-BE49-F238E27FC236}">
                <a16:creationId xmlns:a16="http://schemas.microsoft.com/office/drawing/2014/main" xmlns="" id="{B25F2DAE-403D-B0B4-17B7-2F8FB8E48E7E}"/>
              </a:ext>
            </a:extLst>
          </p:cNvPr>
          <p:cNvSpPr>
            <a:spLocks noGrp="1"/>
          </p:cNvSpPr>
          <p:nvPr>
            <p:ph idx="1"/>
          </p:nvPr>
        </p:nvSpPr>
        <p:spPr>
          <a:xfrm>
            <a:off x="436418" y="1111827"/>
            <a:ext cx="10917382" cy="5065136"/>
          </a:xfrm>
        </p:spPr>
        <p:txBody>
          <a:bodyPr>
            <a:normAutofit lnSpcReduction="10000"/>
          </a:bodyPr>
          <a:lstStyle/>
          <a:p>
            <a:pPr marL="0" indent="0" algn="just">
              <a:buNone/>
            </a:pPr>
            <a:r>
              <a:rPr lang="en-US" b="1" i="1">
                <a:latin typeface="Times New Roman" panose="02020603050405020304" pitchFamily="18" charset="0"/>
                <a:cs typeface="Times New Roman" panose="02020603050405020304" pitchFamily="18" charset="0"/>
              </a:rPr>
              <a:t>Data Rate Versus Signal Rate</a:t>
            </a:r>
          </a:p>
          <a:p>
            <a:pPr algn="just"/>
            <a:r>
              <a:rPr lang="en-US">
                <a:latin typeface="Times New Roman" panose="02020603050405020304" pitchFamily="18" charset="0"/>
                <a:cs typeface="Times New Roman" panose="02020603050405020304" pitchFamily="18" charset="0"/>
              </a:rPr>
              <a:t>The </a:t>
            </a:r>
            <a:r>
              <a:rPr lang="en-US" b="1">
                <a:latin typeface="Times New Roman" panose="02020603050405020304" pitchFamily="18" charset="0"/>
                <a:cs typeface="Times New Roman" panose="02020603050405020304" pitchFamily="18" charset="0"/>
              </a:rPr>
              <a:t>data rate </a:t>
            </a:r>
            <a:r>
              <a:rPr lang="en-US">
                <a:latin typeface="Times New Roman" panose="02020603050405020304" pitchFamily="18" charset="0"/>
                <a:cs typeface="Times New Roman" panose="02020603050405020304" pitchFamily="18" charset="0"/>
              </a:rPr>
              <a:t>defines the number of data elements (bits) sent in 1s. </a:t>
            </a:r>
          </a:p>
          <a:p>
            <a:pPr algn="just"/>
            <a:r>
              <a:rPr lang="en-US">
                <a:latin typeface="Times New Roman" panose="02020603050405020304" pitchFamily="18" charset="0"/>
                <a:cs typeface="Times New Roman" panose="02020603050405020304" pitchFamily="18" charset="0"/>
              </a:rPr>
              <a:t>The </a:t>
            </a:r>
            <a:r>
              <a:rPr lang="en-US" b="1">
                <a:latin typeface="Times New Roman" panose="02020603050405020304" pitchFamily="18" charset="0"/>
                <a:cs typeface="Times New Roman" panose="02020603050405020304" pitchFamily="18" charset="0"/>
              </a:rPr>
              <a:t>signal rate </a:t>
            </a:r>
            <a:r>
              <a:rPr lang="en-US">
                <a:latin typeface="Times New Roman" panose="02020603050405020304" pitchFamily="18" charset="0"/>
                <a:cs typeface="Times New Roman" panose="02020603050405020304" pitchFamily="18" charset="0"/>
              </a:rPr>
              <a:t>is the number of signal elements sent in 1s. </a:t>
            </a:r>
          </a:p>
          <a:p>
            <a:pPr algn="just"/>
            <a:r>
              <a:rPr lang="en-US">
                <a:latin typeface="Times New Roman" panose="02020603050405020304" pitchFamily="18" charset="0"/>
                <a:cs typeface="Times New Roman" panose="02020603050405020304" pitchFamily="18" charset="0"/>
              </a:rPr>
              <a:t>The data rate is sometimes called the </a:t>
            </a:r>
            <a:r>
              <a:rPr lang="en-US" b="1">
                <a:latin typeface="Times New Roman" panose="02020603050405020304" pitchFamily="18" charset="0"/>
                <a:cs typeface="Times New Roman" panose="02020603050405020304" pitchFamily="18" charset="0"/>
              </a:rPr>
              <a:t>bit rate; </a:t>
            </a:r>
            <a:r>
              <a:rPr lang="en-US">
                <a:latin typeface="Times New Roman" panose="02020603050405020304" pitchFamily="18" charset="0"/>
                <a:cs typeface="Times New Roman" panose="02020603050405020304" pitchFamily="18" charset="0"/>
              </a:rPr>
              <a:t>the signal rate is sometimes called the </a:t>
            </a:r>
            <a:r>
              <a:rPr lang="en-US" b="1">
                <a:latin typeface="Times New Roman" panose="02020603050405020304" pitchFamily="18" charset="0"/>
                <a:cs typeface="Times New Roman" panose="02020603050405020304" pitchFamily="18" charset="0"/>
              </a:rPr>
              <a:t>pulse rate, </a:t>
            </a:r>
            <a:r>
              <a:rPr lang="en-US">
                <a:latin typeface="Times New Roman" panose="02020603050405020304" pitchFamily="18" charset="0"/>
                <a:cs typeface="Times New Roman" panose="02020603050405020304" pitchFamily="18" charset="0"/>
              </a:rPr>
              <a:t>the </a:t>
            </a:r>
            <a:r>
              <a:rPr lang="en-US" b="1">
                <a:latin typeface="Times New Roman" panose="02020603050405020304" pitchFamily="18" charset="0"/>
                <a:cs typeface="Times New Roman" panose="02020603050405020304" pitchFamily="18" charset="0"/>
              </a:rPr>
              <a:t>modulation rate.</a:t>
            </a:r>
          </a:p>
          <a:p>
            <a:pPr algn="just"/>
            <a:r>
              <a:rPr lang="en-US">
                <a:latin typeface="Times New Roman" panose="02020603050405020304" pitchFamily="18" charset="0"/>
                <a:cs typeface="Times New Roman" panose="02020603050405020304" pitchFamily="18" charset="0"/>
              </a:rPr>
              <a:t>One goal in data communications is to increase the data rate while decreasing the signal rate. Increasing the data rate increases the speed of transmission; decreasing the signal rate decreases the bandwidth requirement. </a:t>
            </a:r>
          </a:p>
          <a:p>
            <a:pPr algn="just"/>
            <a:r>
              <a:rPr lang="en-US">
                <a:latin typeface="Times New Roman" panose="02020603050405020304" pitchFamily="18" charset="0"/>
                <a:cs typeface="Times New Roman" panose="02020603050405020304" pitchFamily="18" charset="0"/>
              </a:rPr>
              <a:t>The relationship between data rate (</a:t>
            </a:r>
            <a:r>
              <a:rPr lang="en-US" i="1">
                <a:latin typeface="Times New Roman" panose="02020603050405020304" pitchFamily="18" charset="0"/>
                <a:cs typeface="Times New Roman" panose="02020603050405020304" pitchFamily="18" charset="0"/>
              </a:rPr>
              <a:t>N</a:t>
            </a:r>
            <a:r>
              <a:rPr lang="en-US">
                <a:latin typeface="Times New Roman" panose="02020603050405020304" pitchFamily="18" charset="0"/>
                <a:cs typeface="Times New Roman" panose="02020603050405020304" pitchFamily="18" charset="0"/>
              </a:rPr>
              <a:t>) and signal rate (</a:t>
            </a:r>
            <a:r>
              <a:rPr lang="en-US" i="1">
                <a:latin typeface="Times New Roman" panose="02020603050405020304" pitchFamily="18" charset="0"/>
                <a:cs typeface="Times New Roman" panose="02020603050405020304" pitchFamily="18" charset="0"/>
              </a:rPr>
              <a:t>S</a:t>
            </a:r>
            <a:r>
              <a:rPr lang="en-US">
                <a:latin typeface="Times New Roman" panose="02020603050405020304" pitchFamily="18" charset="0"/>
                <a:cs typeface="Times New Roman" panose="02020603050405020304" pitchFamily="18" charset="0"/>
              </a:rPr>
              <a:t>)</a:t>
            </a:r>
          </a:p>
          <a:p>
            <a:pPr marL="0" indent="0" algn="ctr">
              <a:buNone/>
            </a:pPr>
            <a:r>
              <a:rPr lang="en-US">
                <a:latin typeface="Times New Roman" panose="02020603050405020304" pitchFamily="18" charset="0"/>
                <a:cs typeface="Times New Roman" panose="02020603050405020304" pitchFamily="18" charset="0"/>
              </a:rPr>
              <a:t>S=N/r in which r number of data elements per signal element.. </a:t>
            </a:r>
            <a:br>
              <a:rPr lang="en-US">
                <a:latin typeface="Times New Roman" panose="02020603050405020304" pitchFamily="18" charset="0"/>
                <a:cs typeface="Times New Roman" panose="02020603050405020304" pitchFamily="18" charset="0"/>
              </a:rPr>
            </a:br>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4950434"/>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xmlns="" id="{EAFD6B31-03B9-962F-80BA-6F2AEB949472}"/>
              </a:ext>
            </a:extLst>
          </p:cNvPr>
          <p:cNvPicPr>
            <a:picLocks noGrp="1" noChangeAspect="1"/>
          </p:cNvPicPr>
          <p:nvPr>
            <p:ph idx="1"/>
          </p:nvPr>
        </p:nvPicPr>
        <p:blipFill>
          <a:blip r:embed="rId2"/>
          <a:stretch>
            <a:fillRect/>
          </a:stretch>
        </p:blipFill>
        <p:spPr>
          <a:xfrm>
            <a:off x="1034835" y="3429000"/>
            <a:ext cx="10235381" cy="2321745"/>
          </a:xfrm>
          <a:prstGeom prst="rect">
            <a:avLst/>
          </a:prstGeom>
        </p:spPr>
      </p:pic>
      <p:sp>
        <p:nvSpPr>
          <p:cNvPr id="7" name="TextBox 6">
            <a:extLst>
              <a:ext uri="{FF2B5EF4-FFF2-40B4-BE49-F238E27FC236}">
                <a16:creationId xmlns:a16="http://schemas.microsoft.com/office/drawing/2014/main" xmlns="" id="{683C1D3E-F95F-8F00-414D-8AD5263F8231}"/>
              </a:ext>
            </a:extLst>
          </p:cNvPr>
          <p:cNvSpPr txBox="1"/>
          <p:nvPr/>
        </p:nvSpPr>
        <p:spPr>
          <a:xfrm>
            <a:off x="1189702" y="301860"/>
            <a:ext cx="10235381" cy="1938992"/>
          </a:xfrm>
          <a:prstGeom prst="rect">
            <a:avLst/>
          </a:prstGeom>
          <a:noFill/>
        </p:spPr>
        <p:txBody>
          <a:bodyPr wrap="square">
            <a:spAutoFit/>
          </a:bodyPr>
          <a:lstStyle/>
          <a:p>
            <a:pPr algn="just"/>
            <a:r>
              <a:rPr lang="en-US" sz="2000" b="0" i="0">
                <a:solidFill>
                  <a:srgbClr val="242021"/>
                </a:solidFill>
                <a:effectLst/>
                <a:latin typeface="Times New Roman" panose="02020603050405020304" pitchFamily="18" charset="0"/>
                <a:cs typeface="Times New Roman" panose="02020603050405020304" pitchFamily="18" charset="0"/>
              </a:rPr>
              <a:t>To derive a formula for the relationship, we need to define three cases: the worst, best, and average. The worst case is when we need the maximum signal rate; the best case is when we need the minimum. In data communications, Consider the average case. </a:t>
            </a:r>
          </a:p>
          <a:p>
            <a:pPr algn="just"/>
            <a:r>
              <a:rPr lang="en-US" sz="2000" b="0" i="0">
                <a:solidFill>
                  <a:srgbClr val="242021"/>
                </a:solidFill>
                <a:effectLst/>
                <a:latin typeface="Times New Roman" panose="02020603050405020304" pitchFamily="18" charset="0"/>
                <a:cs typeface="Times New Roman" panose="02020603050405020304" pitchFamily="18" charset="0"/>
              </a:rPr>
              <a:t>formulate the relationship between data rate and signal rate as</a:t>
            </a:r>
            <a:r>
              <a:rPr lang="en-US" sz="2000">
                <a:latin typeface="Times New Roman" panose="02020603050405020304" pitchFamily="18" charset="0"/>
                <a:cs typeface="Times New Roman" panose="02020603050405020304" pitchFamily="18" charset="0"/>
              </a:rPr>
              <a:t> </a:t>
            </a:r>
          </a:p>
          <a:p>
            <a:pPr algn="just"/>
            <a:r>
              <a:rPr lang="en-US" sz="2000">
                <a:latin typeface="Times New Roman" panose="02020603050405020304" pitchFamily="18" charset="0"/>
                <a:cs typeface="Times New Roman" panose="02020603050405020304" pitchFamily="18" charset="0"/>
              </a:rPr>
              <a:t/>
            </a:r>
            <a:br>
              <a:rPr lang="en-US" sz="2000">
                <a:latin typeface="Times New Roman" panose="02020603050405020304" pitchFamily="18" charset="0"/>
                <a:cs typeface="Times New Roman" panose="02020603050405020304" pitchFamily="18" charset="0"/>
              </a:rPr>
            </a:br>
            <a:endParaRPr lang="en-IN" sz="200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xmlns="" id="{A6335B61-96D6-217E-3409-7A4D2CE74365}"/>
              </a:ext>
            </a:extLst>
          </p:cNvPr>
          <p:cNvPicPr>
            <a:picLocks noChangeAspect="1"/>
          </p:cNvPicPr>
          <p:nvPr/>
        </p:nvPicPr>
        <p:blipFill>
          <a:blip r:embed="rId3"/>
          <a:stretch>
            <a:fillRect/>
          </a:stretch>
        </p:blipFill>
        <p:spPr>
          <a:xfrm>
            <a:off x="4261178" y="2240852"/>
            <a:ext cx="2804403" cy="396274"/>
          </a:xfrm>
          <a:prstGeom prst="rect">
            <a:avLst/>
          </a:prstGeom>
        </p:spPr>
      </p:pic>
    </p:spTree>
    <p:extLst>
      <p:ext uri="{BB962C8B-B14F-4D97-AF65-F5344CB8AC3E}">
        <p14:creationId xmlns:p14="http://schemas.microsoft.com/office/powerpoint/2010/main" val="1704280097"/>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09E393D-34E0-795B-747D-9DAFB8FF8F33}"/>
              </a:ext>
            </a:extLst>
          </p:cNvPr>
          <p:cNvSpPr>
            <a:spLocks noGrp="1"/>
          </p:cNvSpPr>
          <p:nvPr>
            <p:ph idx="1"/>
          </p:nvPr>
        </p:nvSpPr>
        <p:spPr>
          <a:xfrm>
            <a:off x="403123" y="265471"/>
            <a:ext cx="10950677" cy="5911492"/>
          </a:xfrm>
        </p:spPr>
        <p:txBody>
          <a:bodyPr>
            <a:normAutofit lnSpcReduction="10000"/>
          </a:bodyPr>
          <a:lstStyle/>
          <a:p>
            <a:pPr marL="0" indent="0">
              <a:buNone/>
            </a:pPr>
            <a:r>
              <a:rPr lang="en-IN" b="1" i="1">
                <a:latin typeface="Times New Roman" panose="02020603050405020304" pitchFamily="18" charset="0"/>
                <a:cs typeface="Times New Roman" panose="02020603050405020304" pitchFamily="18" charset="0"/>
              </a:rPr>
              <a:t>Bandwidth</a:t>
            </a:r>
            <a:r>
              <a:rPr lang="en-IN">
                <a:latin typeface="Times New Roman" panose="02020603050405020304" pitchFamily="18" charset="0"/>
                <a:cs typeface="Times New Roman" panose="02020603050405020304" pitchFamily="18" charset="0"/>
              </a:rPr>
              <a:t> </a:t>
            </a:r>
            <a:br>
              <a:rPr lang="en-IN">
                <a:latin typeface="Times New Roman" panose="02020603050405020304" pitchFamily="18" charset="0"/>
                <a:cs typeface="Times New Roman" panose="02020603050405020304" pitchFamily="18" charset="0"/>
              </a:rPr>
            </a:br>
            <a:r>
              <a:rPr lang="en-US">
                <a:latin typeface="Times New Roman" panose="02020603050405020304" pitchFamily="18" charset="0"/>
                <a:cs typeface="Times New Roman" panose="02020603050405020304" pitchFamily="18" charset="0"/>
              </a:rPr>
              <a:t>The bandwidth is theoretically infinite. The effective bandwidth is finite. </a:t>
            </a:r>
          </a:p>
          <a:p>
            <a:pPr marL="0" indent="0">
              <a:buNone/>
            </a:pPr>
            <a:r>
              <a:rPr lang="en-US">
                <a:latin typeface="Times New Roman" panose="02020603050405020304" pitchFamily="18" charset="0"/>
                <a:cs typeface="Times New Roman" panose="02020603050405020304" pitchFamily="18" charset="0"/>
              </a:rPr>
              <a:t/>
            </a:r>
            <a:br>
              <a:rPr lang="en-US">
                <a:latin typeface="Times New Roman" panose="02020603050405020304" pitchFamily="18" charset="0"/>
                <a:cs typeface="Times New Roman" panose="02020603050405020304" pitchFamily="18" charset="0"/>
              </a:rPr>
            </a:br>
            <a:r>
              <a:rPr lang="en-US">
                <a:latin typeface="Times New Roman" panose="02020603050405020304" pitchFamily="18" charset="0"/>
                <a:cs typeface="Times New Roman" panose="02020603050405020304" pitchFamily="18" charset="0"/>
              </a:rPr>
              <a:t>Although the actual bandwidth of a digital signal is infinite, the effective bandwidth is finite. </a:t>
            </a:r>
          </a:p>
          <a:p>
            <a:pPr marL="0" indent="0">
              <a:buNone/>
            </a:pPr>
            <a:r>
              <a:rPr lang="en-US">
                <a:latin typeface="Times New Roman" panose="02020603050405020304" pitchFamily="18" charset="0"/>
                <a:cs typeface="Times New Roman" panose="02020603050405020304" pitchFamily="18" charset="0"/>
              </a:rPr>
              <a:t>Bit Rate and Baud rate</a:t>
            </a:r>
          </a:p>
          <a:p>
            <a:r>
              <a:rPr lang="en-US">
                <a:latin typeface="Times New Roman" panose="02020603050405020304" pitchFamily="18" charset="0"/>
                <a:cs typeface="Times New Roman" panose="02020603050405020304" pitchFamily="18" charset="0"/>
              </a:rPr>
              <a:t>Bit Rate (bps): Number of bits transmitted per second.</a:t>
            </a:r>
          </a:p>
          <a:p>
            <a:r>
              <a:rPr lang="en-US">
                <a:latin typeface="Times New Roman" panose="02020603050405020304" pitchFamily="18" charset="0"/>
                <a:cs typeface="Times New Roman" panose="02020603050405020304" pitchFamily="18" charset="0"/>
              </a:rPr>
              <a:t>Baud Rate (baud / symbols per second): Number of signal changes (symbols) per second.</a:t>
            </a:r>
          </a:p>
          <a:p>
            <a:r>
              <a:rPr lang="en-US">
                <a:latin typeface="Times New Roman" panose="02020603050405020304" pitchFamily="18" charset="0"/>
                <a:cs typeface="Times New Roman" panose="02020603050405020304" pitchFamily="18" charset="0"/>
              </a:rPr>
              <a:t>Bandwidth is directly tied to how </a:t>
            </a:r>
            <a:r>
              <a:rPr lang="en-US" i="1">
                <a:latin typeface="Times New Roman" panose="02020603050405020304" pitchFamily="18" charset="0"/>
                <a:cs typeface="Times New Roman" panose="02020603050405020304" pitchFamily="18" charset="0"/>
              </a:rPr>
              <a:t>often the signal changes</a:t>
            </a:r>
            <a:r>
              <a:rPr lang="en-US">
                <a:latin typeface="Times New Roman" panose="02020603050405020304" pitchFamily="18" charset="0"/>
                <a:cs typeface="Times New Roman" panose="02020603050405020304" pitchFamily="18" charset="0"/>
              </a:rPr>
              <a:t>, not how many bits are carried. That’s why baud rate determines required bandwidth, not bit rate.</a:t>
            </a:r>
          </a:p>
          <a:p>
            <a:pPr marL="0" indent="0">
              <a:buNone/>
            </a:pPr>
            <a:r>
              <a:rPr lang="en-US">
                <a:latin typeface="Times New Roman" panose="02020603050405020304" pitchFamily="18" charset="0"/>
                <a:cs typeface="Times New Roman" panose="02020603050405020304" pitchFamily="18" charset="0"/>
              </a:rPr>
              <a:t/>
            </a:r>
            <a:br>
              <a:rPr lang="en-US">
                <a:latin typeface="Times New Roman" panose="02020603050405020304" pitchFamily="18" charset="0"/>
                <a:cs typeface="Times New Roman" panose="02020603050405020304" pitchFamily="18" charset="0"/>
              </a:rPr>
            </a:br>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8290321"/>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ED351AF0-AE97-ECE8-E881-1C101154C215}"/>
              </a:ext>
            </a:extLst>
          </p:cNvPr>
          <p:cNvSpPr>
            <a:spLocks noGrp="1"/>
          </p:cNvSpPr>
          <p:nvPr>
            <p:ph idx="1"/>
          </p:nvPr>
        </p:nvSpPr>
        <p:spPr/>
        <p:txBody>
          <a:bodyPr/>
          <a:lstStyle/>
          <a:p>
            <a:r>
              <a:rPr lang="en-US"/>
              <a:t>The minimum bandwidth can be given as </a:t>
            </a:r>
            <a:br>
              <a:rPr lang="en-US"/>
            </a:br>
            <a:endParaRPr lang="en-IN"/>
          </a:p>
        </p:txBody>
      </p:sp>
      <p:pic>
        <p:nvPicPr>
          <p:cNvPr id="5" name="Picture 4">
            <a:extLst>
              <a:ext uri="{FF2B5EF4-FFF2-40B4-BE49-F238E27FC236}">
                <a16:creationId xmlns:a16="http://schemas.microsoft.com/office/drawing/2014/main" xmlns="" id="{5CD7AC81-9F04-33F8-E275-9978A1D51954}"/>
              </a:ext>
            </a:extLst>
          </p:cNvPr>
          <p:cNvPicPr>
            <a:picLocks noChangeAspect="1"/>
          </p:cNvPicPr>
          <p:nvPr/>
        </p:nvPicPr>
        <p:blipFill>
          <a:blip r:embed="rId2"/>
          <a:stretch>
            <a:fillRect/>
          </a:stretch>
        </p:blipFill>
        <p:spPr>
          <a:xfrm>
            <a:off x="4290089" y="2463334"/>
            <a:ext cx="2156647" cy="358171"/>
          </a:xfrm>
          <a:prstGeom prst="rect">
            <a:avLst/>
          </a:prstGeom>
        </p:spPr>
      </p:pic>
      <p:pic>
        <p:nvPicPr>
          <p:cNvPr id="7" name="Picture 6">
            <a:extLst>
              <a:ext uri="{FF2B5EF4-FFF2-40B4-BE49-F238E27FC236}">
                <a16:creationId xmlns:a16="http://schemas.microsoft.com/office/drawing/2014/main" xmlns="" id="{23EF5300-1EF4-4380-55AA-95C04C2E9D60}"/>
              </a:ext>
            </a:extLst>
          </p:cNvPr>
          <p:cNvPicPr>
            <a:picLocks noChangeAspect="1"/>
          </p:cNvPicPr>
          <p:nvPr/>
        </p:nvPicPr>
        <p:blipFill>
          <a:blip r:embed="rId3"/>
          <a:stretch>
            <a:fillRect/>
          </a:stretch>
        </p:blipFill>
        <p:spPr>
          <a:xfrm>
            <a:off x="1106171" y="3142959"/>
            <a:ext cx="9516169" cy="1320886"/>
          </a:xfrm>
          <a:prstGeom prst="rect">
            <a:avLst/>
          </a:prstGeom>
        </p:spPr>
      </p:pic>
    </p:spTree>
    <p:extLst>
      <p:ext uri="{BB962C8B-B14F-4D97-AF65-F5344CB8AC3E}">
        <p14:creationId xmlns:p14="http://schemas.microsoft.com/office/powerpoint/2010/main" val="3900975070"/>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D476BB1-278E-1B99-CCDC-88C1CCA1469B}"/>
              </a:ext>
            </a:extLst>
          </p:cNvPr>
          <p:cNvSpPr>
            <a:spLocks noGrp="1"/>
          </p:cNvSpPr>
          <p:nvPr>
            <p:ph type="title"/>
          </p:nvPr>
        </p:nvSpPr>
        <p:spPr/>
        <p:txBody>
          <a:bodyPr/>
          <a:lstStyle/>
          <a:p>
            <a:r>
              <a:rPr lang="en-US" b="1">
                <a:latin typeface="Times New Roman" panose="02020603050405020304" pitchFamily="18" charset="0"/>
                <a:cs typeface="Times New Roman" panose="02020603050405020304" pitchFamily="18" charset="0"/>
              </a:rPr>
              <a:t>Baseline Wandering</a:t>
            </a:r>
            <a:r>
              <a:rPr lang="en-US" b="1" i="1"/>
              <a:t/>
            </a:r>
            <a:br>
              <a:rPr lang="en-US" b="1" i="1"/>
            </a:br>
            <a:endParaRPr lang="en-IN"/>
          </a:p>
        </p:txBody>
      </p:sp>
      <p:sp>
        <p:nvSpPr>
          <p:cNvPr id="3" name="Content Placeholder 2">
            <a:extLst>
              <a:ext uri="{FF2B5EF4-FFF2-40B4-BE49-F238E27FC236}">
                <a16:creationId xmlns:a16="http://schemas.microsoft.com/office/drawing/2014/main" xmlns="" id="{B3C29AFE-C6D6-6C1A-6FBD-9B8EBDADC89B}"/>
              </a:ext>
            </a:extLst>
          </p:cNvPr>
          <p:cNvSpPr>
            <a:spLocks noGrp="1"/>
          </p:cNvSpPr>
          <p:nvPr>
            <p:ph idx="1"/>
          </p:nvPr>
        </p:nvSpPr>
        <p:spPr/>
        <p:txBody>
          <a:bodyPr/>
          <a:lstStyle/>
          <a:p>
            <a:pPr algn="just"/>
            <a:r>
              <a:rPr lang="en-US">
                <a:latin typeface="Times New Roman" panose="02020603050405020304" pitchFamily="18" charset="0"/>
                <a:cs typeface="Times New Roman" panose="02020603050405020304" pitchFamily="18" charset="0"/>
              </a:rPr>
              <a:t>In decoding a digital signal, the receiver calculates a running average of the received signal power. This average is called the </a:t>
            </a:r>
            <a:r>
              <a:rPr lang="en-US" b="1" i="1">
                <a:latin typeface="Times New Roman" panose="02020603050405020304" pitchFamily="18" charset="0"/>
                <a:cs typeface="Times New Roman" panose="02020603050405020304" pitchFamily="18" charset="0"/>
              </a:rPr>
              <a:t>baseline</a:t>
            </a:r>
            <a:r>
              <a:rPr lang="en-US" b="1">
                <a:latin typeface="Times New Roman" panose="02020603050405020304" pitchFamily="18" charset="0"/>
                <a:cs typeface="Times New Roman" panose="02020603050405020304" pitchFamily="18" charset="0"/>
              </a:rPr>
              <a:t>.</a:t>
            </a:r>
          </a:p>
          <a:p>
            <a:pPr algn="just"/>
            <a:r>
              <a:rPr lang="en-US" b="1">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The incoming signal power is evaluated against this baseline to determine the value of the data element. </a:t>
            </a:r>
          </a:p>
          <a:p>
            <a:pPr algn="just"/>
            <a:r>
              <a:rPr lang="en-US">
                <a:latin typeface="Times New Roman" panose="02020603050405020304" pitchFamily="18" charset="0"/>
                <a:cs typeface="Times New Roman" panose="02020603050405020304" pitchFamily="18" charset="0"/>
              </a:rPr>
              <a:t>A long string of 0s or 1s can cause a drift in the baseline (</a:t>
            </a:r>
            <a:r>
              <a:rPr lang="en-US" b="1">
                <a:latin typeface="Times New Roman" panose="02020603050405020304" pitchFamily="18" charset="0"/>
                <a:cs typeface="Times New Roman" panose="02020603050405020304" pitchFamily="18" charset="0"/>
              </a:rPr>
              <a:t>baseline wandering</a:t>
            </a:r>
            <a:r>
              <a:rPr lang="en-US">
                <a:latin typeface="Times New Roman" panose="02020603050405020304" pitchFamily="18" charset="0"/>
                <a:cs typeface="Times New Roman" panose="02020603050405020304" pitchFamily="18" charset="0"/>
              </a:rPr>
              <a:t>) and make it difficult for the receiver to decode correctly </a:t>
            </a:r>
            <a:r>
              <a:rPr lang="en-US"/>
              <a:t/>
            </a:r>
            <a:br>
              <a:rPr lang="en-US"/>
            </a:br>
            <a:endParaRPr lang="en-IN"/>
          </a:p>
        </p:txBody>
      </p:sp>
    </p:spTree>
    <p:extLst>
      <p:ext uri="{BB962C8B-B14F-4D97-AF65-F5344CB8AC3E}">
        <p14:creationId xmlns:p14="http://schemas.microsoft.com/office/powerpoint/2010/main" val="103189181"/>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13A9884-6DB8-8994-F22F-D01A4D911F8D}"/>
              </a:ext>
            </a:extLst>
          </p:cNvPr>
          <p:cNvSpPr>
            <a:spLocks noGrp="1"/>
          </p:cNvSpPr>
          <p:nvPr>
            <p:ph type="title"/>
          </p:nvPr>
        </p:nvSpPr>
        <p:spPr/>
        <p:txBody>
          <a:bodyPr/>
          <a:lstStyle/>
          <a:p>
            <a:r>
              <a:rPr lang="en-IN" b="1" i="1">
                <a:latin typeface="Times New Roman" panose="02020603050405020304" pitchFamily="18" charset="0"/>
                <a:cs typeface="Times New Roman" panose="02020603050405020304" pitchFamily="18" charset="0"/>
              </a:rPr>
              <a:t>DC Components</a:t>
            </a:r>
            <a:r>
              <a:rPr lang="en-IN">
                <a:latin typeface="Times New Roman" panose="02020603050405020304" pitchFamily="18" charset="0"/>
                <a:cs typeface="Times New Roman" panose="02020603050405020304" pitchFamily="18" charset="0"/>
              </a:rPr>
              <a:t> </a:t>
            </a:r>
          </a:p>
        </p:txBody>
      </p:sp>
      <p:sp>
        <p:nvSpPr>
          <p:cNvPr id="3" name="Content Placeholder 2">
            <a:extLst>
              <a:ext uri="{FF2B5EF4-FFF2-40B4-BE49-F238E27FC236}">
                <a16:creationId xmlns:a16="http://schemas.microsoft.com/office/drawing/2014/main" xmlns="" id="{C69E344E-1A1B-82CA-D3C0-986137233545}"/>
              </a:ext>
            </a:extLst>
          </p:cNvPr>
          <p:cNvSpPr>
            <a:spLocks noGrp="1"/>
          </p:cNvSpPr>
          <p:nvPr>
            <p:ph idx="1"/>
          </p:nvPr>
        </p:nvSpPr>
        <p:spPr>
          <a:xfrm>
            <a:off x="540774" y="1484671"/>
            <a:ext cx="10813026" cy="4692292"/>
          </a:xfrm>
        </p:spPr>
        <p:txBody>
          <a:bodyPr/>
          <a:lstStyle/>
          <a:p>
            <a:pPr algn="just"/>
            <a:r>
              <a:rPr lang="en-US">
                <a:latin typeface="Times New Roman" panose="02020603050405020304" pitchFamily="18" charset="0"/>
                <a:cs typeface="Times New Roman" panose="02020603050405020304" pitchFamily="18" charset="0"/>
              </a:rPr>
              <a:t>When the voltage level in a digital signal is constant for a while, the spectrum creates very low frequencies.</a:t>
            </a:r>
          </a:p>
          <a:p>
            <a:r>
              <a:rPr lang="en-US">
                <a:latin typeface="Times New Roman" panose="02020603050405020304" pitchFamily="18" charset="0"/>
                <a:cs typeface="Times New Roman" panose="02020603050405020304" pitchFamily="18" charset="0"/>
              </a:rPr>
              <a:t>These frequencies around zero is called DC (direct-current) </a:t>
            </a:r>
            <a:r>
              <a:rPr lang="en-US" i="1">
                <a:latin typeface="Times New Roman" panose="02020603050405020304" pitchFamily="18" charset="0"/>
                <a:cs typeface="Times New Roman" panose="02020603050405020304" pitchFamily="18" charset="0"/>
              </a:rPr>
              <a:t>components. This </a:t>
            </a:r>
            <a:r>
              <a:rPr lang="en-US">
                <a:latin typeface="Times New Roman" panose="02020603050405020304" pitchFamily="18" charset="0"/>
                <a:cs typeface="Times New Roman" panose="02020603050405020304" pitchFamily="18" charset="0"/>
              </a:rPr>
              <a:t>present problems for a system that cannot pass low frequencies .</a:t>
            </a:r>
          </a:p>
          <a:p>
            <a:r>
              <a:rPr lang="en-US">
                <a:latin typeface="Times New Roman" panose="02020603050405020304" pitchFamily="18" charset="0"/>
                <a:cs typeface="Times New Roman" panose="02020603050405020304" pitchFamily="18" charset="0"/>
              </a:rPr>
              <a:t> For example, a telephone line cannot pass frequencies below 200 Hz. </a:t>
            </a:r>
          </a:p>
          <a:p>
            <a:r>
              <a:rPr lang="en-US">
                <a:latin typeface="Times New Roman" panose="02020603050405020304" pitchFamily="18" charset="0"/>
                <a:cs typeface="Times New Roman" panose="02020603050405020304" pitchFamily="18" charset="0"/>
              </a:rPr>
              <a:t>For these systems, we need a scheme with no </a:t>
            </a:r>
            <a:r>
              <a:rPr lang="en-US" b="1">
                <a:latin typeface="Times New Roman" panose="02020603050405020304" pitchFamily="18" charset="0"/>
                <a:cs typeface="Times New Roman" panose="02020603050405020304" pitchFamily="18" charset="0"/>
              </a:rPr>
              <a:t>DC component.</a:t>
            </a:r>
            <a:r>
              <a:rPr lang="en-US">
                <a:latin typeface="Times New Roman" panose="02020603050405020304" pitchFamily="18" charset="0"/>
                <a:cs typeface="Times New Roman" panose="02020603050405020304" pitchFamily="18" charset="0"/>
              </a:rPr>
              <a:t> </a:t>
            </a:r>
            <a:br>
              <a:rPr lang="en-US">
                <a:latin typeface="Times New Roman" panose="02020603050405020304" pitchFamily="18" charset="0"/>
                <a:cs typeface="Times New Roman" panose="02020603050405020304" pitchFamily="18" charset="0"/>
              </a:rPr>
            </a:br>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55540042"/>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F0FCEEF-001D-55DA-CDC2-7AE676E44E73}"/>
              </a:ext>
            </a:extLst>
          </p:cNvPr>
          <p:cNvSpPr>
            <a:spLocks noGrp="1"/>
          </p:cNvSpPr>
          <p:nvPr>
            <p:ph type="title"/>
          </p:nvPr>
        </p:nvSpPr>
        <p:spPr/>
        <p:txBody>
          <a:bodyPr/>
          <a:lstStyle/>
          <a:p>
            <a:r>
              <a:rPr lang="en-IN" b="1" i="1">
                <a:latin typeface="Times New Roman" panose="02020603050405020304" pitchFamily="18" charset="0"/>
                <a:cs typeface="Times New Roman" panose="02020603050405020304" pitchFamily="18" charset="0"/>
              </a:rPr>
              <a:t>Self-synchronization</a:t>
            </a:r>
            <a:r>
              <a:rPr lang="en-IN">
                <a:latin typeface="Times New Roman" panose="02020603050405020304" pitchFamily="18" charset="0"/>
                <a:cs typeface="Times New Roman" panose="02020603050405020304" pitchFamily="18" charset="0"/>
              </a:rPr>
              <a:t> </a:t>
            </a:r>
            <a:br>
              <a:rPr lang="en-IN">
                <a:latin typeface="Times New Roman" panose="02020603050405020304" pitchFamily="18" charset="0"/>
                <a:cs typeface="Times New Roman" panose="02020603050405020304" pitchFamily="18" charset="0"/>
              </a:rPr>
            </a:br>
            <a:endParaRPr lang="en-IN">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2DA4B20C-3560-E353-C8E4-8D36A05A4383}"/>
              </a:ext>
            </a:extLst>
          </p:cNvPr>
          <p:cNvSpPr>
            <a:spLocks noGrp="1"/>
          </p:cNvSpPr>
          <p:nvPr>
            <p:ph idx="1"/>
          </p:nvPr>
        </p:nvSpPr>
        <p:spPr>
          <a:xfrm>
            <a:off x="491613" y="1042219"/>
            <a:ext cx="10862187" cy="5134744"/>
          </a:xfrm>
        </p:spPr>
        <p:txBody>
          <a:bodyPr/>
          <a:lstStyle/>
          <a:p>
            <a:pPr algn="just"/>
            <a:r>
              <a:rPr lang="en-US" sz="2400">
                <a:latin typeface="Times New Roman" panose="02020603050405020304" pitchFamily="18" charset="0"/>
                <a:cs typeface="Times New Roman" panose="02020603050405020304" pitchFamily="18" charset="0"/>
              </a:rPr>
              <a:t>To correctly interpret the signals received from the sender, the receiver’s bit intervals must correspond exactly to the sender’s bit intervals. </a:t>
            </a:r>
          </a:p>
          <a:p>
            <a:pPr algn="just"/>
            <a:r>
              <a:rPr lang="en-US" sz="2400">
                <a:latin typeface="Times New Roman" panose="02020603050405020304" pitchFamily="18" charset="0"/>
                <a:cs typeface="Times New Roman" panose="02020603050405020304" pitchFamily="18" charset="0"/>
              </a:rPr>
              <a:t>If the receiver clock is faster or slower, the bit intervals are not matched and the receiver might misinterpret the signals</a:t>
            </a:r>
            <a:r>
              <a:rPr lang="en-US">
                <a:latin typeface="Times New Roman" panose="02020603050405020304" pitchFamily="18" charset="0"/>
                <a:cs typeface="Times New Roman" panose="02020603050405020304" pitchFamily="18" charset="0"/>
              </a:rPr>
              <a:t>. </a:t>
            </a:r>
            <a:br>
              <a:rPr lang="en-US">
                <a:latin typeface="Times New Roman" panose="02020603050405020304" pitchFamily="18" charset="0"/>
                <a:cs typeface="Times New Roman" panose="02020603050405020304" pitchFamily="18" charset="0"/>
              </a:rPr>
            </a:br>
            <a:endParaRPr lang="en-IN">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xmlns="" id="{A919D3EE-59DC-DC16-08B0-727E8B13CF3B}"/>
              </a:ext>
            </a:extLst>
          </p:cNvPr>
          <p:cNvPicPr>
            <a:picLocks noChangeAspect="1"/>
          </p:cNvPicPr>
          <p:nvPr/>
        </p:nvPicPr>
        <p:blipFill>
          <a:blip r:embed="rId2"/>
          <a:stretch>
            <a:fillRect/>
          </a:stretch>
        </p:blipFill>
        <p:spPr>
          <a:xfrm>
            <a:off x="1571059" y="2538897"/>
            <a:ext cx="5982218" cy="2714736"/>
          </a:xfrm>
          <a:prstGeom prst="rect">
            <a:avLst/>
          </a:prstGeom>
        </p:spPr>
      </p:pic>
      <p:sp>
        <p:nvSpPr>
          <p:cNvPr id="7" name="TextBox 6">
            <a:extLst>
              <a:ext uri="{FF2B5EF4-FFF2-40B4-BE49-F238E27FC236}">
                <a16:creationId xmlns:a16="http://schemas.microsoft.com/office/drawing/2014/main" xmlns="" id="{3B8544BF-EF15-797C-9770-14E6480E5255}"/>
              </a:ext>
            </a:extLst>
          </p:cNvPr>
          <p:cNvSpPr txBox="1"/>
          <p:nvPr/>
        </p:nvSpPr>
        <p:spPr>
          <a:xfrm>
            <a:off x="749709" y="5354115"/>
            <a:ext cx="10515600" cy="1107996"/>
          </a:xfrm>
          <a:prstGeom prst="rect">
            <a:avLst/>
          </a:prstGeom>
          <a:noFill/>
        </p:spPr>
        <p:txBody>
          <a:bodyPr wrap="square">
            <a:spAutoFit/>
          </a:bodyPr>
          <a:lstStyle/>
          <a:p>
            <a:r>
              <a:rPr lang="en-US" sz="2400" b="0" i="0">
                <a:solidFill>
                  <a:srgbClr val="242021"/>
                </a:solidFill>
                <a:effectLst/>
                <a:latin typeface="Times New Roman" panose="02020603050405020304" pitchFamily="18" charset="0"/>
                <a:cs typeface="Times New Roman" panose="02020603050405020304" pitchFamily="18" charset="0"/>
              </a:rPr>
              <a:t>A </a:t>
            </a:r>
            <a:r>
              <a:rPr lang="en-US" sz="2400" b="1" i="0">
                <a:solidFill>
                  <a:srgbClr val="242021"/>
                </a:solidFill>
                <a:effectLst/>
                <a:latin typeface="Times New Roman" panose="02020603050405020304" pitchFamily="18" charset="0"/>
                <a:cs typeface="Times New Roman" panose="02020603050405020304" pitchFamily="18" charset="0"/>
              </a:rPr>
              <a:t>self-synchronizing </a:t>
            </a:r>
            <a:r>
              <a:rPr lang="en-US" sz="2400" b="0" i="0">
                <a:solidFill>
                  <a:srgbClr val="242021"/>
                </a:solidFill>
                <a:effectLst/>
                <a:latin typeface="Times New Roman" panose="02020603050405020304" pitchFamily="18" charset="0"/>
                <a:cs typeface="Times New Roman" panose="02020603050405020304" pitchFamily="18" charset="0"/>
              </a:rPr>
              <a:t>digital signal includes timing information in the data being transmitted</a:t>
            </a:r>
            <a:r>
              <a:rPr lang="en-US" sz="1800" b="0" i="0">
                <a:solidFill>
                  <a:srgbClr val="242021"/>
                </a:solidFill>
                <a:effectLst/>
                <a:latin typeface="Times-Roman"/>
              </a:rPr>
              <a:t>.</a:t>
            </a:r>
            <a:r>
              <a:rPr lang="en-US"/>
              <a:t> </a:t>
            </a:r>
            <a:br>
              <a:rPr lang="en-US"/>
            </a:br>
            <a:endParaRPr lang="en-IN"/>
          </a:p>
        </p:txBody>
      </p:sp>
    </p:spTree>
    <p:extLst>
      <p:ext uri="{BB962C8B-B14F-4D97-AF65-F5344CB8AC3E}">
        <p14:creationId xmlns:p14="http://schemas.microsoft.com/office/powerpoint/2010/main" val="2671901348"/>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3D5E4F0-6885-41A5-FEF8-52BBB4D0361E}"/>
              </a:ext>
            </a:extLst>
          </p:cNvPr>
          <p:cNvSpPr>
            <a:spLocks noGrp="1"/>
          </p:cNvSpPr>
          <p:nvPr>
            <p:ph idx="1"/>
          </p:nvPr>
        </p:nvSpPr>
        <p:spPr>
          <a:xfrm>
            <a:off x="501445" y="304800"/>
            <a:ext cx="10852355" cy="5872163"/>
          </a:xfrm>
        </p:spPr>
        <p:txBody>
          <a:bodyPr/>
          <a:lstStyle/>
          <a:p>
            <a:pPr marL="0" indent="0">
              <a:buNone/>
            </a:pPr>
            <a:r>
              <a:rPr lang="en-IN">
                <a:latin typeface="Times New Roman" panose="02020603050405020304" pitchFamily="18" charset="0"/>
                <a:cs typeface="Times New Roman" panose="02020603050405020304" pitchFamily="18" charset="0"/>
              </a:rPr>
              <a:t>Problem</a:t>
            </a:r>
          </a:p>
          <a:p>
            <a:r>
              <a:rPr lang="en-US">
                <a:latin typeface="Times New Roman" panose="02020603050405020304" pitchFamily="18" charset="0"/>
                <a:cs typeface="Times New Roman" panose="02020603050405020304" pitchFamily="18" charset="0"/>
              </a:rPr>
              <a:t>In a digital transmission, the receiver clock is 0.1 percent faster than the sender clock. How many extra bits per second does the receiver receive if the data rate is 1 kbps? How many if the data rate is 1 Mbps? </a:t>
            </a:r>
            <a:br>
              <a:rPr lang="en-US">
                <a:latin typeface="Times New Roman" panose="02020603050405020304" pitchFamily="18" charset="0"/>
                <a:cs typeface="Times New Roman" panose="02020603050405020304" pitchFamily="18" charset="0"/>
              </a:rPr>
            </a:br>
            <a:r>
              <a:rPr lang="en-US" b="1">
                <a:latin typeface="Times New Roman" panose="02020603050405020304" pitchFamily="18" charset="0"/>
                <a:cs typeface="Times New Roman" panose="02020603050405020304" pitchFamily="18" charset="0"/>
              </a:rPr>
              <a:t>Solution</a:t>
            </a:r>
          </a:p>
          <a:p>
            <a:r>
              <a:rPr lang="en-US">
                <a:latin typeface="Times New Roman" panose="02020603050405020304" pitchFamily="18" charset="0"/>
                <a:cs typeface="Times New Roman" panose="02020603050405020304" pitchFamily="18" charset="0"/>
              </a:rPr>
              <a:t>At 1 kbps, the receiver receives 1001 bps instead of 1000 bps </a:t>
            </a:r>
          </a:p>
          <a:p>
            <a:pPr marL="0" indent="0">
              <a:buNone/>
            </a:pPr>
            <a:r>
              <a:rPr lang="en-US">
                <a:latin typeface="Times New Roman" panose="02020603050405020304" pitchFamily="18" charset="0"/>
                <a:cs typeface="Times New Roman" panose="02020603050405020304" pitchFamily="18" charset="0"/>
              </a:rPr>
              <a:t/>
            </a:r>
            <a:br>
              <a:rPr lang="en-US">
                <a:latin typeface="Times New Roman" panose="02020603050405020304" pitchFamily="18" charset="0"/>
                <a:cs typeface="Times New Roman" panose="02020603050405020304" pitchFamily="18" charset="0"/>
              </a:rPr>
            </a:br>
            <a:endParaRPr lang="en-IN">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xmlns="" id="{08472E20-2091-7966-6177-81ED616A6E18}"/>
              </a:ext>
            </a:extLst>
          </p:cNvPr>
          <p:cNvPicPr>
            <a:picLocks noChangeAspect="1"/>
          </p:cNvPicPr>
          <p:nvPr/>
        </p:nvPicPr>
        <p:blipFill>
          <a:blip r:embed="rId2"/>
          <a:stretch>
            <a:fillRect/>
          </a:stretch>
        </p:blipFill>
        <p:spPr>
          <a:xfrm>
            <a:off x="730068" y="2962408"/>
            <a:ext cx="8955132" cy="1334289"/>
          </a:xfrm>
          <a:prstGeom prst="rect">
            <a:avLst/>
          </a:prstGeom>
        </p:spPr>
      </p:pic>
    </p:spTree>
    <p:extLst>
      <p:ext uri="{BB962C8B-B14F-4D97-AF65-F5344CB8AC3E}">
        <p14:creationId xmlns:p14="http://schemas.microsoft.com/office/powerpoint/2010/main" val="2789438866"/>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xmlns="" id="{6E284D4B-083B-A8DE-6122-68430DF3111B}"/>
              </a:ext>
            </a:extLst>
          </p:cNvPr>
          <p:cNvGraphicFramePr>
            <a:graphicFrameLocks noGrp="1"/>
          </p:cNvGraphicFramePr>
          <p:nvPr>
            <p:ph idx="1"/>
            <p:extLst>
              <p:ext uri="{D42A27DB-BD31-4B8C-83A1-F6EECF244321}">
                <p14:modId xmlns:p14="http://schemas.microsoft.com/office/powerpoint/2010/main" val="1090959344"/>
              </p:ext>
            </p:extLst>
          </p:nvPr>
        </p:nvGraphicFramePr>
        <p:xfrm>
          <a:off x="5261610" y="3879374"/>
          <a:ext cx="1668780" cy="365760"/>
        </p:xfrm>
        <a:graphic>
          <a:graphicData uri="http://schemas.openxmlformats.org/drawingml/2006/table">
            <a:tbl>
              <a:tblPr/>
              <a:tblGrid>
                <a:gridCol w="1668780">
                  <a:extLst>
                    <a:ext uri="{9D8B030D-6E8A-4147-A177-3AD203B41FA5}">
                      <a16:colId xmlns:a16="http://schemas.microsoft.com/office/drawing/2014/main" xmlns="" val="4066005783"/>
                    </a:ext>
                  </a:extLst>
                </a:gridCol>
              </a:tblGrid>
              <a:tr h="0">
                <a:tc>
                  <a:txBody>
                    <a:bodyPr/>
                    <a:lstStyle/>
                    <a:p>
                      <a:pPr>
                        <a:buNone/>
                      </a:pPr>
                      <a:endParaRPr lang="en-IN">
                        <a:effectLst/>
                      </a:endParaRPr>
                    </a:p>
                  </a:txBody>
                  <a:tcPr anchor="ctr">
                    <a:lnL>
                      <a:noFill/>
                    </a:lnL>
                    <a:lnR>
                      <a:noFill/>
                    </a:lnR>
                    <a:lnT>
                      <a:noFill/>
                    </a:lnT>
                    <a:lnB>
                      <a:noFill/>
                    </a:lnB>
                    <a:noFill/>
                  </a:tcPr>
                </a:tc>
                <a:extLst>
                  <a:ext uri="{0D108BD9-81ED-4DB2-BD59-A6C34878D82A}">
                    <a16:rowId xmlns:a16="http://schemas.microsoft.com/office/drawing/2014/main" xmlns="" val="603671401"/>
                  </a:ext>
                </a:extLst>
              </a:tr>
            </a:tbl>
          </a:graphicData>
        </a:graphic>
      </p:graphicFrame>
      <p:sp>
        <p:nvSpPr>
          <p:cNvPr id="5" name="Rectangle 1">
            <a:extLst>
              <a:ext uri="{FF2B5EF4-FFF2-40B4-BE49-F238E27FC236}">
                <a16:creationId xmlns:a16="http://schemas.microsoft.com/office/drawing/2014/main" xmlns="" id="{6732CFCD-8614-5E50-7841-F0E88C5E8CA7}"/>
              </a:ext>
            </a:extLst>
          </p:cNvPr>
          <p:cNvSpPr>
            <a:spLocks noChangeArrowheads="1"/>
          </p:cNvSpPr>
          <p:nvPr/>
        </p:nvSpPr>
        <p:spPr bwMode="auto">
          <a:xfrm>
            <a:off x="0" y="-32316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a:ln>
                  <a:noFill/>
                </a:ln>
                <a:solidFill>
                  <a:schemeClr val="tx1"/>
                </a:solidFill>
                <a:effectLst/>
                <a:latin typeface="Arial" panose="020B0604020202020204" pitchFamily="34" charset="0"/>
              </a:rPr>
              <a:t/>
            </a: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xmlns="" id="{AD8A989A-24B9-D876-07E4-7EDC3D803AE8}"/>
              </a:ext>
            </a:extLst>
          </p:cNvPr>
          <p:cNvSpPr txBox="1"/>
          <p:nvPr/>
        </p:nvSpPr>
        <p:spPr>
          <a:xfrm>
            <a:off x="304800" y="323165"/>
            <a:ext cx="11444748" cy="4154984"/>
          </a:xfrm>
          <a:prstGeom prst="rect">
            <a:avLst/>
          </a:prstGeom>
          <a:noFill/>
        </p:spPr>
        <p:txBody>
          <a:bodyPr wrap="square">
            <a:spAutoFit/>
          </a:bodyPr>
          <a:lstStyle/>
          <a:p>
            <a:r>
              <a:rPr lang="en-IN" sz="2400" b="1">
                <a:solidFill>
                  <a:srgbClr val="242021"/>
                </a:solidFill>
                <a:latin typeface="Times New Roman" panose="02020603050405020304" pitchFamily="18" charset="0"/>
                <a:cs typeface="Times New Roman" panose="02020603050405020304" pitchFamily="18" charset="0"/>
              </a:rPr>
              <a:t>Built-in Error Detection</a:t>
            </a:r>
            <a:endParaRPr lang="en-IN" sz="2400">
              <a:latin typeface="Times New Roman" panose="02020603050405020304" pitchFamily="18" charset="0"/>
              <a:cs typeface="Times New Roman" panose="02020603050405020304" pitchFamily="18" charset="0"/>
            </a:endParaRPr>
          </a:p>
          <a:p>
            <a:r>
              <a:rPr kumimoji="0" lang="en-US" altLang="en-US" sz="2400" b="0" u="none" strike="noStrike" cap="none" normalizeH="0" baseline="0">
                <a:ln>
                  <a:noFill/>
                </a:ln>
                <a:solidFill>
                  <a:srgbClr val="242021"/>
                </a:solidFill>
                <a:effectLst/>
                <a:latin typeface="Times New Roman" panose="02020603050405020304" pitchFamily="18" charset="0"/>
                <a:cs typeface="Times New Roman" panose="02020603050405020304" pitchFamily="18" charset="0"/>
              </a:rPr>
              <a:t>It is desirable to have a built-in error-detecting capability in the generated code to detect some or all of the errors that occurred during transmission</a:t>
            </a:r>
            <a:r>
              <a:rPr kumimoji="0" lang="en-US" altLang="en-US" sz="2400" b="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p>
          <a:p>
            <a:endParaRPr kumimoji="0" lang="en-US" altLang="en-US" sz="2400" b="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r>
              <a:rPr lang="en-US" sz="2400" b="1">
                <a:latin typeface="Times New Roman" panose="02020603050405020304" pitchFamily="18" charset="0"/>
                <a:cs typeface="Times New Roman" panose="02020603050405020304" pitchFamily="18" charset="0"/>
              </a:rPr>
              <a:t>Immunity to noise and interference</a:t>
            </a:r>
            <a:r>
              <a:rPr lang="en-US" sz="2400">
                <a:latin typeface="Times New Roman" panose="02020603050405020304" pitchFamily="18" charset="0"/>
                <a:cs typeface="Times New Roman" panose="02020603050405020304" pitchFamily="18" charset="0"/>
              </a:rPr>
              <a:t> means how well a system can resist these unwanted signals and still correctly receive the original data.</a:t>
            </a:r>
          </a:p>
          <a:p>
            <a:endParaRPr lang="en-US" sz="2400">
              <a:latin typeface="Times New Roman" panose="02020603050405020304" pitchFamily="18" charset="0"/>
              <a:cs typeface="Times New Roman" panose="02020603050405020304" pitchFamily="18" charset="0"/>
            </a:endParaRPr>
          </a:p>
          <a:p>
            <a:r>
              <a:rPr lang="en-US" sz="2400" b="1">
                <a:latin typeface="Times New Roman" panose="02020603050405020304" pitchFamily="18" charset="0"/>
                <a:cs typeface="Times New Roman" panose="02020603050405020304" pitchFamily="18" charset="0"/>
              </a:rPr>
              <a:t>Complexity</a:t>
            </a:r>
          </a:p>
          <a:p>
            <a:r>
              <a:rPr lang="en-US" sz="2400">
                <a:latin typeface="Times New Roman" panose="02020603050405020304" pitchFamily="18" charset="0"/>
                <a:cs typeface="Times New Roman" panose="02020603050405020304" pitchFamily="18" charset="0"/>
              </a:rPr>
              <a:t>A complex scheme is more costly to implement than a simple one. For example, a scheme that uses four signal levels is more difficult to interpret than one that uses only two levels. </a:t>
            </a:r>
            <a:br>
              <a:rPr lang="en-US" sz="2400">
                <a:latin typeface="Times New Roman" panose="02020603050405020304" pitchFamily="18" charset="0"/>
                <a:cs typeface="Times New Roman" panose="02020603050405020304" pitchFamily="18" charset="0"/>
              </a:rPr>
            </a:br>
            <a:endParaRPr lang="en-IN"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4044824"/>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BDE61BC-7C24-CE6F-7448-E36FAEDEE00B}"/>
              </a:ext>
            </a:extLst>
          </p:cNvPr>
          <p:cNvSpPr>
            <a:spLocks noGrp="1"/>
          </p:cNvSpPr>
          <p:nvPr>
            <p:ph type="title"/>
          </p:nvPr>
        </p:nvSpPr>
        <p:spPr>
          <a:xfrm>
            <a:off x="753626" y="365126"/>
            <a:ext cx="10600174" cy="886184"/>
          </a:xfrm>
        </p:spPr>
        <p:txBody>
          <a:bodyPr>
            <a:normAutofit fontScale="90000"/>
          </a:bodyPr>
          <a:lstStyle/>
          <a:p>
            <a:r>
              <a:rPr lang="en-IN" b="1">
                <a:latin typeface="Times New Roman" panose="02020603050405020304" pitchFamily="18" charset="0"/>
                <a:cs typeface="Times New Roman" panose="02020603050405020304" pitchFamily="18" charset="0"/>
              </a:rPr>
              <a:t>Line Coding Schemes</a:t>
            </a:r>
            <a:r>
              <a:rPr lang="en-IN">
                <a:latin typeface="Times New Roman" panose="02020603050405020304" pitchFamily="18" charset="0"/>
                <a:cs typeface="Times New Roman" panose="02020603050405020304" pitchFamily="18" charset="0"/>
              </a:rPr>
              <a:t> </a:t>
            </a:r>
            <a:r>
              <a:rPr lang="en-IN"/>
              <a:t/>
            </a:r>
            <a:br>
              <a:rPr lang="en-IN"/>
            </a:br>
            <a:endParaRPr lang="en-IN"/>
          </a:p>
        </p:txBody>
      </p:sp>
      <p:sp>
        <p:nvSpPr>
          <p:cNvPr id="3" name="Content Placeholder 2">
            <a:extLst>
              <a:ext uri="{FF2B5EF4-FFF2-40B4-BE49-F238E27FC236}">
                <a16:creationId xmlns:a16="http://schemas.microsoft.com/office/drawing/2014/main" xmlns="" id="{43167400-1D0F-6E78-C44F-506BCB465819}"/>
              </a:ext>
            </a:extLst>
          </p:cNvPr>
          <p:cNvSpPr>
            <a:spLocks noGrp="1"/>
          </p:cNvSpPr>
          <p:nvPr>
            <p:ph idx="1"/>
          </p:nvPr>
        </p:nvSpPr>
        <p:spPr>
          <a:xfrm>
            <a:off x="452176" y="854110"/>
            <a:ext cx="10901624" cy="5322853"/>
          </a:xfrm>
        </p:spPr>
        <p:txBody>
          <a:bodyPr/>
          <a:lstStyle/>
          <a:p>
            <a:r>
              <a:rPr lang="en-US">
                <a:latin typeface="Times New Roman" panose="02020603050405020304" pitchFamily="18" charset="0"/>
                <a:cs typeface="Times New Roman" panose="02020603050405020304" pitchFamily="18" charset="0"/>
              </a:rPr>
              <a:t>We can roughly divide line coding schemes into five broad categories.</a:t>
            </a:r>
          </a:p>
          <a:p>
            <a:endParaRPr lang="en-IN"/>
          </a:p>
        </p:txBody>
      </p:sp>
      <p:pic>
        <p:nvPicPr>
          <p:cNvPr id="5" name="Picture 4">
            <a:extLst>
              <a:ext uri="{FF2B5EF4-FFF2-40B4-BE49-F238E27FC236}">
                <a16:creationId xmlns:a16="http://schemas.microsoft.com/office/drawing/2014/main" xmlns="" id="{59CD0AF0-61B7-7D73-04A9-BC49C52F2141}"/>
              </a:ext>
            </a:extLst>
          </p:cNvPr>
          <p:cNvPicPr>
            <a:picLocks noChangeAspect="1"/>
          </p:cNvPicPr>
          <p:nvPr/>
        </p:nvPicPr>
        <p:blipFill>
          <a:blip r:embed="rId2"/>
          <a:stretch>
            <a:fillRect/>
          </a:stretch>
        </p:blipFill>
        <p:spPr>
          <a:xfrm>
            <a:off x="1152270" y="1466457"/>
            <a:ext cx="7445385" cy="2606266"/>
          </a:xfrm>
          <a:prstGeom prst="rect">
            <a:avLst/>
          </a:prstGeom>
        </p:spPr>
      </p:pic>
      <p:sp>
        <p:nvSpPr>
          <p:cNvPr id="6" name="Rectangle 1">
            <a:extLst>
              <a:ext uri="{FF2B5EF4-FFF2-40B4-BE49-F238E27FC236}">
                <a16:creationId xmlns:a16="http://schemas.microsoft.com/office/drawing/2014/main" xmlns="" id="{BDC67BC5-8B45-D984-6613-7BED6C7670A0}"/>
              </a:ext>
            </a:extLst>
          </p:cNvPr>
          <p:cNvSpPr>
            <a:spLocks noChangeArrowheads="1"/>
          </p:cNvSpPr>
          <p:nvPr/>
        </p:nvSpPr>
        <p:spPr bwMode="auto">
          <a:xfrm>
            <a:off x="0" y="-184666"/>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a:ln>
                  <a:noFill/>
                </a:ln>
                <a:solidFill>
                  <a:schemeClr val="tx1"/>
                </a:solidFill>
                <a:effectLst/>
                <a:latin typeface="Arial" panose="020B0604020202020204" pitchFamily="34" charset="0"/>
              </a:rPr>
              <a:t>.</a:t>
            </a:r>
          </a:p>
        </p:txBody>
      </p:sp>
      <p:sp>
        <p:nvSpPr>
          <p:cNvPr id="8" name="TextBox 7">
            <a:extLst>
              <a:ext uri="{FF2B5EF4-FFF2-40B4-BE49-F238E27FC236}">
                <a16:creationId xmlns:a16="http://schemas.microsoft.com/office/drawing/2014/main" xmlns="" id="{5D796A4E-174D-3F6E-4C20-811F0620A088}"/>
              </a:ext>
            </a:extLst>
          </p:cNvPr>
          <p:cNvSpPr txBox="1"/>
          <p:nvPr/>
        </p:nvSpPr>
        <p:spPr>
          <a:xfrm>
            <a:off x="838199" y="4738549"/>
            <a:ext cx="10600173" cy="156966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Line coding is the process of </a:t>
            </a: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converting digital data (0s and 1s) into a digital signal (waveform)</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that can be transmitted over a communication channel.</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Different line coding methods are used to solve problems like </a:t>
            </a: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DC component, synchronization, and noise immunity</a:t>
            </a:r>
            <a:endParaRPr lang="en-IN"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8706558"/>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DFA49F8-2118-6F29-D722-3811611C792C}"/>
              </a:ext>
            </a:extLst>
          </p:cNvPr>
          <p:cNvSpPr>
            <a:spLocks noGrp="1"/>
          </p:cNvSpPr>
          <p:nvPr>
            <p:ph type="title"/>
          </p:nvPr>
        </p:nvSpPr>
        <p:spPr/>
        <p:txBody>
          <a:bodyPr/>
          <a:lstStyle/>
          <a:p>
            <a:r>
              <a:rPr lang="en-IN" b="1">
                <a:latin typeface="Times New Roman" panose="02020603050405020304" pitchFamily="18" charset="0"/>
                <a:cs typeface="Times New Roman" panose="02020603050405020304" pitchFamily="18" charset="0"/>
              </a:rPr>
              <a:t>Polar Schemes </a:t>
            </a:r>
            <a:r>
              <a:rPr lang="en-IN"/>
              <a:t/>
            </a:r>
            <a:br>
              <a:rPr lang="en-IN"/>
            </a:br>
            <a:endParaRPr lang="en-IN"/>
          </a:p>
        </p:txBody>
      </p:sp>
      <p:sp>
        <p:nvSpPr>
          <p:cNvPr id="3" name="Content Placeholder 2">
            <a:extLst>
              <a:ext uri="{FF2B5EF4-FFF2-40B4-BE49-F238E27FC236}">
                <a16:creationId xmlns:a16="http://schemas.microsoft.com/office/drawing/2014/main" xmlns="" id="{1A2EC040-EBAE-91C8-E395-4C03C0B7E168}"/>
              </a:ext>
            </a:extLst>
          </p:cNvPr>
          <p:cNvSpPr>
            <a:spLocks noGrp="1"/>
          </p:cNvSpPr>
          <p:nvPr>
            <p:ph idx="1"/>
          </p:nvPr>
        </p:nvSpPr>
        <p:spPr>
          <a:xfrm>
            <a:off x="580103" y="1042219"/>
            <a:ext cx="10773697" cy="5134744"/>
          </a:xfrm>
        </p:spPr>
        <p:txBody>
          <a:bodyPr>
            <a:normAutofit/>
          </a:bodyPr>
          <a:lstStyle/>
          <a:p>
            <a:r>
              <a:rPr lang="en-US">
                <a:latin typeface="Times New Roman" panose="02020603050405020304" pitchFamily="18" charset="0"/>
                <a:cs typeface="Times New Roman" panose="02020603050405020304" pitchFamily="18" charset="0"/>
              </a:rPr>
              <a:t>In polar schemes, the voltages are on both sides of the time axis. </a:t>
            </a:r>
          </a:p>
          <a:p>
            <a:r>
              <a:rPr lang="en-US">
                <a:latin typeface="Times New Roman" panose="02020603050405020304" pitchFamily="18" charset="0"/>
                <a:cs typeface="Times New Roman" panose="02020603050405020304" pitchFamily="18" charset="0"/>
              </a:rPr>
              <a:t>For example, the voltage level for 0 can be positive and the voltage level for 1 can be negative. </a:t>
            </a:r>
          </a:p>
          <a:p>
            <a:pPr marL="0" indent="0">
              <a:buNone/>
            </a:pPr>
            <a:r>
              <a:rPr lang="en-US" b="1" i="1">
                <a:latin typeface="Times New Roman" panose="02020603050405020304" pitchFamily="18" charset="0"/>
                <a:cs typeface="Times New Roman" panose="02020603050405020304" pitchFamily="18" charset="0"/>
              </a:rPr>
              <a:t>Non-Return-to-Zero (NRZ)</a:t>
            </a:r>
          </a:p>
          <a:p>
            <a:r>
              <a:rPr lang="en-US">
                <a:latin typeface="Times New Roman" panose="02020603050405020304" pitchFamily="18" charset="0"/>
                <a:cs typeface="Times New Roman" panose="02020603050405020304" pitchFamily="18" charset="0"/>
              </a:rPr>
              <a:t>In </a:t>
            </a:r>
            <a:r>
              <a:rPr lang="en-US" b="1">
                <a:latin typeface="Times New Roman" panose="02020603050405020304" pitchFamily="18" charset="0"/>
                <a:cs typeface="Times New Roman" panose="02020603050405020304" pitchFamily="18" charset="0"/>
              </a:rPr>
              <a:t>polar NRZ </a:t>
            </a:r>
            <a:r>
              <a:rPr lang="en-US">
                <a:latin typeface="Times New Roman" panose="02020603050405020304" pitchFamily="18" charset="0"/>
                <a:cs typeface="Times New Roman" panose="02020603050405020304" pitchFamily="18" charset="0"/>
              </a:rPr>
              <a:t>encoding, we use two levels of voltage amplitude</a:t>
            </a:r>
          </a:p>
          <a:p>
            <a:r>
              <a:rPr lang="en-US">
                <a:latin typeface="Times New Roman" panose="02020603050405020304" pitchFamily="18" charset="0"/>
                <a:cs typeface="Times New Roman" panose="02020603050405020304" pitchFamily="18" charset="0"/>
              </a:rPr>
              <a:t>two versions of polar NRZ: NRZ-L and NRZ-I</a:t>
            </a:r>
          </a:p>
          <a:p>
            <a:pPr marL="0" indent="0">
              <a:buNone/>
            </a:pPr>
            <a:r>
              <a:rPr lang="en-US">
                <a:latin typeface="Times New Roman" panose="02020603050405020304" pitchFamily="18" charset="0"/>
                <a:cs typeface="Times New Roman" panose="02020603050405020304" pitchFamily="18" charset="0"/>
              </a:rPr>
              <a:t/>
            </a:r>
            <a:br>
              <a:rPr lang="en-US">
                <a:latin typeface="Times New Roman" panose="02020603050405020304" pitchFamily="18" charset="0"/>
                <a:cs typeface="Times New Roman" panose="02020603050405020304" pitchFamily="18" charset="0"/>
              </a:rPr>
            </a:br>
            <a:endParaRPr lang="en-IN">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xmlns="" id="{95404C96-289D-83A7-0635-519392C27903}"/>
              </a:ext>
            </a:extLst>
          </p:cNvPr>
          <p:cNvPicPr>
            <a:picLocks noChangeAspect="1"/>
          </p:cNvPicPr>
          <p:nvPr/>
        </p:nvPicPr>
        <p:blipFill>
          <a:blip r:embed="rId2"/>
          <a:stretch>
            <a:fillRect/>
          </a:stretch>
        </p:blipFill>
        <p:spPr>
          <a:xfrm>
            <a:off x="1244542" y="3969930"/>
            <a:ext cx="7933107" cy="2690093"/>
          </a:xfrm>
          <a:prstGeom prst="rect">
            <a:avLst/>
          </a:prstGeom>
        </p:spPr>
      </p:pic>
    </p:spTree>
    <p:extLst>
      <p:ext uri="{BB962C8B-B14F-4D97-AF65-F5344CB8AC3E}">
        <p14:creationId xmlns:p14="http://schemas.microsoft.com/office/powerpoint/2010/main" val="153304165"/>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146B818-4142-F602-E072-DF287352B10C}"/>
              </a:ext>
            </a:extLst>
          </p:cNvPr>
          <p:cNvSpPr>
            <a:spLocks noGrp="1"/>
          </p:cNvSpPr>
          <p:nvPr>
            <p:ph idx="1"/>
          </p:nvPr>
        </p:nvSpPr>
        <p:spPr>
          <a:xfrm>
            <a:off x="678426" y="393290"/>
            <a:ext cx="10675374" cy="5783673"/>
          </a:xfrm>
        </p:spPr>
        <p:txBody>
          <a:bodyPr/>
          <a:lstStyle/>
          <a:p>
            <a:r>
              <a:rPr lang="en-US">
                <a:latin typeface="Times New Roman" panose="02020603050405020304" pitchFamily="18" charset="0"/>
                <a:cs typeface="Times New Roman" panose="02020603050405020304" pitchFamily="18" charset="0"/>
              </a:rPr>
              <a:t>In the first variation, NRZ-L (</a:t>
            </a:r>
            <a:r>
              <a:rPr lang="en-US" b="1">
                <a:latin typeface="Times New Roman" panose="02020603050405020304" pitchFamily="18" charset="0"/>
                <a:cs typeface="Times New Roman" panose="02020603050405020304" pitchFamily="18" charset="0"/>
              </a:rPr>
              <a:t>NRZ-Level</a:t>
            </a:r>
            <a:r>
              <a:rPr lang="en-US">
                <a:latin typeface="Times New Roman" panose="02020603050405020304" pitchFamily="18" charset="0"/>
                <a:cs typeface="Times New Roman" panose="02020603050405020304" pitchFamily="18" charset="0"/>
              </a:rPr>
              <a:t>), the level of the voltage determines the value of the bit. </a:t>
            </a:r>
          </a:p>
          <a:p>
            <a:r>
              <a:rPr lang="en-US">
                <a:latin typeface="Times New Roman" panose="02020603050405020304" pitchFamily="18" charset="0"/>
                <a:cs typeface="Times New Roman" panose="02020603050405020304" pitchFamily="18" charset="0"/>
              </a:rPr>
              <a:t>In the second variation, NRZ-I (</a:t>
            </a:r>
            <a:r>
              <a:rPr lang="en-US" b="1">
                <a:latin typeface="Times New Roman" panose="02020603050405020304" pitchFamily="18" charset="0"/>
                <a:cs typeface="Times New Roman" panose="02020603050405020304" pitchFamily="18" charset="0"/>
              </a:rPr>
              <a:t>NRZ-Invert</a:t>
            </a:r>
            <a:r>
              <a:rPr lang="en-US">
                <a:latin typeface="Times New Roman" panose="02020603050405020304" pitchFamily="18" charset="0"/>
                <a:cs typeface="Times New Roman" panose="02020603050405020304" pitchFamily="18" charset="0"/>
              </a:rPr>
              <a:t>), the change or lack of change in the level of the voltage determines the value of the bit.</a:t>
            </a:r>
          </a:p>
          <a:p>
            <a:r>
              <a:rPr lang="en-US">
                <a:latin typeface="Times New Roman" panose="02020603050405020304" pitchFamily="18" charset="0"/>
                <a:cs typeface="Times New Roman" panose="02020603050405020304" pitchFamily="18" charset="0"/>
              </a:rPr>
              <a:t> If there is no change, the bit is 0; if there is a change, the bit is 1. </a:t>
            </a:r>
            <a:br>
              <a:rPr lang="en-US">
                <a:latin typeface="Times New Roman" panose="02020603050405020304" pitchFamily="18" charset="0"/>
                <a:cs typeface="Times New Roman" panose="02020603050405020304" pitchFamily="18" charset="0"/>
              </a:rPr>
            </a:br>
            <a:endParaRPr lang="en-US">
              <a:latin typeface="Times New Roman" panose="02020603050405020304" pitchFamily="18" charset="0"/>
              <a:cs typeface="Times New Roman" panose="02020603050405020304" pitchFamily="18" charset="0"/>
            </a:endParaRPr>
          </a:p>
          <a:p>
            <a:pPr marL="0" indent="0">
              <a:buNone/>
            </a:pPr>
            <a:r>
              <a:rPr lang="en-US">
                <a:latin typeface="Times New Roman" panose="02020603050405020304" pitchFamily="18" charset="0"/>
                <a:cs typeface="Times New Roman" panose="02020603050405020304" pitchFamily="18" charset="0"/>
              </a:rPr>
              <a:t>PROBLEM</a:t>
            </a:r>
            <a:endParaRPr lang="en-IN">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xmlns="" id="{94952790-85A2-EA51-11C3-85232A19D071}"/>
              </a:ext>
            </a:extLst>
          </p:cNvPr>
          <p:cNvPicPr>
            <a:picLocks noChangeAspect="1"/>
          </p:cNvPicPr>
          <p:nvPr/>
        </p:nvPicPr>
        <p:blipFill>
          <a:blip r:embed="rId2"/>
          <a:stretch>
            <a:fillRect/>
          </a:stretch>
        </p:blipFill>
        <p:spPr>
          <a:xfrm>
            <a:off x="958661" y="3804279"/>
            <a:ext cx="9222009" cy="1780444"/>
          </a:xfrm>
          <a:prstGeom prst="rect">
            <a:avLst/>
          </a:prstGeom>
        </p:spPr>
      </p:pic>
    </p:spTree>
    <p:extLst>
      <p:ext uri="{BB962C8B-B14F-4D97-AF65-F5344CB8AC3E}">
        <p14:creationId xmlns:p14="http://schemas.microsoft.com/office/powerpoint/2010/main" val="1021853194"/>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BDAC998-5BA7-4B65-D086-63AC7C7C0B3B}"/>
              </a:ext>
            </a:extLst>
          </p:cNvPr>
          <p:cNvSpPr>
            <a:spLocks noGrp="1"/>
          </p:cNvSpPr>
          <p:nvPr>
            <p:ph type="title"/>
          </p:nvPr>
        </p:nvSpPr>
        <p:spPr/>
        <p:txBody>
          <a:bodyPr/>
          <a:lstStyle/>
          <a:p>
            <a:r>
              <a:rPr lang="en-US" b="1">
                <a:latin typeface="Times New Roman" panose="02020603050405020304" pitchFamily="18" charset="0"/>
                <a:cs typeface="Times New Roman" panose="02020603050405020304" pitchFamily="18" charset="0"/>
              </a:rPr>
              <a:t>Return-to-Zero (RZ)</a:t>
            </a:r>
            <a:br>
              <a:rPr lang="en-US" b="1">
                <a:latin typeface="Times New Roman" panose="02020603050405020304" pitchFamily="18" charset="0"/>
                <a:cs typeface="Times New Roman" panose="02020603050405020304" pitchFamily="18" charset="0"/>
              </a:rPr>
            </a:br>
            <a:endParaRPr lang="en-IN">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BBAD3973-8856-57CB-A0DF-3985F13B0150}"/>
              </a:ext>
            </a:extLst>
          </p:cNvPr>
          <p:cNvSpPr>
            <a:spLocks noGrp="1"/>
          </p:cNvSpPr>
          <p:nvPr>
            <p:ph idx="1"/>
          </p:nvPr>
        </p:nvSpPr>
        <p:spPr>
          <a:xfrm>
            <a:off x="530942" y="1219200"/>
            <a:ext cx="10822858" cy="4957763"/>
          </a:xfrm>
        </p:spPr>
        <p:txBody>
          <a:bodyPr>
            <a:normAutofit fontScale="92500" lnSpcReduction="20000"/>
          </a:bodyPr>
          <a:lstStyle/>
          <a:p>
            <a:pPr algn="just"/>
            <a:r>
              <a:rPr lang="en-US" sz="2400">
                <a:latin typeface="Times New Roman" panose="02020603050405020304" pitchFamily="18" charset="0"/>
                <a:cs typeface="Times New Roman" panose="02020603050405020304" pitchFamily="18" charset="0"/>
              </a:rPr>
              <a:t>The main problem with NRZ encoding occurs when the sender and receiver clocks are not synchronized. </a:t>
            </a:r>
          </a:p>
          <a:p>
            <a:pPr algn="just"/>
            <a:r>
              <a:rPr lang="en-US" sz="2400">
                <a:latin typeface="Times New Roman" panose="02020603050405020304" pitchFamily="18" charset="0"/>
                <a:cs typeface="Times New Roman" panose="02020603050405020304" pitchFamily="18" charset="0"/>
              </a:rPr>
              <a:t>One solution is the </a:t>
            </a:r>
            <a:r>
              <a:rPr lang="en-US" sz="2400" b="1">
                <a:latin typeface="Times New Roman" panose="02020603050405020304" pitchFamily="18" charset="0"/>
                <a:cs typeface="Times New Roman" panose="02020603050405020304" pitchFamily="18" charset="0"/>
              </a:rPr>
              <a:t>return-to-zero (RZ) </a:t>
            </a:r>
            <a:r>
              <a:rPr lang="en-US" sz="2400">
                <a:latin typeface="Times New Roman" panose="02020603050405020304" pitchFamily="18" charset="0"/>
                <a:cs typeface="Times New Roman" panose="02020603050405020304" pitchFamily="18" charset="0"/>
              </a:rPr>
              <a:t>scheme, </a:t>
            </a:r>
          </a:p>
          <a:p>
            <a:pPr algn="just"/>
            <a:r>
              <a:rPr lang="en-US" sz="2400">
                <a:latin typeface="Times New Roman" panose="02020603050405020304" pitchFamily="18" charset="0"/>
                <a:cs typeface="Times New Roman" panose="02020603050405020304" pitchFamily="18" charset="0"/>
              </a:rPr>
              <a:t>it uses three values: positive, negative, and zero. </a:t>
            </a:r>
          </a:p>
          <a:p>
            <a:pPr algn="just"/>
            <a:r>
              <a:rPr lang="en-US" sz="2400">
                <a:latin typeface="Times New Roman" panose="02020603050405020304" pitchFamily="18" charset="0"/>
                <a:cs typeface="Times New Roman" panose="02020603050405020304" pitchFamily="18" charset="0"/>
              </a:rPr>
              <a:t>In RZ, the signal changes not between bits but during the bit.</a:t>
            </a:r>
          </a:p>
          <a:p>
            <a:pPr algn="just"/>
            <a:r>
              <a:rPr lang="en-US" sz="2400">
                <a:latin typeface="Times New Roman" panose="02020603050405020304" pitchFamily="18" charset="0"/>
                <a:cs typeface="Times New Roman" panose="02020603050405020304" pitchFamily="18" charset="0"/>
              </a:rPr>
              <a:t> </a:t>
            </a:r>
          </a:p>
          <a:p>
            <a:pPr algn="just"/>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a:latin typeface="Times New Roman" panose="02020603050405020304" pitchFamily="18" charset="0"/>
                <a:cs typeface="Times New Roman" panose="02020603050405020304" pitchFamily="18" charset="0"/>
              </a:rPr>
              <a:t>Here the signal goes to 0 in the middle of each bit. It remains there until the beginning of the next bit. </a:t>
            </a:r>
          </a:p>
        </p:txBody>
      </p:sp>
      <p:pic>
        <p:nvPicPr>
          <p:cNvPr id="5" name="Picture 4">
            <a:extLst>
              <a:ext uri="{FF2B5EF4-FFF2-40B4-BE49-F238E27FC236}">
                <a16:creationId xmlns:a16="http://schemas.microsoft.com/office/drawing/2014/main" xmlns="" id="{74F626AC-7D55-0BDF-78F8-5E1FDF88AB0B}"/>
              </a:ext>
            </a:extLst>
          </p:cNvPr>
          <p:cNvPicPr>
            <a:picLocks noChangeAspect="1"/>
          </p:cNvPicPr>
          <p:nvPr/>
        </p:nvPicPr>
        <p:blipFill>
          <a:blip r:embed="rId2"/>
          <a:stretch>
            <a:fillRect/>
          </a:stretch>
        </p:blipFill>
        <p:spPr>
          <a:xfrm>
            <a:off x="1720645" y="3025878"/>
            <a:ext cx="6984657" cy="2335586"/>
          </a:xfrm>
          <a:prstGeom prst="rect">
            <a:avLst/>
          </a:prstGeom>
        </p:spPr>
      </p:pic>
    </p:spTree>
    <p:extLst>
      <p:ext uri="{BB962C8B-B14F-4D97-AF65-F5344CB8AC3E}">
        <p14:creationId xmlns:p14="http://schemas.microsoft.com/office/powerpoint/2010/main" val="2065725540"/>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D194D80-E039-86C3-DA89-6F0FF4ACF1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02093B1A-8578-38CA-4BE8-3F168926EE39}"/>
              </a:ext>
            </a:extLst>
          </p:cNvPr>
          <p:cNvSpPr>
            <a:spLocks noGrp="1"/>
          </p:cNvSpPr>
          <p:nvPr>
            <p:ph type="title"/>
          </p:nvPr>
        </p:nvSpPr>
        <p:spPr/>
        <p:txBody>
          <a:bodyPr/>
          <a:lstStyle/>
          <a:p>
            <a:r>
              <a:rPr lang="en-US" b="1">
                <a:latin typeface="Times New Roman" panose="02020603050405020304" pitchFamily="18" charset="0"/>
                <a:cs typeface="Times New Roman" panose="02020603050405020304" pitchFamily="18" charset="0"/>
              </a:rPr>
              <a:t>Return-to-Zero (RZ)</a:t>
            </a:r>
            <a:br>
              <a:rPr lang="en-US" b="1">
                <a:latin typeface="Times New Roman" panose="02020603050405020304" pitchFamily="18" charset="0"/>
                <a:cs typeface="Times New Roman" panose="02020603050405020304" pitchFamily="18" charset="0"/>
              </a:rPr>
            </a:br>
            <a:endParaRPr lang="en-IN">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5A384DC8-4EA1-C143-07E2-C870D3E86BAA}"/>
              </a:ext>
            </a:extLst>
          </p:cNvPr>
          <p:cNvSpPr>
            <a:spLocks noGrp="1"/>
          </p:cNvSpPr>
          <p:nvPr>
            <p:ph idx="1"/>
          </p:nvPr>
        </p:nvSpPr>
        <p:spPr>
          <a:xfrm>
            <a:off x="530942" y="1219200"/>
            <a:ext cx="10822858" cy="4957763"/>
          </a:xfrm>
        </p:spPr>
        <p:txBody>
          <a:bodyPr>
            <a:normAutofit/>
          </a:bodyPr>
          <a:lstStyle/>
          <a:p>
            <a:pPr marL="0" indent="0" algn="just">
              <a:buNone/>
            </a:pPr>
            <a:endParaRPr lang="en-US">
              <a:latin typeface="Times New Roman" panose="02020603050405020304" pitchFamily="18" charset="0"/>
              <a:cs typeface="Times New Roman" panose="02020603050405020304" pitchFamily="18" charset="0"/>
            </a:endParaRPr>
          </a:p>
          <a:p>
            <a:pPr algn="just"/>
            <a:r>
              <a:rPr lang="en-US">
                <a:latin typeface="Times New Roman" panose="02020603050405020304" pitchFamily="18" charset="0"/>
                <a:cs typeface="Times New Roman" panose="02020603050405020304" pitchFamily="18" charset="0"/>
              </a:rPr>
              <a:t>RZ encoding is that it requires two signal changes to encode a bit and therefore occupies greater bandwidth. </a:t>
            </a:r>
          </a:p>
          <a:p>
            <a:pPr algn="just"/>
            <a:r>
              <a:rPr lang="en-US">
                <a:latin typeface="Times New Roman" panose="02020603050405020304" pitchFamily="18" charset="0"/>
                <a:cs typeface="Times New Roman" panose="02020603050405020304" pitchFamily="18" charset="0"/>
              </a:rPr>
              <a:t>no DC component problem. </a:t>
            </a:r>
          </a:p>
          <a:p>
            <a:pPr algn="just"/>
            <a:r>
              <a:rPr lang="en-US">
                <a:latin typeface="Times New Roman" panose="02020603050405020304" pitchFamily="18" charset="0"/>
                <a:cs typeface="Times New Roman" panose="02020603050405020304" pitchFamily="18" charset="0"/>
              </a:rPr>
              <a:t>Problem is the complexity: RZ uses three levels of voltage, which is more complex to create and discern. As a result of all these deficiencies, the scheme is not used today. Instead, it has been replaced by the better-performing Manchester and differential Manchester schemes</a:t>
            </a:r>
            <a:br>
              <a:rPr lang="en-US">
                <a:latin typeface="Times New Roman" panose="02020603050405020304" pitchFamily="18" charset="0"/>
                <a:cs typeface="Times New Roman" panose="02020603050405020304" pitchFamily="18" charset="0"/>
              </a:rPr>
            </a:br>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1104508"/>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78BBB9E-08F5-C8CD-9149-847FD6697AAE}"/>
              </a:ext>
            </a:extLst>
          </p:cNvPr>
          <p:cNvSpPr>
            <a:spLocks noGrp="1"/>
          </p:cNvSpPr>
          <p:nvPr>
            <p:ph type="title"/>
          </p:nvPr>
        </p:nvSpPr>
        <p:spPr>
          <a:xfrm>
            <a:off x="344129" y="365125"/>
            <a:ext cx="11009671" cy="1325563"/>
          </a:xfrm>
        </p:spPr>
        <p:txBody>
          <a:bodyPr>
            <a:normAutofit fontScale="90000"/>
          </a:bodyPr>
          <a:lstStyle/>
          <a:p>
            <a:r>
              <a:rPr lang="en-US" sz="4000" b="1" err="1">
                <a:latin typeface="Times New Roman" panose="02020603050405020304" pitchFamily="18" charset="0"/>
                <a:cs typeface="Times New Roman" panose="02020603050405020304" pitchFamily="18" charset="0"/>
              </a:rPr>
              <a:t>Biphase: Manchester and Differential Manchester</a:t>
            </a:r>
            <a:r>
              <a:rPr lang="en-US" sz="4000">
                <a:latin typeface="Times New Roman" panose="02020603050405020304" pitchFamily="18" charset="0"/>
                <a:cs typeface="Times New Roman" panose="02020603050405020304" pitchFamily="18" charset="0"/>
              </a:rPr>
              <a:t> </a:t>
            </a:r>
            <a:r>
              <a:rPr lang="en-US"/>
              <a:t/>
            </a:r>
            <a:br>
              <a:rPr lang="en-US"/>
            </a:br>
            <a:endParaRPr lang="en-IN"/>
          </a:p>
        </p:txBody>
      </p:sp>
      <p:sp>
        <p:nvSpPr>
          <p:cNvPr id="3" name="Content Placeholder 2">
            <a:extLst>
              <a:ext uri="{FF2B5EF4-FFF2-40B4-BE49-F238E27FC236}">
                <a16:creationId xmlns:a16="http://schemas.microsoft.com/office/drawing/2014/main" xmlns="" id="{24D21088-0B59-266A-F7A2-FCB4AD34DE95}"/>
              </a:ext>
            </a:extLst>
          </p:cNvPr>
          <p:cNvSpPr>
            <a:spLocks noGrp="1"/>
          </p:cNvSpPr>
          <p:nvPr>
            <p:ph idx="1"/>
          </p:nvPr>
        </p:nvSpPr>
        <p:spPr>
          <a:xfrm>
            <a:off x="245806" y="1150374"/>
            <a:ext cx="11464413" cy="5342501"/>
          </a:xfrm>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To Solve the problems like baseline wandering ,synchronization, and sometimes DC component issues. we have </a:t>
            </a:r>
          </a:p>
          <a:p>
            <a:pPr marL="0" lvl="0" indent="0" algn="just" eaLnBrk="0" fontAlgn="base" hangingPunct="0">
              <a:lnSpc>
                <a:spcPct val="10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Manchester</a:t>
            </a:r>
          </a:p>
          <a:p>
            <a:pPr marL="0" lvl="0" indent="0" algn="just" eaLnBrk="0" fontAlgn="base" hangingPunct="0">
              <a:lnSpc>
                <a:spcPct val="10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Differential Manchester</a:t>
            </a:r>
          </a:p>
          <a:p>
            <a:pPr marL="0" lvl="0" indent="0" algn="just" eaLnBrk="0" fontAlgn="base" hangingPunct="0">
              <a:lnSpc>
                <a:spcPct val="100000"/>
              </a:lnSpc>
              <a:spcBef>
                <a:spcPct val="0"/>
              </a:spcBef>
              <a:spcAft>
                <a:spcPct val="0"/>
              </a:spcAft>
              <a:buNone/>
            </a:pPr>
            <a:endParaRPr lang="en-IN" dirty="0"/>
          </a:p>
          <a:p>
            <a:pPr marL="0" lvl="0" indent="0" algn="just" eaLnBrk="0" fontAlgn="base" hangingPunct="0">
              <a:lnSpc>
                <a:spcPct val="100000"/>
              </a:lnSpc>
              <a:spcBef>
                <a:spcPct val="0"/>
              </a:spcBef>
              <a:spcAft>
                <a:spcPct val="0"/>
              </a:spcAft>
              <a:buNone/>
            </a:pPr>
            <a:r>
              <a:rPr lang="en-IN" b="1" dirty="0">
                <a:latin typeface="Times New Roman" panose="02020603050405020304" pitchFamily="18" charset="0"/>
                <a:cs typeface="Times New Roman" panose="02020603050405020304" pitchFamily="18" charset="0"/>
              </a:rPr>
              <a:t>Manchester Encoding</a:t>
            </a:r>
            <a:endParaRPr lang="en-US" altLang="en-US" b="1"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idea of RZ (transition at the middle of the bit) and the idea of NRZ-L are combined into the Manchester scheme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duration of the bit is divided into two halves. </a:t>
            </a:r>
          </a:p>
          <a:p>
            <a:pPr algn="just"/>
            <a:r>
              <a:rPr lang="en-US" dirty="0">
                <a:latin typeface="Times New Roman" panose="02020603050405020304" pitchFamily="18" charset="0"/>
                <a:cs typeface="Times New Roman" panose="02020603050405020304" pitchFamily="18" charset="0"/>
              </a:rPr>
              <a:t>The voltage remains at one level during the first half and moves to the other level in the second half. </a:t>
            </a:r>
          </a:p>
          <a:p>
            <a:pPr algn="just"/>
            <a:r>
              <a:rPr lang="en-US" dirty="0">
                <a:latin typeface="Times New Roman" panose="02020603050405020304" pitchFamily="18" charset="0"/>
                <a:cs typeface="Times New Roman" panose="02020603050405020304" pitchFamily="18" charset="0"/>
              </a:rPr>
              <a:t>The transition at the middle of the bit provides synchronization. </a:t>
            </a:r>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065585663"/>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D47112B0-54EA-BD13-ABB2-20E32C982D0A}"/>
              </a:ext>
            </a:extLst>
          </p:cNvPr>
          <p:cNvSpPr>
            <a:spLocks noGrp="1"/>
          </p:cNvSpPr>
          <p:nvPr>
            <p:ph idx="1"/>
          </p:nvPr>
        </p:nvSpPr>
        <p:spPr>
          <a:xfrm>
            <a:off x="452284" y="265471"/>
            <a:ext cx="10901516" cy="5911492"/>
          </a:xfrm>
        </p:spPr>
        <p:txBody>
          <a:bodyPr/>
          <a:lstStyle/>
          <a:p>
            <a:pPr marL="0" indent="0">
              <a:buNone/>
            </a:pPr>
            <a:r>
              <a:rPr lang="en-US" dirty="0"/>
              <a:t>0 → High in first half, Low in second half.</a:t>
            </a:r>
          </a:p>
          <a:p>
            <a:pPr marL="0" indent="0">
              <a:buNone/>
            </a:pPr>
            <a:r>
              <a:rPr lang="en-US" dirty="0"/>
              <a:t>1 → Low in first half, High in second half.</a:t>
            </a:r>
          </a:p>
          <a:p>
            <a:pPr marL="0" indent="0">
              <a:buNone/>
            </a:pPr>
            <a:r>
              <a:rPr lang="en-US" b="1" dirty="0"/>
              <a:t>Advantages:</a:t>
            </a:r>
            <a:endParaRPr lang="en-US" dirty="0"/>
          </a:p>
          <a:p>
            <a:r>
              <a:rPr lang="en-US" dirty="0"/>
              <a:t>No DC component (because positive and negative parts balance out).</a:t>
            </a:r>
          </a:p>
          <a:p>
            <a:r>
              <a:rPr lang="en-US" dirty="0"/>
              <a:t>Easy to synchronize (because every bit has a mid-transition).</a:t>
            </a:r>
          </a:p>
          <a:p>
            <a:r>
              <a:rPr lang="en-US" dirty="0"/>
              <a:t>No baseline wandering.</a:t>
            </a:r>
          </a:p>
          <a:p>
            <a:pPr marL="0" indent="0">
              <a:buNone/>
            </a:pPr>
            <a:endParaRPr lang="en-US" dirty="0"/>
          </a:p>
          <a:p>
            <a:endParaRPr lang="en-IN" dirty="0"/>
          </a:p>
        </p:txBody>
      </p:sp>
    </p:spTree>
    <p:extLst>
      <p:ext uri="{BB962C8B-B14F-4D97-AF65-F5344CB8AC3E}">
        <p14:creationId xmlns:p14="http://schemas.microsoft.com/office/powerpoint/2010/main" val="2575204770"/>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FCD0D2B-F805-252E-B2BD-B44998E292C5}"/>
              </a:ext>
            </a:extLst>
          </p:cNvPr>
          <p:cNvSpPr>
            <a:spLocks noGrp="1"/>
          </p:cNvSpPr>
          <p:nvPr>
            <p:ph type="title"/>
          </p:nvPr>
        </p:nvSpPr>
        <p:spPr/>
        <p:txBody>
          <a:bodyPr/>
          <a:lstStyle/>
          <a:p>
            <a:r>
              <a:rPr lang="en-IN" b="1">
                <a:latin typeface="Times New Roman" panose="02020603050405020304" pitchFamily="18" charset="0"/>
                <a:cs typeface="Times New Roman" panose="02020603050405020304" pitchFamily="18" charset="0"/>
              </a:rPr>
              <a:t>Differential Manchester</a:t>
            </a:r>
            <a:r>
              <a:rPr lang="en-IN">
                <a:latin typeface="Times New Roman" panose="02020603050405020304" pitchFamily="18" charset="0"/>
                <a:cs typeface="Times New Roman" panose="02020603050405020304" pitchFamily="18" charset="0"/>
              </a:rPr>
              <a:t> </a:t>
            </a:r>
            <a:r>
              <a:rPr lang="en-IN"/>
              <a:t/>
            </a:r>
            <a:br>
              <a:rPr lang="en-IN"/>
            </a:br>
            <a:endParaRPr lang="en-IN"/>
          </a:p>
        </p:txBody>
      </p:sp>
      <p:sp>
        <p:nvSpPr>
          <p:cNvPr id="3" name="Content Placeholder 2">
            <a:extLst>
              <a:ext uri="{FF2B5EF4-FFF2-40B4-BE49-F238E27FC236}">
                <a16:creationId xmlns:a16="http://schemas.microsoft.com/office/drawing/2014/main" xmlns="" id="{97B79A89-4817-D890-BEAC-2D3B86532B56}"/>
              </a:ext>
            </a:extLst>
          </p:cNvPr>
          <p:cNvSpPr>
            <a:spLocks noGrp="1"/>
          </p:cNvSpPr>
          <p:nvPr>
            <p:ph idx="1"/>
          </p:nvPr>
        </p:nvSpPr>
        <p:spPr>
          <a:xfrm>
            <a:off x="550606" y="1278194"/>
            <a:ext cx="10803194" cy="4898769"/>
          </a:xfrm>
        </p:spPr>
        <p:txBody>
          <a:bodyPr/>
          <a:lstStyle/>
          <a:p>
            <a:r>
              <a:rPr lang="en-US" sz="2400">
                <a:latin typeface="Times New Roman" panose="02020603050405020304" pitchFamily="18" charset="0"/>
                <a:cs typeface="Times New Roman" panose="02020603050405020304" pitchFamily="18" charset="0"/>
              </a:rPr>
              <a:t>Combines the ideas of RZ and NRZ-I. </a:t>
            </a:r>
          </a:p>
          <a:p>
            <a:r>
              <a:rPr lang="en-US" sz="2400">
                <a:latin typeface="Times New Roman" panose="02020603050405020304" pitchFamily="18" charset="0"/>
                <a:cs typeface="Times New Roman" panose="02020603050405020304" pitchFamily="18" charset="0"/>
              </a:rPr>
              <a:t>There is  a transition at the middle of the bit, but the bit values are determined at the beginning of the bit. </a:t>
            </a:r>
          </a:p>
          <a:p>
            <a:pPr marL="0" lvl="0" indent="0" eaLnBrk="0" fontAlgn="base" hangingPunct="0">
              <a:lnSpc>
                <a:spcPct val="100000"/>
              </a:lnSpc>
              <a:spcBef>
                <a:spcPct val="0"/>
              </a:spcBef>
              <a:spcAft>
                <a:spcPct val="0"/>
              </a:spcAft>
              <a:buFontTx/>
              <a:buChar char="•"/>
            </a:pPr>
            <a:r>
              <a:rPr lang="en-US" altLang="en-US" sz="2400">
                <a:latin typeface="Times New Roman" panose="02020603050405020304" pitchFamily="18" charset="0"/>
                <a:cs typeface="Times New Roman" panose="02020603050405020304" pitchFamily="18" charset="0"/>
              </a:rPr>
              <a:t>If the bit is 0 → A transition at the beginning of the bit.</a:t>
            </a:r>
          </a:p>
          <a:p>
            <a:pPr marL="0" lvl="0" indent="0" eaLnBrk="0" fontAlgn="base" hangingPunct="0">
              <a:lnSpc>
                <a:spcPct val="100000"/>
              </a:lnSpc>
              <a:spcBef>
                <a:spcPct val="0"/>
              </a:spcBef>
              <a:spcAft>
                <a:spcPct val="0"/>
              </a:spcAft>
              <a:buFontTx/>
              <a:buChar char="•"/>
            </a:pPr>
            <a:r>
              <a:rPr lang="en-US" altLang="en-US" sz="2400">
                <a:latin typeface="Times New Roman" panose="02020603050405020304" pitchFamily="18" charset="0"/>
                <a:cs typeface="Times New Roman" panose="02020603050405020304" pitchFamily="18" charset="0"/>
              </a:rPr>
              <a:t>If the bit is 1 → No transition at the beginning</a:t>
            </a:r>
            <a:r>
              <a:rPr lang="en-US" altLang="en-US">
                <a:latin typeface="Times New Roman" panose="02020603050405020304" pitchFamily="18" charset="0"/>
                <a:cs typeface="Times New Roman" panose="02020603050405020304" pitchFamily="18" charset="0"/>
              </a:rPr>
              <a:t>.</a:t>
            </a:r>
          </a:p>
          <a:p>
            <a:pPr marL="0" lvl="0" indent="0" eaLnBrk="0" fontAlgn="base" hangingPunct="0">
              <a:lnSpc>
                <a:spcPct val="100000"/>
              </a:lnSpc>
              <a:spcBef>
                <a:spcPct val="0"/>
              </a:spcBef>
              <a:spcAft>
                <a:spcPct val="0"/>
              </a:spcAft>
              <a:buNone/>
            </a:pPr>
            <a:r>
              <a:rPr lang="en-US">
                <a:latin typeface="Times New Roman" panose="02020603050405020304" pitchFamily="18" charset="0"/>
                <a:cs typeface="Times New Roman" panose="02020603050405020304" pitchFamily="18" charset="0"/>
              </a:rPr>
              <a:t/>
            </a:r>
            <a:br>
              <a:rPr lang="en-US">
                <a:latin typeface="Times New Roman" panose="02020603050405020304" pitchFamily="18" charset="0"/>
                <a:cs typeface="Times New Roman" panose="02020603050405020304" pitchFamily="18" charset="0"/>
              </a:rPr>
            </a:br>
            <a:endParaRPr lang="en-IN">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xmlns="" id="{359FAEA3-6B96-22FA-22EF-AE7490AED0AF}"/>
              </a:ext>
            </a:extLst>
          </p:cNvPr>
          <p:cNvPicPr>
            <a:picLocks noChangeAspect="1"/>
          </p:cNvPicPr>
          <p:nvPr/>
        </p:nvPicPr>
        <p:blipFill>
          <a:blip r:embed="rId2"/>
          <a:stretch>
            <a:fillRect/>
          </a:stretch>
        </p:blipFill>
        <p:spPr>
          <a:xfrm>
            <a:off x="1897627" y="3340822"/>
            <a:ext cx="7688824" cy="3283626"/>
          </a:xfrm>
          <a:prstGeom prst="rect">
            <a:avLst/>
          </a:prstGeom>
        </p:spPr>
      </p:pic>
    </p:spTree>
    <p:extLst>
      <p:ext uri="{BB962C8B-B14F-4D97-AF65-F5344CB8AC3E}">
        <p14:creationId xmlns:p14="http://schemas.microsoft.com/office/powerpoint/2010/main" val="631754302"/>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67CB5FB-C3DD-E04E-7F3B-A59B7DCA6DA0}"/>
              </a:ext>
            </a:extLst>
          </p:cNvPr>
          <p:cNvSpPr>
            <a:spLocks noGrp="1"/>
          </p:cNvSpPr>
          <p:nvPr>
            <p:ph idx="1"/>
          </p:nvPr>
        </p:nvSpPr>
        <p:spPr>
          <a:xfrm>
            <a:off x="678426" y="540774"/>
            <a:ext cx="10675374" cy="5636189"/>
          </a:xfrm>
        </p:spPr>
        <p:txBody>
          <a:bodyPr/>
          <a:lstStyle/>
          <a:p>
            <a:r>
              <a:rPr lang="en-US" dirty="0">
                <a:latin typeface="Times New Roman" panose="02020603050405020304" pitchFamily="18" charset="0"/>
                <a:cs typeface="Times New Roman" panose="02020603050405020304" pitchFamily="18" charset="0"/>
              </a:rPr>
              <a:t>The Manchester and differential Manchester schemes are also called </a:t>
            </a:r>
            <a:r>
              <a:rPr lang="en-US" b="1" dirty="0" err="1">
                <a:latin typeface="Times New Roman" panose="02020603050405020304" pitchFamily="18" charset="0"/>
                <a:cs typeface="Times New Roman" panose="02020603050405020304" pitchFamily="18" charset="0"/>
              </a:rPr>
              <a:t>biphase</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schemes. </a:t>
            </a:r>
          </a:p>
          <a:p>
            <a:pPr marL="0" indent="0">
              <a:buNone/>
            </a:pPr>
            <a:endParaRPr lang="en-US" dirty="0"/>
          </a:p>
          <a:p>
            <a:pPr marL="0" indent="0">
              <a:buNone/>
            </a:pPr>
            <a:r>
              <a:rPr lang="en-US" dirty="0">
                <a:latin typeface="Times New Roman" panose="02020603050405020304" pitchFamily="18" charset="0"/>
                <a:cs typeface="Times New Roman" panose="02020603050405020304" pitchFamily="18" charset="0"/>
              </a:rPr>
              <a:t>Disadvantage:</a:t>
            </a:r>
          </a:p>
          <a:p>
            <a:r>
              <a:rPr lang="en-US" dirty="0">
                <a:latin typeface="Times New Roman" panose="02020603050405020304" pitchFamily="18" charset="0"/>
                <a:cs typeface="Times New Roman" panose="02020603050405020304" pitchFamily="18" charset="0"/>
              </a:rPr>
              <a:t>The signal rate is double </a:t>
            </a:r>
          </a:p>
          <a:p>
            <a:pPr marL="0" indent="0">
              <a:buNone/>
            </a:pPr>
            <a:r>
              <a:rPr lang="en-US" dirty="0"/>
              <a:t/>
            </a:r>
            <a:br>
              <a:rPr lang="en-US" dirty="0"/>
            </a:br>
            <a:endParaRPr lang="en-IN" dirty="0"/>
          </a:p>
        </p:txBody>
      </p:sp>
    </p:spTree>
    <p:extLst>
      <p:ext uri="{BB962C8B-B14F-4D97-AF65-F5344CB8AC3E}">
        <p14:creationId xmlns:p14="http://schemas.microsoft.com/office/powerpoint/2010/main" val="63818273"/>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8C84C83-3901-7454-C24C-531727B5CC77}"/>
              </a:ext>
            </a:extLst>
          </p:cNvPr>
          <p:cNvSpPr>
            <a:spLocks noGrp="1"/>
          </p:cNvSpPr>
          <p:nvPr>
            <p:ph type="title"/>
          </p:nvPr>
        </p:nvSpPr>
        <p:spPr>
          <a:xfrm>
            <a:off x="838200" y="78659"/>
            <a:ext cx="10515600" cy="1170038"/>
          </a:xfrm>
        </p:spPr>
        <p:txBody>
          <a:bodyPr/>
          <a:lstStyle/>
          <a:p>
            <a:r>
              <a:rPr lang="en-US" b="1">
                <a:latin typeface="Times New Roman" panose="02020603050405020304" pitchFamily="18" charset="0"/>
                <a:cs typeface="Times New Roman" panose="02020603050405020304" pitchFamily="18" charset="0"/>
              </a:rPr>
              <a:t>Bipolar Schemes</a:t>
            </a:r>
            <a:endParaRPr lang="en-IN">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8C75809D-00E9-FD35-98D1-8168AB5BB241}"/>
              </a:ext>
            </a:extLst>
          </p:cNvPr>
          <p:cNvSpPr>
            <a:spLocks noGrp="1"/>
          </p:cNvSpPr>
          <p:nvPr>
            <p:ph idx="1"/>
          </p:nvPr>
        </p:nvSpPr>
        <p:spPr>
          <a:xfrm>
            <a:off x="609601" y="1071716"/>
            <a:ext cx="10744199" cy="5707625"/>
          </a:xfrm>
        </p:spPr>
        <p:txBody>
          <a:bodyPr>
            <a:normAutofit fontScale="92500" lnSpcReduction="20000"/>
          </a:bodyPr>
          <a:lstStyle/>
          <a:p>
            <a:pPr marL="0" indent="0" algn="just">
              <a:buNone/>
            </a:pPr>
            <a:r>
              <a:rPr lang="en-US" dirty="0">
                <a:latin typeface="Times New Roman" panose="02020603050405020304" pitchFamily="18" charset="0"/>
                <a:cs typeface="Times New Roman" panose="02020603050405020304" pitchFamily="18" charset="0"/>
              </a:rPr>
              <a:t>In </a:t>
            </a:r>
            <a:r>
              <a:rPr lang="en-US" b="1" dirty="0">
                <a:latin typeface="Times New Roman" panose="02020603050405020304" pitchFamily="18" charset="0"/>
                <a:cs typeface="Times New Roman" panose="02020603050405020304" pitchFamily="18" charset="0"/>
              </a:rPr>
              <a:t>bipolar </a:t>
            </a:r>
            <a:r>
              <a:rPr lang="en-US" dirty="0">
                <a:latin typeface="Times New Roman" panose="02020603050405020304" pitchFamily="18" charset="0"/>
                <a:cs typeface="Times New Roman" panose="02020603050405020304" pitchFamily="18" charset="0"/>
              </a:rPr>
              <a:t>encoding (also called </a:t>
            </a:r>
            <a:r>
              <a:rPr lang="en-US" i="1" dirty="0">
                <a:latin typeface="Times New Roman" panose="02020603050405020304" pitchFamily="18" charset="0"/>
                <a:cs typeface="Times New Roman" panose="02020603050405020304" pitchFamily="18" charset="0"/>
              </a:rPr>
              <a:t>multilevel binary</a:t>
            </a:r>
            <a:r>
              <a:rPr lang="en-US" dirty="0">
                <a:latin typeface="Times New Roman" panose="02020603050405020304" pitchFamily="18" charset="0"/>
                <a:cs typeface="Times New Roman" panose="02020603050405020304" pitchFamily="18" charset="0"/>
              </a:rPr>
              <a:t>), there are three voltage levels: positive, negative, and zero. </a:t>
            </a:r>
          </a:p>
          <a:p>
            <a:pPr marL="0" indent="0" algn="just">
              <a:buNone/>
            </a:pPr>
            <a:r>
              <a:rPr lang="en-US" dirty="0">
                <a:latin typeface="Times New Roman" panose="02020603050405020304" pitchFamily="18" charset="0"/>
                <a:cs typeface="Times New Roman" panose="02020603050405020304" pitchFamily="18" charset="0"/>
              </a:rPr>
              <a:t>The voltage level for one data element is at zero, while the voltage level for the other element alternates between positive and negative. </a:t>
            </a:r>
          </a:p>
          <a:p>
            <a:pPr marL="0" indent="0" algn="just">
              <a:buNone/>
            </a:pPr>
            <a:r>
              <a:rPr lang="en-US" dirty="0">
                <a:latin typeface="Times New Roman" panose="02020603050405020304" pitchFamily="18" charset="0"/>
                <a:cs typeface="Times New Roman" panose="02020603050405020304" pitchFamily="18" charset="0"/>
              </a:rPr>
              <a:t>Two popular bipolar schemes are:</a:t>
            </a:r>
          </a:p>
          <a:p>
            <a:pPr algn="just"/>
            <a:r>
              <a:rPr lang="en-US" dirty="0">
                <a:latin typeface="Times New Roman" panose="02020603050405020304" pitchFamily="18" charset="0"/>
                <a:cs typeface="Times New Roman" panose="02020603050405020304" pitchFamily="18" charset="0"/>
              </a:rPr>
              <a:t>AMI (Alternate Mark Inversion)</a:t>
            </a:r>
          </a:p>
          <a:p>
            <a:pPr algn="just"/>
            <a:r>
              <a:rPr lang="en-US" dirty="0" err="1">
                <a:latin typeface="Times New Roman" panose="02020603050405020304" pitchFamily="18" charset="0"/>
                <a:cs typeface="Times New Roman" panose="02020603050405020304" pitchFamily="18" charset="0"/>
              </a:rPr>
              <a:t>Pseudoternary</a:t>
            </a:r>
            <a:endParaRPr lang="en-US" dirty="0">
              <a:latin typeface="Times New Roman" panose="02020603050405020304" pitchFamily="18" charset="0"/>
              <a:cs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b="1" dirty="0">
                <a:latin typeface="Times New Roman" panose="02020603050405020304" pitchFamily="18" charset="0"/>
                <a:cs typeface="Times New Roman" panose="02020603050405020304" pitchFamily="18" charset="0"/>
              </a:rPr>
              <a:t>AMI (Alternate Mark Inversion)</a:t>
            </a:r>
          </a:p>
          <a:p>
            <a:pPr marL="0" indent="0" algn="just">
              <a:buNone/>
            </a:pPr>
            <a:r>
              <a:rPr lang="en-US" sz="2600" dirty="0">
                <a:latin typeface="Times New Roman" panose="02020603050405020304" pitchFamily="18" charset="0"/>
                <a:cs typeface="Times New Roman" panose="02020603050405020304" pitchFamily="18" charset="0"/>
              </a:rPr>
              <a:t>A common bipolar encoding scheme is called bipolar alternate mark inversion (AMI) .Here the word mark indicates 1. So AMI means alternate 1 inversion. A neutral zero voltage represents binary 0. Binary  1s are represented by alternating positive and negative voltages. </a:t>
            </a:r>
            <a:br>
              <a:rPr lang="en-US" sz="2600" dirty="0">
                <a:latin typeface="Times New Roman" panose="02020603050405020304" pitchFamily="18" charset="0"/>
                <a:cs typeface="Times New Roman" panose="02020603050405020304" pitchFamily="18" charset="0"/>
              </a:rPr>
            </a:br>
            <a:endParaRPr lang="en-US" sz="2600" dirty="0">
              <a:latin typeface="Times New Roman" panose="02020603050405020304" pitchFamily="18" charset="0"/>
              <a:cs typeface="Times New Roman" panose="02020603050405020304" pitchFamily="18" charset="0"/>
            </a:endParaRPr>
          </a:p>
          <a:p>
            <a:pPr marL="0" lvl="0" indent="0" algn="just" eaLnBrk="0" fontAlgn="base" hangingPunct="0">
              <a:lnSpc>
                <a:spcPct val="100000"/>
              </a:lnSpc>
              <a:spcBef>
                <a:spcPct val="0"/>
              </a:spcBef>
              <a:spcAft>
                <a:spcPct val="0"/>
              </a:spcAft>
              <a:buNone/>
            </a:pPr>
            <a:r>
              <a:rPr lang="en-US" altLang="en-US" sz="2600" dirty="0">
                <a:latin typeface="Times New Roman" panose="02020603050405020304" pitchFamily="18" charset="0"/>
                <a:cs typeface="Times New Roman" panose="02020603050405020304" pitchFamily="18" charset="0"/>
              </a:rPr>
              <a:t>0 →  0 voltage (neutral).</a:t>
            </a:r>
          </a:p>
          <a:p>
            <a:pPr marL="0" lvl="0" indent="0" algn="just" eaLnBrk="0" fontAlgn="base" hangingPunct="0">
              <a:lnSpc>
                <a:spcPct val="100000"/>
              </a:lnSpc>
              <a:spcBef>
                <a:spcPct val="0"/>
              </a:spcBef>
              <a:spcAft>
                <a:spcPct val="0"/>
              </a:spcAft>
              <a:buNone/>
            </a:pPr>
            <a:r>
              <a:rPr lang="en-US" altLang="en-US" sz="2600" dirty="0">
                <a:latin typeface="Times New Roman" panose="02020603050405020304" pitchFamily="18" charset="0"/>
                <a:cs typeface="Times New Roman" panose="02020603050405020304" pitchFamily="18" charset="0"/>
              </a:rPr>
              <a:t>1 → </a:t>
            </a:r>
            <a:r>
              <a:rPr lang="en-US" altLang="en-US" sz="2600" dirty="0" err="1">
                <a:latin typeface="Times New Roman" panose="02020603050405020304" pitchFamily="18" charset="0"/>
                <a:cs typeface="Times New Roman" panose="02020603050405020304" pitchFamily="18" charset="0"/>
              </a:rPr>
              <a:t>a+ve</a:t>
            </a:r>
            <a:r>
              <a:rPr lang="en-US" altLang="en-US" sz="2600" dirty="0">
                <a:latin typeface="Times New Roman" panose="02020603050405020304" pitchFamily="18" charset="0"/>
                <a:cs typeface="Times New Roman" panose="02020603050405020304" pitchFamily="18" charset="0"/>
              </a:rPr>
              <a:t> and -</a:t>
            </a:r>
            <a:r>
              <a:rPr lang="en-US" altLang="en-US" sz="2600" dirty="0" err="1">
                <a:latin typeface="Times New Roman" panose="02020603050405020304" pitchFamily="18" charset="0"/>
                <a:cs typeface="Times New Roman" panose="02020603050405020304" pitchFamily="18" charset="0"/>
              </a:rPr>
              <a:t>ve</a:t>
            </a:r>
            <a:r>
              <a:rPr lang="en-US" altLang="en-US" sz="2600" dirty="0">
                <a:latin typeface="Times New Roman" panose="02020603050405020304" pitchFamily="18" charset="0"/>
                <a:cs typeface="Times New Roman" panose="02020603050405020304" pitchFamily="18" charset="0"/>
              </a:rPr>
              <a:t> voltages.</a:t>
            </a:r>
            <a:endParaRPr lang="en-US" sz="2600"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7373275"/>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5DB5BFE-BDEF-700D-9C54-969D61D942D6}"/>
              </a:ext>
            </a:extLst>
          </p:cNvPr>
          <p:cNvSpPr>
            <a:spLocks noGrp="1"/>
          </p:cNvSpPr>
          <p:nvPr>
            <p:ph idx="1"/>
          </p:nvPr>
        </p:nvSpPr>
        <p:spPr>
          <a:xfrm>
            <a:off x="353961" y="275303"/>
            <a:ext cx="10999839" cy="5901660"/>
          </a:xfrm>
        </p:spPr>
        <p:txBody>
          <a:bodyPr/>
          <a:lstStyle/>
          <a:p>
            <a:r>
              <a:rPr lang="en-US" sz="2400" b="1" dirty="0" err="1">
                <a:latin typeface="Times New Roman" panose="02020603050405020304" pitchFamily="18" charset="0"/>
                <a:cs typeface="Times New Roman" panose="02020603050405020304" pitchFamily="18" charset="0"/>
              </a:rPr>
              <a:t>Pseudoternary</a:t>
            </a:r>
            <a:endParaRPr lang="en-US" sz="2400" b="1"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A variation of AMI encoding is called </a:t>
            </a:r>
            <a:r>
              <a:rPr lang="en-US" sz="2200" dirty="0" err="1">
                <a:latin typeface="Times New Roman" panose="02020603050405020304" pitchFamily="18" charset="0"/>
                <a:cs typeface="Times New Roman" panose="02020603050405020304" pitchFamily="18" charset="0"/>
              </a:rPr>
              <a:t>pseudoternary</a:t>
            </a:r>
            <a:r>
              <a:rPr lang="en-US" sz="2200" dirty="0">
                <a:latin typeface="Times New Roman" panose="02020603050405020304" pitchFamily="18" charset="0"/>
                <a:cs typeface="Times New Roman" panose="02020603050405020304" pitchFamily="18" charset="0"/>
              </a:rPr>
              <a:t> in which the 1 bit is encoded as a zero voltage and the 0 bit is encoded as alternating positive and negative voltages. </a:t>
            </a:r>
          </a:p>
          <a:p>
            <a:pPr marL="0" lvl="0" indent="0" eaLnBrk="0" fontAlgn="base" hangingPunct="0">
              <a:lnSpc>
                <a:spcPct val="100000"/>
              </a:lnSpc>
              <a:spcBef>
                <a:spcPct val="0"/>
              </a:spcBef>
              <a:spcAft>
                <a:spcPct val="0"/>
              </a:spcAft>
              <a:buNone/>
            </a:pPr>
            <a:r>
              <a:rPr lang="en-US" altLang="en-US" sz="2200" dirty="0">
                <a:latin typeface="Times New Roman" panose="02020603050405020304" pitchFamily="18" charset="0"/>
                <a:cs typeface="Times New Roman" panose="02020603050405020304" pitchFamily="18" charset="0"/>
              </a:rPr>
              <a:t>1 →  0 voltage (neutral).</a:t>
            </a:r>
          </a:p>
          <a:p>
            <a:pPr marL="0" lvl="0" indent="0" eaLnBrk="0" fontAlgn="base" hangingPunct="0">
              <a:lnSpc>
                <a:spcPct val="100000"/>
              </a:lnSpc>
              <a:spcBef>
                <a:spcPct val="0"/>
              </a:spcBef>
              <a:spcAft>
                <a:spcPct val="0"/>
              </a:spcAft>
              <a:buNone/>
            </a:pPr>
            <a:r>
              <a:rPr lang="en-US" altLang="en-US" sz="2200" dirty="0">
                <a:latin typeface="Times New Roman" panose="02020603050405020304" pitchFamily="18" charset="0"/>
                <a:cs typeface="Times New Roman" panose="02020603050405020304" pitchFamily="18" charset="0"/>
              </a:rPr>
              <a:t>0 → </a:t>
            </a:r>
            <a:r>
              <a:rPr lang="en-US" altLang="en-US" sz="2200" dirty="0" err="1">
                <a:latin typeface="Times New Roman" panose="02020603050405020304" pitchFamily="18" charset="0"/>
                <a:cs typeface="Times New Roman" panose="02020603050405020304" pitchFamily="18" charset="0"/>
              </a:rPr>
              <a:t>a+ve</a:t>
            </a:r>
            <a:r>
              <a:rPr lang="en-US" altLang="en-US" sz="2200" dirty="0">
                <a:latin typeface="Times New Roman" panose="02020603050405020304" pitchFamily="18" charset="0"/>
                <a:cs typeface="Times New Roman" panose="02020603050405020304" pitchFamily="18" charset="0"/>
              </a:rPr>
              <a:t> and -</a:t>
            </a:r>
            <a:r>
              <a:rPr lang="en-US" altLang="en-US" sz="2200" dirty="0" err="1">
                <a:latin typeface="Times New Roman" panose="02020603050405020304" pitchFamily="18" charset="0"/>
                <a:cs typeface="Times New Roman" panose="02020603050405020304" pitchFamily="18" charset="0"/>
              </a:rPr>
              <a:t>ve</a:t>
            </a:r>
            <a:r>
              <a:rPr lang="en-US" altLang="en-US" sz="2200" dirty="0">
                <a:latin typeface="Times New Roman" panose="02020603050405020304" pitchFamily="18" charset="0"/>
                <a:cs typeface="Times New Roman" panose="02020603050405020304" pitchFamily="18" charset="0"/>
              </a:rPr>
              <a:t> voltages.</a:t>
            </a:r>
            <a:endParaRPr lang="en-US" sz="2200" dirty="0">
              <a:latin typeface="Times New Roman" panose="02020603050405020304" pitchFamily="18" charset="0"/>
              <a:cs typeface="Times New Roman" panose="02020603050405020304" pitchFamily="18" charset="0"/>
            </a:endParaRPr>
          </a:p>
          <a:p>
            <a:pPr marL="0" indent="0">
              <a:buNone/>
            </a:pPr>
            <a:r>
              <a:rPr lang="en-US" dirty="0"/>
              <a:t/>
            </a:r>
            <a:br>
              <a:rPr lang="en-US" dirty="0"/>
            </a:br>
            <a:endParaRPr lang="en-IN" dirty="0"/>
          </a:p>
        </p:txBody>
      </p:sp>
      <p:pic>
        <p:nvPicPr>
          <p:cNvPr id="5" name="Picture 4">
            <a:extLst>
              <a:ext uri="{FF2B5EF4-FFF2-40B4-BE49-F238E27FC236}">
                <a16:creationId xmlns:a16="http://schemas.microsoft.com/office/drawing/2014/main" xmlns="" id="{E7A421C7-DDB0-18A4-F175-6ADA243012C9}"/>
              </a:ext>
            </a:extLst>
          </p:cNvPr>
          <p:cNvPicPr>
            <a:picLocks noChangeAspect="1"/>
          </p:cNvPicPr>
          <p:nvPr/>
        </p:nvPicPr>
        <p:blipFill>
          <a:blip r:embed="rId2"/>
          <a:stretch>
            <a:fillRect/>
          </a:stretch>
        </p:blipFill>
        <p:spPr>
          <a:xfrm>
            <a:off x="1635486" y="2044930"/>
            <a:ext cx="8154107" cy="2362405"/>
          </a:xfrm>
          <a:prstGeom prst="rect">
            <a:avLst/>
          </a:prstGeom>
        </p:spPr>
      </p:pic>
      <p:sp>
        <p:nvSpPr>
          <p:cNvPr id="7" name="TextBox 6">
            <a:extLst>
              <a:ext uri="{FF2B5EF4-FFF2-40B4-BE49-F238E27FC236}">
                <a16:creationId xmlns:a16="http://schemas.microsoft.com/office/drawing/2014/main" xmlns="" id="{06E8AC43-C032-3963-5ED4-050D5CF6F541}"/>
              </a:ext>
            </a:extLst>
          </p:cNvPr>
          <p:cNvSpPr txBox="1"/>
          <p:nvPr/>
        </p:nvSpPr>
        <p:spPr>
          <a:xfrm>
            <a:off x="511277" y="4722675"/>
            <a:ext cx="10842523" cy="2062103"/>
          </a:xfrm>
          <a:prstGeom prst="rect">
            <a:avLst/>
          </a:prstGeom>
          <a:noFill/>
        </p:spPr>
        <p:txBody>
          <a:bodyPr wrap="square">
            <a:spAutoFit/>
          </a:bodyPr>
          <a:lstStyle/>
          <a:p>
            <a:pPr algn="just"/>
            <a:r>
              <a:rPr lang="en-US" sz="2200" b="0" i="0" dirty="0">
                <a:solidFill>
                  <a:srgbClr val="242021"/>
                </a:solidFill>
                <a:effectLst/>
                <a:latin typeface="Times New Roman" panose="02020603050405020304" pitchFamily="18" charset="0"/>
                <a:cs typeface="Times New Roman" panose="02020603050405020304" pitchFamily="18" charset="0"/>
              </a:rPr>
              <a:t>The bipolar scheme was developed as an alternative to NRZ. The bipolar scheme has the same signal rate as NRZ, but there is no DC component</a:t>
            </a:r>
            <a:r>
              <a:rPr lang="en-US" sz="2200" dirty="0">
                <a:solidFill>
                  <a:srgbClr val="242021"/>
                </a:solidFill>
                <a:latin typeface="Times New Roman" panose="02020603050405020304" pitchFamily="18" charset="0"/>
                <a:cs typeface="Times New Roman" panose="02020603050405020304" pitchFamily="18" charset="0"/>
              </a:rPr>
              <a:t> because </a:t>
            </a:r>
            <a:r>
              <a:rPr lang="en-US" sz="2200" dirty="0">
                <a:latin typeface="Times New Roman" panose="02020603050405020304" pitchFamily="18" charset="0"/>
                <a:cs typeface="Times New Roman" panose="02020603050405020304" pitchFamily="18" charset="0"/>
              </a:rPr>
              <a:t>If we have a long sequence of 1s, the voltage level alternates between positive and negative; it is not constant. Therefore, there is no DC component. For a long sequence of 0s, the voltage remains constant, but its amplitude is zero, which is the same as having no DC component. </a:t>
            </a:r>
            <a:br>
              <a:rPr lang="en-US" sz="2200" dirty="0">
                <a:latin typeface="Times New Roman" panose="02020603050405020304" pitchFamily="18" charset="0"/>
                <a:cs typeface="Times New Roman" panose="02020603050405020304" pitchFamily="18" charset="0"/>
              </a:rPr>
            </a:br>
            <a:endParaRPr lang="en-IN" dirty="0"/>
          </a:p>
        </p:txBody>
      </p:sp>
    </p:spTree>
    <p:extLst>
      <p:ext uri="{BB962C8B-B14F-4D97-AF65-F5344CB8AC3E}">
        <p14:creationId xmlns:p14="http://schemas.microsoft.com/office/powerpoint/2010/main" val="2441099481"/>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xmlns="" id="{178E2781-9768-89A9-E292-1EBF953117B0}"/>
              </a:ext>
            </a:extLst>
          </p:cNvPr>
          <p:cNvSpPr txBox="1"/>
          <p:nvPr/>
        </p:nvSpPr>
        <p:spPr>
          <a:xfrm>
            <a:off x="717755" y="424934"/>
            <a:ext cx="6096000" cy="52322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buClr>
                <a:srgbClr val="C00000"/>
              </a:buClr>
              <a:buSzPts val="1600"/>
              <a:tabLst>
                <a:tab pos="401320" algn="l"/>
              </a:tabLst>
            </a:pPr>
            <a:r>
              <a:rPr lang="en-US" sz="2800" b="1" spc="-10" dirty="0">
                <a:solidFill>
                  <a:srgbClr val="C00000"/>
                </a:solidFill>
                <a:effectLst/>
                <a:latin typeface="Times New Roman" panose="02020603050405020304" pitchFamily="18" charset="0"/>
                <a:ea typeface="Times New Roman" panose="02020603050405020304" pitchFamily="18" charset="0"/>
              </a:rPr>
              <a:t>Analog-To-Digital</a:t>
            </a:r>
            <a:r>
              <a:rPr lang="en-US" sz="2800" b="1" spc="45" dirty="0">
                <a:solidFill>
                  <a:srgbClr val="C00000"/>
                </a:solidFill>
                <a:effectLst/>
                <a:latin typeface="Times New Roman" panose="02020603050405020304" pitchFamily="18" charset="0"/>
                <a:ea typeface="Times New Roman" panose="02020603050405020304" pitchFamily="18" charset="0"/>
              </a:rPr>
              <a:t> </a:t>
            </a:r>
            <a:r>
              <a:rPr lang="en-US" sz="2800" b="1" spc="-10" dirty="0">
                <a:solidFill>
                  <a:srgbClr val="C00000"/>
                </a:solidFill>
                <a:effectLst/>
                <a:latin typeface="Times New Roman" panose="02020603050405020304" pitchFamily="18" charset="0"/>
                <a:ea typeface="Times New Roman" panose="02020603050405020304" pitchFamily="18" charset="0"/>
              </a:rPr>
              <a:t>Conversion</a:t>
            </a:r>
            <a:endParaRPr lang="en-IN" sz="2800" b="1" spc="0" dirty="0">
              <a:effectLst/>
              <a:latin typeface="Times New Roman" panose="02020603050405020304" pitchFamily="18" charset="0"/>
              <a:ea typeface="Times New Roman" panose="02020603050405020304" pitchFamily="18" charset="0"/>
            </a:endParaRPr>
          </a:p>
        </p:txBody>
      </p:sp>
      <p:sp>
        <p:nvSpPr>
          <p:cNvPr id="13" name="TextBox 12">
            <a:extLst>
              <a:ext uri="{FF2B5EF4-FFF2-40B4-BE49-F238E27FC236}">
                <a16:creationId xmlns:a16="http://schemas.microsoft.com/office/drawing/2014/main" xmlns="" id="{51F6CDEF-372F-58FB-20A2-2E857899BF3B}"/>
              </a:ext>
            </a:extLst>
          </p:cNvPr>
          <p:cNvSpPr txBox="1"/>
          <p:nvPr/>
        </p:nvSpPr>
        <p:spPr>
          <a:xfrm>
            <a:off x="1160206" y="1227788"/>
            <a:ext cx="10333704" cy="1015663"/>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 </a:t>
            </a:r>
            <a:r>
              <a:rPr lang="en-US" sz="2000" dirty="0">
                <a:latin typeface="Times New Roman" panose="02020603050405020304" pitchFamily="18" charset="0"/>
                <a:cs typeface="Times New Roman" panose="02020603050405020304" pitchFamily="18" charset="0"/>
              </a:rPr>
              <a:t>An analog-signal may created by a microphone or camera.</a:t>
            </a:r>
          </a:p>
          <a:p>
            <a:r>
              <a:rPr lang="en-US" sz="2000" dirty="0">
                <a:latin typeface="Times New Roman" panose="02020603050405020304" pitchFamily="18" charset="0"/>
                <a:cs typeface="Times New Roman" panose="02020603050405020304" pitchFamily="18" charset="0"/>
              </a:rPr>
              <a:t> • To change an analog-signal to digital-data, we use PCM (pulse code modulation).</a:t>
            </a:r>
          </a:p>
          <a:p>
            <a:r>
              <a:rPr lang="en-US" sz="2000" dirty="0">
                <a:latin typeface="Times New Roman" panose="02020603050405020304" pitchFamily="18" charset="0"/>
                <a:cs typeface="Times New Roman" panose="02020603050405020304" pitchFamily="18" charset="0"/>
              </a:rPr>
              <a:t> • After the digital-data are created (digitization), then we convert the digital-data to a digital-signal. </a:t>
            </a:r>
            <a:endParaRPr lang="en-IN" sz="20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xmlns="" id="{757F25FE-2532-7731-1136-919863F2E0D6}"/>
              </a:ext>
            </a:extLst>
          </p:cNvPr>
          <p:cNvSpPr txBox="1"/>
          <p:nvPr/>
        </p:nvSpPr>
        <p:spPr>
          <a:xfrm>
            <a:off x="1165122" y="2430752"/>
            <a:ext cx="9861755" cy="233910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spc="-10">
                <a:solidFill>
                  <a:srgbClr val="C00000"/>
                </a:solidFill>
                <a:latin typeface="Times New Roman" panose="02020603050405020304" pitchFamily="18" charset="0"/>
              </a:rPr>
              <a:t>Pulse Code Modulation (PCM)</a:t>
            </a:r>
            <a:endParaRPr lang="en-IN" sz="2000" b="1" spc="-10">
              <a:solidFill>
                <a:srgbClr val="C00000"/>
              </a:solidFill>
              <a:latin typeface="Times New Roman" panose="02020603050405020304" pitchFamily="18" charset="0"/>
            </a:endParaRPr>
          </a:p>
          <a:p>
            <a:endParaRPr lang="en-US"/>
          </a:p>
          <a:p>
            <a:r>
              <a:rPr lang="en-US"/>
              <a:t>• PCM is a technique used to change an analog signal to digital data (digitization). </a:t>
            </a:r>
          </a:p>
          <a:p>
            <a:r>
              <a:rPr lang="en-US"/>
              <a:t>• PCM has encoder at the sender and decoder at the receiver.</a:t>
            </a:r>
          </a:p>
          <a:p>
            <a:r>
              <a:rPr lang="en-US"/>
              <a:t> • The encoder has 3 processes (Figure 4.21):</a:t>
            </a:r>
          </a:p>
          <a:p>
            <a:r>
              <a:rPr lang="en-US"/>
              <a:t> 1) Sampling</a:t>
            </a:r>
          </a:p>
          <a:p>
            <a:r>
              <a:rPr lang="en-US"/>
              <a:t> 2) Quantization </a:t>
            </a:r>
          </a:p>
          <a:p>
            <a:r>
              <a:rPr lang="en-US"/>
              <a:t> 3) Encoding. </a:t>
            </a:r>
            <a:endParaRPr lang="en-IN"/>
          </a:p>
        </p:txBody>
      </p:sp>
      <p:pic>
        <p:nvPicPr>
          <p:cNvPr id="19" name="Picture 18">
            <a:extLst>
              <a:ext uri="{FF2B5EF4-FFF2-40B4-BE49-F238E27FC236}">
                <a16:creationId xmlns:a16="http://schemas.microsoft.com/office/drawing/2014/main" xmlns="" id="{8467C2C6-594A-0285-9A7C-73B34253D186}"/>
              </a:ext>
            </a:extLst>
          </p:cNvPr>
          <p:cNvPicPr>
            <a:picLocks noChangeAspect="1"/>
          </p:cNvPicPr>
          <p:nvPr/>
        </p:nvPicPr>
        <p:blipFill>
          <a:blip r:embed="rId2"/>
          <a:stretch>
            <a:fillRect/>
          </a:stretch>
        </p:blipFill>
        <p:spPr>
          <a:xfrm>
            <a:off x="1487817" y="5083244"/>
            <a:ext cx="9735404" cy="1091413"/>
          </a:xfrm>
          <a:prstGeom prst="rect">
            <a:avLst/>
          </a:prstGeom>
        </p:spPr>
      </p:pic>
    </p:spTree>
    <p:extLst>
      <p:ext uri="{BB962C8B-B14F-4D97-AF65-F5344CB8AC3E}">
        <p14:creationId xmlns:p14="http://schemas.microsoft.com/office/powerpoint/2010/main" val="793410172"/>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5B467B3B-9983-5052-036D-2D8AB68BE60B}"/>
              </a:ext>
            </a:extLst>
          </p:cNvPr>
          <p:cNvPicPr>
            <a:picLocks noChangeAspect="1"/>
          </p:cNvPicPr>
          <p:nvPr/>
        </p:nvPicPr>
        <p:blipFill>
          <a:blip r:embed="rId2"/>
          <a:stretch>
            <a:fillRect/>
          </a:stretch>
        </p:blipFill>
        <p:spPr>
          <a:xfrm>
            <a:off x="1533833" y="340097"/>
            <a:ext cx="8740877" cy="5830302"/>
          </a:xfrm>
          <a:prstGeom prst="rect">
            <a:avLst/>
          </a:prstGeom>
        </p:spPr>
      </p:pic>
    </p:spTree>
    <p:extLst>
      <p:ext uri="{BB962C8B-B14F-4D97-AF65-F5344CB8AC3E}">
        <p14:creationId xmlns:p14="http://schemas.microsoft.com/office/powerpoint/2010/main" val="2026121908"/>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1CF62EBF-210E-5658-3249-9E54DA5DCBC4}"/>
              </a:ext>
            </a:extLst>
          </p:cNvPr>
          <p:cNvSpPr txBox="1"/>
          <p:nvPr/>
        </p:nvSpPr>
        <p:spPr>
          <a:xfrm>
            <a:off x="540772" y="0"/>
            <a:ext cx="6096000" cy="461665"/>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7155">
              <a:buNone/>
            </a:pPr>
            <a:r>
              <a:rPr lang="en-US" sz="2400" b="1" spc="-10">
                <a:solidFill>
                  <a:srgbClr val="C00000"/>
                </a:solidFill>
                <a:effectLst/>
                <a:latin typeface="Times New Roman" panose="02020603050405020304" pitchFamily="18" charset="0"/>
                <a:ea typeface="Times New Roman" panose="02020603050405020304" pitchFamily="18" charset="0"/>
              </a:rPr>
              <a:t>Sampling:</a:t>
            </a:r>
            <a:endParaRPr lang="en-IN" sz="2400" b="1">
              <a:effectLst/>
              <a:latin typeface="Times New Roman" panose="02020603050405020304" pitchFamily="18" charset="0"/>
              <a:ea typeface="Times New Roman" panose="02020603050405020304" pitchFamily="18" charset="0"/>
            </a:endParaRPr>
          </a:p>
        </p:txBody>
      </p:sp>
      <p:sp>
        <p:nvSpPr>
          <p:cNvPr id="9" name="TextBox 8">
            <a:extLst>
              <a:ext uri="{FF2B5EF4-FFF2-40B4-BE49-F238E27FC236}">
                <a16:creationId xmlns:a16="http://schemas.microsoft.com/office/drawing/2014/main" xmlns="" id="{1C1438DC-2206-E9F0-978B-EF65C24FB639}"/>
              </a:ext>
            </a:extLst>
          </p:cNvPr>
          <p:cNvSpPr txBox="1"/>
          <p:nvPr/>
        </p:nvSpPr>
        <p:spPr>
          <a:xfrm>
            <a:off x="707921" y="558291"/>
            <a:ext cx="10264877" cy="369331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just">
              <a:buFont typeface="Arial" panose="020B0604020202020204" pitchFamily="34" charset="0"/>
              <a:buChar char="•"/>
            </a:pPr>
            <a:r>
              <a:rPr lang="en-US"/>
              <a:t>The first step in PCM is sampling. The analog signal is sampled every Ts s, where Ts is the sample interval or period.</a:t>
            </a:r>
          </a:p>
          <a:p>
            <a:pPr marL="285750" indent="-285750" algn="just">
              <a:buFont typeface="Arial" panose="020B0604020202020204" pitchFamily="34" charset="0"/>
              <a:buChar char="•"/>
            </a:pPr>
            <a:r>
              <a:rPr lang="en-US"/>
              <a:t>The inverse of the sampling interval is called the sampling rate or sampling frequency and denoted by fs, where fs = 1/Ts.</a:t>
            </a:r>
          </a:p>
          <a:p>
            <a:endParaRPr lang="en-US"/>
          </a:p>
          <a:p>
            <a:r>
              <a:rPr lang="en-US"/>
              <a:t>There are three sampling methods- </a:t>
            </a:r>
            <a:r>
              <a:rPr lang="en-US" b="1"/>
              <a:t>ideal, natural, and flat-top.</a:t>
            </a:r>
          </a:p>
          <a:p>
            <a:endParaRPr lang="en-US" b="1"/>
          </a:p>
          <a:p>
            <a:pPr algn="just"/>
            <a:r>
              <a:rPr lang="en-US" b="1"/>
              <a:t>1) Ideal Sampling :  </a:t>
            </a:r>
            <a:r>
              <a:rPr lang="en-US"/>
              <a:t>This method is difficult to implement. Pulses from the analog signal are sampled.</a:t>
            </a:r>
          </a:p>
          <a:p>
            <a:pPr algn="just"/>
            <a:r>
              <a:rPr lang="en-US" b="1"/>
              <a:t>2) Natural Sampling  : </a:t>
            </a:r>
            <a:r>
              <a:rPr lang="en-US"/>
              <a:t>A high-speed switch is turned ON for only the small period of time when the sampling occurs.  The result is a sequence of samples that retains the shape of the analog-signal.  </a:t>
            </a:r>
          </a:p>
          <a:p>
            <a:pPr algn="just"/>
            <a:r>
              <a:rPr lang="en-US" b="1"/>
              <a:t>3) Flat Top Sampling  : </a:t>
            </a:r>
            <a:r>
              <a:rPr lang="en-US"/>
              <a:t>The most common sampling method is sample and hold.  Sample and hold method creates flat-top samples.  This method is sometimes referred to as PAM (pulse amplitude modulation). </a:t>
            </a:r>
          </a:p>
        </p:txBody>
      </p:sp>
      <p:pic>
        <p:nvPicPr>
          <p:cNvPr id="13" name="Picture 12">
            <a:extLst>
              <a:ext uri="{FF2B5EF4-FFF2-40B4-BE49-F238E27FC236}">
                <a16:creationId xmlns:a16="http://schemas.microsoft.com/office/drawing/2014/main" xmlns="" id="{60ED3883-AAB1-4DC2-17A8-43A850CCEC04}"/>
              </a:ext>
            </a:extLst>
          </p:cNvPr>
          <p:cNvPicPr>
            <a:picLocks noChangeAspect="1"/>
          </p:cNvPicPr>
          <p:nvPr/>
        </p:nvPicPr>
        <p:blipFill>
          <a:blip r:embed="rId2"/>
          <a:stretch>
            <a:fillRect/>
          </a:stretch>
        </p:blipFill>
        <p:spPr>
          <a:xfrm>
            <a:off x="1543346" y="4384248"/>
            <a:ext cx="8426563" cy="2080308"/>
          </a:xfrm>
          <a:prstGeom prst="rect">
            <a:avLst/>
          </a:prstGeom>
        </p:spPr>
      </p:pic>
    </p:spTree>
    <p:extLst>
      <p:ext uri="{BB962C8B-B14F-4D97-AF65-F5344CB8AC3E}">
        <p14:creationId xmlns:p14="http://schemas.microsoft.com/office/powerpoint/2010/main" val="34049798"/>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3708999F-7580-0990-102C-4AB0D01F5187}"/>
              </a:ext>
            </a:extLst>
          </p:cNvPr>
          <p:cNvSpPr txBox="1"/>
          <p:nvPr/>
        </p:nvSpPr>
        <p:spPr>
          <a:xfrm>
            <a:off x="353962" y="132168"/>
            <a:ext cx="11169444" cy="1754326"/>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a:t> Sampling Rate  </a:t>
            </a:r>
          </a:p>
          <a:p>
            <a:pPr algn="just"/>
            <a:r>
              <a:rPr lang="en-US"/>
              <a:t>• According to Nyquist theorem,  </a:t>
            </a:r>
          </a:p>
          <a:p>
            <a:pPr algn="just"/>
            <a:r>
              <a:rPr lang="en-US"/>
              <a:t>“The sampling-rate must be at least 2 times the highest frequency, not the bandwidth“.  </a:t>
            </a:r>
          </a:p>
          <a:p>
            <a:pPr algn="just"/>
            <a:r>
              <a:rPr lang="en-US" err="1"/>
              <a:t>i) If the analog-signal </a:t>
            </a:r>
            <a:r>
              <a:rPr lang="en-US" b="1"/>
              <a:t>is low-pass</a:t>
            </a:r>
            <a:r>
              <a:rPr lang="en-US"/>
              <a:t>, the bandwidth and the highest frequency are the same  value (Figure 4.23a).  </a:t>
            </a:r>
          </a:p>
          <a:p>
            <a:pPr algn="just"/>
            <a:r>
              <a:rPr lang="en-US"/>
              <a:t>ii) If the analog-signal is </a:t>
            </a:r>
            <a:r>
              <a:rPr lang="en-US" b="1"/>
              <a:t>bandpass</a:t>
            </a:r>
            <a:r>
              <a:rPr lang="en-US"/>
              <a:t>, the bandwidth value is lower than the value of the maximum frequency (Figure 4.23b). </a:t>
            </a:r>
            <a:endParaRPr lang="en-IN"/>
          </a:p>
        </p:txBody>
      </p:sp>
      <p:pic>
        <p:nvPicPr>
          <p:cNvPr id="9" name="Picture 8">
            <a:extLst>
              <a:ext uri="{FF2B5EF4-FFF2-40B4-BE49-F238E27FC236}">
                <a16:creationId xmlns:a16="http://schemas.microsoft.com/office/drawing/2014/main" xmlns="" id="{8E3CD833-4743-AB74-155F-C5864D8849B1}"/>
              </a:ext>
            </a:extLst>
          </p:cNvPr>
          <p:cNvPicPr>
            <a:picLocks noChangeAspect="1"/>
          </p:cNvPicPr>
          <p:nvPr/>
        </p:nvPicPr>
        <p:blipFill>
          <a:blip r:embed="rId2"/>
          <a:stretch>
            <a:fillRect/>
          </a:stretch>
        </p:blipFill>
        <p:spPr>
          <a:xfrm>
            <a:off x="1219921" y="2038602"/>
            <a:ext cx="7540621" cy="3351387"/>
          </a:xfrm>
          <a:prstGeom prst="rect">
            <a:avLst/>
          </a:prstGeom>
        </p:spPr>
      </p:pic>
      <p:pic>
        <p:nvPicPr>
          <p:cNvPr id="11" name="Picture 10">
            <a:extLst>
              <a:ext uri="{FF2B5EF4-FFF2-40B4-BE49-F238E27FC236}">
                <a16:creationId xmlns:a16="http://schemas.microsoft.com/office/drawing/2014/main" xmlns="" id="{606D7AFB-544F-F3D1-C898-F085B9BEACFE}"/>
              </a:ext>
            </a:extLst>
          </p:cNvPr>
          <p:cNvPicPr>
            <a:picLocks noChangeAspect="1"/>
          </p:cNvPicPr>
          <p:nvPr/>
        </p:nvPicPr>
        <p:blipFill>
          <a:blip r:embed="rId3"/>
          <a:stretch>
            <a:fillRect/>
          </a:stretch>
        </p:blipFill>
        <p:spPr>
          <a:xfrm>
            <a:off x="2035546" y="5805076"/>
            <a:ext cx="5151566" cy="281964"/>
          </a:xfrm>
          <a:prstGeom prst="rect">
            <a:avLst/>
          </a:prstGeom>
        </p:spPr>
      </p:pic>
    </p:spTree>
    <p:extLst>
      <p:ext uri="{BB962C8B-B14F-4D97-AF65-F5344CB8AC3E}">
        <p14:creationId xmlns:p14="http://schemas.microsoft.com/office/powerpoint/2010/main" val="3304692073"/>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2950CD39-A486-8915-FB61-55551420C3EE}"/>
              </a:ext>
            </a:extLst>
          </p:cNvPr>
          <p:cNvSpPr txBox="1"/>
          <p:nvPr/>
        </p:nvSpPr>
        <p:spPr>
          <a:xfrm>
            <a:off x="786580" y="346441"/>
            <a:ext cx="11002297" cy="5539978"/>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2400" b="1" spc="-10">
                <a:solidFill>
                  <a:srgbClr val="C00000"/>
                </a:solidFill>
                <a:latin typeface="Times New Roman" panose="02020603050405020304" pitchFamily="18" charset="0"/>
              </a:rPr>
              <a:t>2.1.2 Quantization  </a:t>
            </a:r>
          </a:p>
          <a:p>
            <a:pPr algn="just"/>
            <a:endParaRPr lang="en-US" sz="2400" b="1" spc="-10">
              <a:solidFill>
                <a:srgbClr val="C00000"/>
              </a:solidFill>
              <a:latin typeface="Times New Roman" panose="02020603050405020304" pitchFamily="18" charset="0"/>
            </a:endParaRPr>
          </a:p>
          <a:p>
            <a:pPr algn="just"/>
            <a:r>
              <a:rPr lang="en-US"/>
              <a:t>• The sampled-signal is quantized.  </a:t>
            </a:r>
          </a:p>
          <a:p>
            <a:pPr algn="just"/>
            <a:r>
              <a:rPr lang="en-US"/>
              <a:t>• Result of sampling is a set of pulses with amplitude-values b/w max &amp; min amplitudes of the signal.  </a:t>
            </a:r>
          </a:p>
          <a:p>
            <a:pPr algn="just"/>
            <a:r>
              <a:rPr lang="en-US"/>
              <a:t>• Four steps in quantization:  </a:t>
            </a:r>
          </a:p>
          <a:p>
            <a:pPr algn="just"/>
            <a:r>
              <a:rPr lang="en-US"/>
              <a:t>	1) We assume that the original analog-signal has amplitudes between Vmin &amp; Vmax.  </a:t>
            </a:r>
          </a:p>
          <a:p>
            <a:pPr algn="just"/>
            <a:r>
              <a:rPr lang="en-US"/>
              <a:t>	2) We divide the range into L zones, each of height Δ(delta).</a:t>
            </a:r>
          </a:p>
          <a:p>
            <a:pPr algn="just"/>
            <a:endParaRPr lang="en-US"/>
          </a:p>
          <a:p>
            <a:pPr algn="just"/>
            <a:r>
              <a:rPr lang="en-US"/>
              <a:t>	                                                                      where L = number of levels.  </a:t>
            </a:r>
          </a:p>
          <a:p>
            <a:pPr algn="just"/>
            <a:endParaRPr lang="en-US"/>
          </a:p>
          <a:p>
            <a:pPr algn="just"/>
            <a:r>
              <a:rPr lang="en-US"/>
              <a:t>	3) We assign quantized values of 0 to (L-1) to the midpoint of each zone.  </a:t>
            </a:r>
          </a:p>
          <a:p>
            <a:pPr algn="just"/>
            <a:r>
              <a:rPr lang="en-US"/>
              <a:t>	4) We approximate the value of the sample amplitude to the quantized values.  </a:t>
            </a:r>
          </a:p>
          <a:p>
            <a:pPr algn="just"/>
            <a:r>
              <a:rPr lang="en-US"/>
              <a:t>• For example: Let Vmin=-20   Vmax =+20 V  L=8 Therefore </a:t>
            </a:r>
            <a:r>
              <a:rPr lang="el-GR"/>
              <a:t>, Δ = [+20-(-20)]/8= 5 V</a:t>
            </a:r>
            <a:endParaRPr lang="en-US"/>
          </a:p>
          <a:p>
            <a:pPr algn="just"/>
            <a:r>
              <a:rPr lang="en-US"/>
              <a:t>• In the chart (Figure 4.26),  </a:t>
            </a:r>
          </a:p>
          <a:p>
            <a:pPr algn="just"/>
            <a:r>
              <a:rPr lang="en-US"/>
              <a:t>	1) First row is normalized-PAM-value for each sample.  </a:t>
            </a:r>
          </a:p>
          <a:p>
            <a:pPr algn="just"/>
            <a:r>
              <a:rPr lang="en-US"/>
              <a:t>	2) Second row is normalized-quantized-value for each sample.  </a:t>
            </a:r>
          </a:p>
          <a:p>
            <a:pPr algn="just"/>
            <a:r>
              <a:rPr lang="en-US"/>
              <a:t>	3) Third row is normalized error (which is diff. b/w normalized PAM value &amp; quantized values).  </a:t>
            </a:r>
          </a:p>
          <a:p>
            <a:pPr algn="just"/>
            <a:r>
              <a:rPr lang="en-US"/>
              <a:t>	4) Fourth row is quantization code for each sample.  </a:t>
            </a:r>
          </a:p>
          <a:p>
            <a:pPr algn="just"/>
            <a:r>
              <a:rPr lang="en-US"/>
              <a:t>	5) Fifth row is the encoded words (which are the final products of the conversion).</a:t>
            </a:r>
            <a:endParaRPr lang="en-IN"/>
          </a:p>
        </p:txBody>
      </p:sp>
      <p:pic>
        <p:nvPicPr>
          <p:cNvPr id="9" name="Picture 8">
            <a:extLst>
              <a:ext uri="{FF2B5EF4-FFF2-40B4-BE49-F238E27FC236}">
                <a16:creationId xmlns:a16="http://schemas.microsoft.com/office/drawing/2014/main" xmlns="" id="{4B3B2642-90B5-B240-2B9A-E1A96695FD78}"/>
              </a:ext>
            </a:extLst>
          </p:cNvPr>
          <p:cNvPicPr>
            <a:picLocks noChangeAspect="1"/>
          </p:cNvPicPr>
          <p:nvPr/>
        </p:nvPicPr>
        <p:blipFill>
          <a:blip r:embed="rId2"/>
          <a:stretch>
            <a:fillRect/>
          </a:stretch>
        </p:blipFill>
        <p:spPr>
          <a:xfrm>
            <a:off x="2222997" y="2543697"/>
            <a:ext cx="1965545" cy="787912"/>
          </a:xfrm>
          <a:prstGeom prst="rect">
            <a:avLst/>
          </a:prstGeom>
        </p:spPr>
      </p:pic>
    </p:spTree>
    <p:extLst>
      <p:ext uri="{BB962C8B-B14F-4D97-AF65-F5344CB8AC3E}">
        <p14:creationId xmlns:p14="http://schemas.microsoft.com/office/powerpoint/2010/main" val="2070056598"/>
      </p:ext>
    </p:extLst>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xmlns="" id="{61851769-0FCB-AF08-7095-0C1D75F65C52}"/>
              </a:ext>
            </a:extLst>
          </p:cNvPr>
          <p:cNvPicPr>
            <a:picLocks noChangeAspect="1"/>
          </p:cNvPicPr>
          <p:nvPr/>
        </p:nvPicPr>
        <p:blipFill>
          <a:blip r:embed="rId2"/>
          <a:stretch>
            <a:fillRect/>
          </a:stretch>
        </p:blipFill>
        <p:spPr>
          <a:xfrm>
            <a:off x="2985491" y="6301692"/>
            <a:ext cx="4549534" cy="556308"/>
          </a:xfrm>
          <a:prstGeom prst="rect">
            <a:avLst/>
          </a:prstGeom>
        </p:spPr>
      </p:pic>
      <p:pic>
        <p:nvPicPr>
          <p:cNvPr id="9" name="Picture 8">
            <a:extLst>
              <a:ext uri="{FF2B5EF4-FFF2-40B4-BE49-F238E27FC236}">
                <a16:creationId xmlns:a16="http://schemas.microsoft.com/office/drawing/2014/main" xmlns="" id="{0E0DAB67-352E-A66D-6A8A-8B75A7750030}"/>
              </a:ext>
            </a:extLst>
          </p:cNvPr>
          <p:cNvPicPr>
            <a:picLocks noChangeAspect="1"/>
          </p:cNvPicPr>
          <p:nvPr/>
        </p:nvPicPr>
        <p:blipFill>
          <a:blip r:embed="rId3"/>
          <a:stretch>
            <a:fillRect/>
          </a:stretch>
        </p:blipFill>
        <p:spPr>
          <a:xfrm>
            <a:off x="1877962" y="139138"/>
            <a:ext cx="7757651" cy="5829196"/>
          </a:xfrm>
          <a:prstGeom prst="rect">
            <a:avLst/>
          </a:prstGeom>
        </p:spPr>
      </p:pic>
    </p:spTree>
    <p:extLst>
      <p:ext uri="{BB962C8B-B14F-4D97-AF65-F5344CB8AC3E}">
        <p14:creationId xmlns:p14="http://schemas.microsoft.com/office/powerpoint/2010/main" val="816069198"/>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16449C4D-0CE0-6405-FF72-D68CD336A27D}"/>
              </a:ext>
            </a:extLst>
          </p:cNvPr>
          <p:cNvSpPr txBox="1"/>
          <p:nvPr/>
        </p:nvSpPr>
        <p:spPr>
          <a:xfrm>
            <a:off x="678426" y="335845"/>
            <a:ext cx="9547122" cy="6463308"/>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a:t> </a:t>
            </a:r>
            <a:r>
              <a:rPr lang="en-US" b="1"/>
              <a:t>Quantization Level  </a:t>
            </a:r>
          </a:p>
          <a:p>
            <a:pPr algn="just"/>
            <a:r>
              <a:rPr lang="en-US"/>
              <a:t>• Let L = number of levels.  </a:t>
            </a:r>
          </a:p>
          <a:p>
            <a:pPr algn="just"/>
            <a:r>
              <a:rPr lang="en-US"/>
              <a:t>• The choice of L depends on  </a:t>
            </a:r>
          </a:p>
          <a:p>
            <a:pPr algn="just"/>
            <a:r>
              <a:rPr lang="en-US"/>
              <a:t>	→ range of the amplitudes of the analog-signal and </a:t>
            </a:r>
          </a:p>
          <a:p>
            <a:pPr algn="just"/>
            <a:r>
              <a:rPr lang="en-US"/>
              <a:t>	→ how accurately we need to recover the signal.  </a:t>
            </a:r>
          </a:p>
          <a:p>
            <a:pPr algn="just"/>
            <a:r>
              <a:rPr lang="en-US"/>
              <a:t>• If the signal has only 2 amplitude values, we need only 2 quantization-levels.  </a:t>
            </a:r>
          </a:p>
          <a:p>
            <a:pPr algn="just"/>
            <a:r>
              <a:rPr lang="en-US"/>
              <a:t>	If the signal (like voice) has many amplitude values, we need more quantization-levels.  </a:t>
            </a:r>
          </a:p>
          <a:p>
            <a:pPr algn="just"/>
            <a:r>
              <a:rPr lang="en-US"/>
              <a:t>• In audio digitizing, L is normally chosen to be 256.  </a:t>
            </a:r>
          </a:p>
          <a:p>
            <a:pPr algn="just"/>
            <a:r>
              <a:rPr lang="en-US"/>
              <a:t>	In video digitizing, L is normally thousands.  </a:t>
            </a:r>
          </a:p>
          <a:p>
            <a:pPr algn="just"/>
            <a:r>
              <a:rPr lang="en-US"/>
              <a:t>• Choosing lower values of L increases the quantization-error.  </a:t>
            </a:r>
          </a:p>
          <a:p>
            <a:pPr algn="just"/>
            <a:endParaRPr lang="en-US"/>
          </a:p>
          <a:p>
            <a:pPr algn="just"/>
            <a:r>
              <a:rPr lang="en-US" b="1"/>
              <a:t>Quantization Error  </a:t>
            </a:r>
          </a:p>
          <a:p>
            <a:pPr algn="just"/>
            <a:r>
              <a:rPr lang="en-US"/>
              <a:t>• Quantization-error is the difference b/w normalized PAM value &amp; quantized values  </a:t>
            </a:r>
          </a:p>
          <a:p>
            <a:pPr algn="just"/>
            <a:r>
              <a:rPr lang="en-US"/>
              <a:t>• Quantization is an approximation process.  </a:t>
            </a:r>
          </a:p>
          <a:p>
            <a:pPr algn="just"/>
            <a:r>
              <a:rPr lang="en-US"/>
              <a:t>• The input values to the quantizer are the real values.  </a:t>
            </a:r>
          </a:p>
          <a:p>
            <a:pPr algn="just"/>
            <a:r>
              <a:rPr lang="en-US"/>
              <a:t>	The output values from the quantizer are the approximated values.  </a:t>
            </a:r>
          </a:p>
          <a:p>
            <a:pPr algn="just"/>
            <a:r>
              <a:rPr lang="en-US"/>
              <a:t>• The output values are chosen to be the middle value in the zone.  </a:t>
            </a:r>
          </a:p>
          <a:p>
            <a:pPr algn="just"/>
            <a:r>
              <a:rPr lang="en-US"/>
              <a:t>• If the input value is also at the middle of the zone, </a:t>
            </a:r>
          </a:p>
          <a:p>
            <a:pPr algn="just"/>
            <a:r>
              <a:rPr lang="en-US"/>
              <a:t>	Then, there is no error.  </a:t>
            </a:r>
          </a:p>
          <a:p>
            <a:pPr algn="just"/>
            <a:r>
              <a:rPr lang="en-US"/>
              <a:t>	Otherwise, there is an error.  </a:t>
            </a:r>
          </a:p>
          <a:p>
            <a:pPr algn="just"/>
            <a:r>
              <a:rPr lang="en-US"/>
              <a:t>• In the previous example,  </a:t>
            </a:r>
          </a:p>
          <a:p>
            <a:pPr algn="just"/>
            <a:r>
              <a:rPr lang="en-US"/>
              <a:t>The normalized amplitude of the third sample is 3.24, but the normalized quantized value is  </a:t>
            </a:r>
          </a:p>
          <a:p>
            <a:pPr algn="just"/>
            <a:r>
              <a:rPr lang="en-US"/>
              <a:t>3.50. This means that there is an error of +0.26. </a:t>
            </a:r>
            <a:endParaRPr lang="en-IN"/>
          </a:p>
        </p:txBody>
      </p:sp>
    </p:spTree>
    <p:extLst>
      <p:ext uri="{BB962C8B-B14F-4D97-AF65-F5344CB8AC3E}">
        <p14:creationId xmlns:p14="http://schemas.microsoft.com/office/powerpoint/2010/main" val="3503343673"/>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0E206EE9-F916-3540-C7E6-A1017C2785E0}"/>
              </a:ext>
            </a:extLst>
          </p:cNvPr>
          <p:cNvSpPr txBox="1"/>
          <p:nvPr/>
        </p:nvSpPr>
        <p:spPr>
          <a:xfrm>
            <a:off x="530941" y="450698"/>
            <a:ext cx="10864645" cy="5539978"/>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b="1"/>
              <a:t>Uniform vs. Non Uniform Quantization  </a:t>
            </a:r>
          </a:p>
          <a:p>
            <a:pPr algn="just"/>
            <a:endParaRPr lang="en-US" b="1"/>
          </a:p>
          <a:p>
            <a:pPr algn="just"/>
            <a:r>
              <a:rPr lang="en-US"/>
              <a:t>• Non-uniform quantization can be done by using a process called companding and expanding.  </a:t>
            </a:r>
          </a:p>
          <a:p>
            <a:pPr algn="just"/>
            <a:r>
              <a:rPr lang="en-US"/>
              <a:t>	1) The signal is companded at the sender before conversion.  </a:t>
            </a:r>
          </a:p>
          <a:p>
            <a:pPr algn="just"/>
            <a:r>
              <a:rPr lang="en-US"/>
              <a:t>	2) The signal is expanded at the receiver after conversion.  </a:t>
            </a:r>
          </a:p>
          <a:p>
            <a:pPr algn="just"/>
            <a:r>
              <a:rPr lang="en-US" err="1"/>
              <a:t>Companding means reducing the instantaneous voltage amplitude for large values.  </a:t>
            </a:r>
          </a:p>
          <a:p>
            <a:pPr algn="just"/>
            <a:r>
              <a:rPr lang="en-US"/>
              <a:t>Expanding means increasing the instantaneous voltage amplitude for small values.  </a:t>
            </a:r>
          </a:p>
          <a:p>
            <a:pPr algn="just"/>
            <a:r>
              <a:rPr lang="en-US"/>
              <a:t>• It has been proved that non-uniform quantization effectively reduces the SNR</a:t>
            </a:r>
            <a:r>
              <a:rPr lang="en-US" sz="1200" err="1"/>
              <a:t>dB</a:t>
            </a:r>
            <a:r>
              <a:rPr lang="en-US"/>
              <a:t> of quantization. </a:t>
            </a:r>
            <a:endParaRPr lang="en-IN"/>
          </a:p>
          <a:p>
            <a:pPr algn="just"/>
            <a:endParaRPr lang="en-US"/>
          </a:p>
          <a:p>
            <a:pPr algn="just"/>
            <a:r>
              <a:rPr lang="en-US" sz="2400" b="1" spc="-10">
                <a:solidFill>
                  <a:srgbClr val="C00000"/>
                </a:solidFill>
                <a:latin typeface="Times New Roman" panose="02020603050405020304" pitchFamily="18" charset="0"/>
              </a:rPr>
              <a:t>2.1.3 Encoding  </a:t>
            </a:r>
          </a:p>
          <a:p>
            <a:pPr algn="just"/>
            <a:endParaRPr lang="en-US" sz="2400" b="1" spc="-10">
              <a:solidFill>
                <a:srgbClr val="C00000"/>
              </a:solidFill>
              <a:latin typeface="Times New Roman" panose="02020603050405020304" pitchFamily="18" charset="0"/>
            </a:endParaRPr>
          </a:p>
          <a:p>
            <a:pPr algn="just"/>
            <a:r>
              <a:rPr lang="en-US"/>
              <a:t>• The quantized values are encoded as n-bit code word.  </a:t>
            </a:r>
          </a:p>
          <a:p>
            <a:pPr algn="just"/>
            <a:r>
              <a:rPr lang="en-US"/>
              <a:t>• In the previous example,  </a:t>
            </a:r>
          </a:p>
          <a:p>
            <a:pPr algn="just"/>
            <a:r>
              <a:rPr lang="en-US"/>
              <a:t>	A quantized value 2 is encoded as 010. </a:t>
            </a:r>
          </a:p>
          <a:p>
            <a:pPr algn="just"/>
            <a:r>
              <a:rPr lang="en-US"/>
              <a:t>	A quantized value 5 is encoded as 101.  </a:t>
            </a:r>
          </a:p>
          <a:p>
            <a:pPr algn="just"/>
            <a:r>
              <a:rPr lang="en-US"/>
              <a:t>• Relationship between number of quantization-levels (L) &amp; number of bits (n) is given by</a:t>
            </a:r>
          </a:p>
          <a:p>
            <a:pPr algn="just"/>
            <a:r>
              <a:rPr lang="en-US"/>
              <a:t>	 n=log2L </a:t>
            </a:r>
            <a:r>
              <a:rPr lang="en-IN"/>
              <a:t>or 2n=L</a:t>
            </a:r>
          </a:p>
          <a:p>
            <a:pPr algn="just"/>
            <a:r>
              <a:rPr lang="en-US"/>
              <a:t>• The bit-rate is given by:</a:t>
            </a:r>
          </a:p>
          <a:p>
            <a:endParaRPr lang="en-IN"/>
          </a:p>
        </p:txBody>
      </p:sp>
      <p:pic>
        <p:nvPicPr>
          <p:cNvPr id="9" name="Picture 8">
            <a:extLst>
              <a:ext uri="{FF2B5EF4-FFF2-40B4-BE49-F238E27FC236}">
                <a16:creationId xmlns:a16="http://schemas.microsoft.com/office/drawing/2014/main" xmlns="" id="{5715971F-D603-9106-D7FA-6897ED37DA73}"/>
              </a:ext>
            </a:extLst>
          </p:cNvPr>
          <p:cNvPicPr>
            <a:picLocks noChangeAspect="1"/>
          </p:cNvPicPr>
          <p:nvPr/>
        </p:nvPicPr>
        <p:blipFill>
          <a:blip r:embed="rId2"/>
          <a:stretch>
            <a:fillRect/>
          </a:stretch>
        </p:blipFill>
        <p:spPr>
          <a:xfrm>
            <a:off x="1223784" y="5973586"/>
            <a:ext cx="6674997" cy="433716"/>
          </a:xfrm>
          <a:prstGeom prst="rect">
            <a:avLst/>
          </a:prstGeom>
        </p:spPr>
      </p:pic>
    </p:spTree>
    <p:extLst>
      <p:ext uri="{BB962C8B-B14F-4D97-AF65-F5344CB8AC3E}">
        <p14:creationId xmlns:p14="http://schemas.microsoft.com/office/powerpoint/2010/main" val="3975134735"/>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ECB2D8B4-9582-A5BD-F54B-854CF728D9CA}"/>
              </a:ext>
            </a:extLst>
          </p:cNvPr>
          <p:cNvPicPr>
            <a:picLocks noChangeAspect="1"/>
          </p:cNvPicPr>
          <p:nvPr/>
        </p:nvPicPr>
        <p:blipFill>
          <a:blip r:embed="rId2"/>
          <a:stretch>
            <a:fillRect/>
          </a:stretch>
        </p:blipFill>
        <p:spPr>
          <a:xfrm>
            <a:off x="1803063" y="902594"/>
            <a:ext cx="8137349" cy="1823420"/>
          </a:xfrm>
          <a:prstGeom prst="rect">
            <a:avLst/>
          </a:prstGeom>
        </p:spPr>
      </p:pic>
      <p:sp>
        <p:nvSpPr>
          <p:cNvPr id="9" name="TextBox 8">
            <a:extLst>
              <a:ext uri="{FF2B5EF4-FFF2-40B4-BE49-F238E27FC236}">
                <a16:creationId xmlns:a16="http://schemas.microsoft.com/office/drawing/2014/main" xmlns="" id="{64067FDD-0BF1-7A23-B1E0-B7334C625A99}"/>
              </a:ext>
            </a:extLst>
          </p:cNvPr>
          <p:cNvSpPr txBox="1"/>
          <p:nvPr/>
        </p:nvSpPr>
        <p:spPr>
          <a:xfrm>
            <a:off x="1803064" y="336444"/>
            <a:ext cx="6096000" cy="338554"/>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600" b="1"/>
              <a:t>Example 2.1 </a:t>
            </a:r>
          </a:p>
        </p:txBody>
      </p:sp>
      <p:pic>
        <p:nvPicPr>
          <p:cNvPr id="11" name="Picture 10">
            <a:extLst>
              <a:ext uri="{FF2B5EF4-FFF2-40B4-BE49-F238E27FC236}">
                <a16:creationId xmlns:a16="http://schemas.microsoft.com/office/drawing/2014/main" xmlns="" id="{9A3EEA7A-4E5F-9175-6626-FCF595A2B3D7}"/>
              </a:ext>
            </a:extLst>
          </p:cNvPr>
          <p:cNvPicPr>
            <a:picLocks noChangeAspect="1"/>
          </p:cNvPicPr>
          <p:nvPr/>
        </p:nvPicPr>
        <p:blipFill>
          <a:blip r:embed="rId3"/>
          <a:stretch>
            <a:fillRect/>
          </a:stretch>
        </p:blipFill>
        <p:spPr>
          <a:xfrm>
            <a:off x="1803063" y="3739155"/>
            <a:ext cx="8408989" cy="1422779"/>
          </a:xfrm>
          <a:prstGeom prst="rect">
            <a:avLst/>
          </a:prstGeom>
        </p:spPr>
      </p:pic>
      <p:sp>
        <p:nvSpPr>
          <p:cNvPr id="12" name="TextBox 11">
            <a:extLst>
              <a:ext uri="{FF2B5EF4-FFF2-40B4-BE49-F238E27FC236}">
                <a16:creationId xmlns:a16="http://schemas.microsoft.com/office/drawing/2014/main" xmlns="" id="{2BEB9E81-A427-F8B4-3CF3-A5139C37D131}"/>
              </a:ext>
            </a:extLst>
          </p:cNvPr>
          <p:cNvSpPr txBox="1"/>
          <p:nvPr/>
        </p:nvSpPr>
        <p:spPr>
          <a:xfrm>
            <a:off x="1803064" y="2953610"/>
            <a:ext cx="6096000" cy="338554"/>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600" b="1"/>
              <a:t>Example 2.2 </a:t>
            </a:r>
          </a:p>
        </p:txBody>
      </p:sp>
    </p:spTree>
    <p:extLst>
      <p:ext uri="{BB962C8B-B14F-4D97-AF65-F5344CB8AC3E}">
        <p14:creationId xmlns:p14="http://schemas.microsoft.com/office/powerpoint/2010/main" val="1879190343"/>
      </p:ext>
    </p:extLst>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xmlns="" id="{3FCFCFD7-AF8B-9B5E-11C9-EA9538454A88}"/>
              </a:ext>
            </a:extLst>
          </p:cNvPr>
          <p:cNvPicPr>
            <a:picLocks noChangeAspect="1"/>
          </p:cNvPicPr>
          <p:nvPr/>
        </p:nvPicPr>
        <p:blipFill>
          <a:blip r:embed="rId2"/>
          <a:stretch>
            <a:fillRect/>
          </a:stretch>
        </p:blipFill>
        <p:spPr>
          <a:xfrm>
            <a:off x="1870901" y="581988"/>
            <a:ext cx="8307714" cy="2239869"/>
          </a:xfrm>
          <a:prstGeom prst="rect">
            <a:avLst/>
          </a:prstGeom>
        </p:spPr>
      </p:pic>
      <p:pic>
        <p:nvPicPr>
          <p:cNvPr id="7" name="Picture 6">
            <a:extLst>
              <a:ext uri="{FF2B5EF4-FFF2-40B4-BE49-F238E27FC236}">
                <a16:creationId xmlns:a16="http://schemas.microsoft.com/office/drawing/2014/main" xmlns="" id="{59E8788D-C07A-CCA3-0EF3-6E37032613CB}"/>
              </a:ext>
            </a:extLst>
          </p:cNvPr>
          <p:cNvPicPr>
            <a:picLocks noChangeAspect="1"/>
          </p:cNvPicPr>
          <p:nvPr/>
        </p:nvPicPr>
        <p:blipFill>
          <a:blip r:embed="rId3"/>
          <a:stretch>
            <a:fillRect/>
          </a:stretch>
        </p:blipFill>
        <p:spPr>
          <a:xfrm>
            <a:off x="1766481" y="3892634"/>
            <a:ext cx="8412134" cy="2118678"/>
          </a:xfrm>
          <a:prstGeom prst="rect">
            <a:avLst/>
          </a:prstGeom>
        </p:spPr>
      </p:pic>
      <p:sp>
        <p:nvSpPr>
          <p:cNvPr id="15" name="TextBox 14">
            <a:extLst>
              <a:ext uri="{FF2B5EF4-FFF2-40B4-BE49-F238E27FC236}">
                <a16:creationId xmlns:a16="http://schemas.microsoft.com/office/drawing/2014/main" xmlns="" id="{B96DE67B-D9C6-F198-9B64-AD7AA43ED7E4}"/>
              </a:ext>
            </a:extLst>
          </p:cNvPr>
          <p:cNvSpPr txBox="1"/>
          <p:nvPr/>
        </p:nvSpPr>
        <p:spPr>
          <a:xfrm>
            <a:off x="1674256" y="100667"/>
            <a:ext cx="6096000" cy="338554"/>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600" b="1"/>
              <a:t>Example 2.3 </a:t>
            </a:r>
          </a:p>
        </p:txBody>
      </p:sp>
      <p:sp>
        <p:nvSpPr>
          <p:cNvPr id="8" name="TextBox 7">
            <a:extLst>
              <a:ext uri="{FF2B5EF4-FFF2-40B4-BE49-F238E27FC236}">
                <a16:creationId xmlns:a16="http://schemas.microsoft.com/office/drawing/2014/main" xmlns="" id="{F9D8D18A-C3CC-A5E3-BCAC-B89328650B0B}"/>
              </a:ext>
            </a:extLst>
          </p:cNvPr>
          <p:cNvSpPr txBox="1"/>
          <p:nvPr/>
        </p:nvSpPr>
        <p:spPr>
          <a:xfrm>
            <a:off x="1766481" y="3090446"/>
            <a:ext cx="6096000" cy="338554"/>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600" b="1"/>
              <a:t>Example 2.4 </a:t>
            </a:r>
          </a:p>
        </p:txBody>
      </p:sp>
    </p:spTree>
    <p:extLst>
      <p:ext uri="{BB962C8B-B14F-4D97-AF65-F5344CB8AC3E}">
        <p14:creationId xmlns:p14="http://schemas.microsoft.com/office/powerpoint/2010/main" val="2685229448"/>
      </p:ext>
    </p:extLst>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1FA78796-58D8-8BB1-2CB5-E8F3736C72FC}"/>
              </a:ext>
            </a:extLst>
          </p:cNvPr>
          <p:cNvSpPr txBox="1"/>
          <p:nvPr/>
        </p:nvSpPr>
        <p:spPr>
          <a:xfrm>
            <a:off x="265470" y="324574"/>
            <a:ext cx="11670891" cy="289310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a:t>Original Signal Recovery  </a:t>
            </a:r>
          </a:p>
          <a:p>
            <a:r>
              <a:rPr lang="en-US"/>
              <a:t>• PCM decoder is used for recovery of the original signal.  </a:t>
            </a:r>
          </a:p>
          <a:p>
            <a:r>
              <a:rPr lang="en-US"/>
              <a:t>• Here is how it works (Figure 4.27):  </a:t>
            </a:r>
          </a:p>
          <a:p>
            <a:r>
              <a:rPr lang="en-US"/>
              <a:t>	1) The decoder first uses circuitry to convert the code words into a pulse that holds the  amplitude until  the next pulse.  </a:t>
            </a:r>
          </a:p>
          <a:p>
            <a:r>
              <a:rPr lang="en-US"/>
              <a:t>	2) Next, the staircase-signal is passed through a low-pass filter to smooth the staircase signal into  an analog-signal.  </a:t>
            </a:r>
          </a:p>
          <a:p>
            <a:r>
              <a:rPr lang="en-US"/>
              <a:t>•  The filter has the same cut-off frequency as the original signal at the sender.  </a:t>
            </a:r>
          </a:p>
          <a:p>
            <a:r>
              <a:rPr lang="en-US"/>
              <a:t>• If the signal is sampled at the Nyquist sampling-rate, then the original signal will be re-created.  </a:t>
            </a:r>
          </a:p>
          <a:p>
            <a:r>
              <a:rPr lang="en-US"/>
              <a:t>• The maximum and minimum values of the original signal can be achieved by using amplification. </a:t>
            </a:r>
            <a:endParaRPr lang="en-IN"/>
          </a:p>
        </p:txBody>
      </p:sp>
      <p:pic>
        <p:nvPicPr>
          <p:cNvPr id="9" name="Picture 8">
            <a:extLst>
              <a:ext uri="{FF2B5EF4-FFF2-40B4-BE49-F238E27FC236}">
                <a16:creationId xmlns:a16="http://schemas.microsoft.com/office/drawing/2014/main" xmlns="" id="{245D8C2F-633A-CB8C-81CF-764B7261E504}"/>
              </a:ext>
            </a:extLst>
          </p:cNvPr>
          <p:cNvPicPr>
            <a:picLocks noChangeAspect="1"/>
          </p:cNvPicPr>
          <p:nvPr/>
        </p:nvPicPr>
        <p:blipFill>
          <a:blip r:embed="rId2"/>
          <a:stretch>
            <a:fillRect/>
          </a:stretch>
        </p:blipFill>
        <p:spPr>
          <a:xfrm>
            <a:off x="1656192" y="3186896"/>
            <a:ext cx="6873836" cy="3101609"/>
          </a:xfrm>
          <a:prstGeom prst="rect">
            <a:avLst/>
          </a:prstGeom>
        </p:spPr>
      </p:pic>
      <p:pic>
        <p:nvPicPr>
          <p:cNvPr id="11" name="Picture 10">
            <a:extLst>
              <a:ext uri="{FF2B5EF4-FFF2-40B4-BE49-F238E27FC236}">
                <a16:creationId xmlns:a16="http://schemas.microsoft.com/office/drawing/2014/main" xmlns="" id="{CB2AE880-FCA3-B885-39A2-226E1D0CC20F}"/>
              </a:ext>
            </a:extLst>
          </p:cNvPr>
          <p:cNvPicPr>
            <a:picLocks noChangeAspect="1"/>
          </p:cNvPicPr>
          <p:nvPr/>
        </p:nvPicPr>
        <p:blipFill>
          <a:blip r:embed="rId3"/>
          <a:stretch>
            <a:fillRect/>
          </a:stretch>
        </p:blipFill>
        <p:spPr>
          <a:xfrm>
            <a:off x="2736166" y="6288505"/>
            <a:ext cx="3475021" cy="213378"/>
          </a:xfrm>
          <a:prstGeom prst="rect">
            <a:avLst/>
          </a:prstGeom>
        </p:spPr>
      </p:pic>
    </p:spTree>
    <p:extLst>
      <p:ext uri="{BB962C8B-B14F-4D97-AF65-F5344CB8AC3E}">
        <p14:creationId xmlns:p14="http://schemas.microsoft.com/office/powerpoint/2010/main" val="3790721445"/>
      </p:ext>
    </p:extLst>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DEDEBF17-5BBA-0295-AF1C-30C73059985D}"/>
              </a:ext>
            </a:extLst>
          </p:cNvPr>
          <p:cNvPicPr>
            <a:picLocks noChangeAspect="1"/>
          </p:cNvPicPr>
          <p:nvPr/>
        </p:nvPicPr>
        <p:blipFill>
          <a:blip r:embed="rId2"/>
          <a:stretch>
            <a:fillRect/>
          </a:stretch>
        </p:blipFill>
        <p:spPr>
          <a:xfrm>
            <a:off x="875989" y="879070"/>
            <a:ext cx="9795579" cy="2374949"/>
          </a:xfrm>
          <a:prstGeom prst="rect">
            <a:avLst/>
          </a:prstGeom>
        </p:spPr>
      </p:pic>
      <p:sp>
        <p:nvSpPr>
          <p:cNvPr id="7" name="TextBox 6">
            <a:extLst>
              <a:ext uri="{FF2B5EF4-FFF2-40B4-BE49-F238E27FC236}">
                <a16:creationId xmlns:a16="http://schemas.microsoft.com/office/drawing/2014/main" xmlns="" id="{0750AA0F-4148-BD22-895B-5E445D5E5087}"/>
              </a:ext>
            </a:extLst>
          </p:cNvPr>
          <p:cNvSpPr txBox="1"/>
          <p:nvPr/>
        </p:nvSpPr>
        <p:spPr>
          <a:xfrm>
            <a:off x="658762" y="415102"/>
            <a:ext cx="6096000"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b="1"/>
              <a:t>PCM Bandwidth </a:t>
            </a:r>
          </a:p>
        </p:txBody>
      </p:sp>
      <p:pic>
        <p:nvPicPr>
          <p:cNvPr id="9" name="Picture 8">
            <a:extLst>
              <a:ext uri="{FF2B5EF4-FFF2-40B4-BE49-F238E27FC236}">
                <a16:creationId xmlns:a16="http://schemas.microsoft.com/office/drawing/2014/main" xmlns="" id="{B784F57A-25CC-D8F6-67AC-2297CCD8204A}"/>
              </a:ext>
            </a:extLst>
          </p:cNvPr>
          <p:cNvPicPr>
            <a:picLocks noChangeAspect="1"/>
          </p:cNvPicPr>
          <p:nvPr/>
        </p:nvPicPr>
        <p:blipFill>
          <a:blip r:embed="rId3"/>
          <a:stretch>
            <a:fillRect/>
          </a:stretch>
        </p:blipFill>
        <p:spPr>
          <a:xfrm>
            <a:off x="875989" y="3894328"/>
            <a:ext cx="10178929" cy="2529202"/>
          </a:xfrm>
          <a:prstGeom prst="rect">
            <a:avLst/>
          </a:prstGeom>
        </p:spPr>
      </p:pic>
      <p:sp>
        <p:nvSpPr>
          <p:cNvPr id="11" name="TextBox 10">
            <a:extLst>
              <a:ext uri="{FF2B5EF4-FFF2-40B4-BE49-F238E27FC236}">
                <a16:creationId xmlns:a16="http://schemas.microsoft.com/office/drawing/2014/main" xmlns="" id="{F7598D39-A002-A1B0-463E-807972B9CAA2}"/>
              </a:ext>
            </a:extLst>
          </p:cNvPr>
          <p:cNvSpPr txBox="1"/>
          <p:nvPr/>
        </p:nvSpPr>
        <p:spPr>
          <a:xfrm>
            <a:off x="776749" y="3419316"/>
            <a:ext cx="6096000"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a:t>Maximum Data Rate of a Channel </a:t>
            </a:r>
            <a:endParaRPr lang="en-IN" b="1"/>
          </a:p>
        </p:txBody>
      </p:sp>
      <p:pic>
        <p:nvPicPr>
          <p:cNvPr id="13" name="Picture 12">
            <a:extLst>
              <a:ext uri="{FF2B5EF4-FFF2-40B4-BE49-F238E27FC236}">
                <a16:creationId xmlns:a16="http://schemas.microsoft.com/office/drawing/2014/main" xmlns="" id="{26F4D2C6-7737-7C88-A0BB-E91A22AD772F}"/>
              </a:ext>
            </a:extLst>
          </p:cNvPr>
          <p:cNvPicPr>
            <a:picLocks noChangeAspect="1"/>
          </p:cNvPicPr>
          <p:nvPr/>
        </p:nvPicPr>
        <p:blipFill>
          <a:blip r:embed="rId4"/>
          <a:stretch>
            <a:fillRect/>
          </a:stretch>
        </p:blipFill>
        <p:spPr>
          <a:xfrm>
            <a:off x="4381351" y="5998136"/>
            <a:ext cx="3429297" cy="358171"/>
          </a:xfrm>
          <a:prstGeom prst="rect">
            <a:avLst/>
          </a:prstGeom>
        </p:spPr>
      </p:pic>
      <p:sp>
        <p:nvSpPr>
          <p:cNvPr id="15" name="TextBox 14">
            <a:extLst>
              <a:ext uri="{FF2B5EF4-FFF2-40B4-BE49-F238E27FC236}">
                <a16:creationId xmlns:a16="http://schemas.microsoft.com/office/drawing/2014/main" xmlns="" id="{03A892D3-0541-2F6E-6C76-67BFCCCB4206}"/>
              </a:ext>
            </a:extLst>
          </p:cNvPr>
          <p:cNvSpPr txBox="1"/>
          <p:nvPr/>
        </p:nvSpPr>
        <p:spPr>
          <a:xfrm>
            <a:off x="1868129" y="6423072"/>
            <a:ext cx="6096000"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This is the maximum bandwidth</a:t>
            </a:r>
            <a:endParaRPr lang="en-IN"/>
          </a:p>
        </p:txBody>
      </p:sp>
      <p:pic>
        <p:nvPicPr>
          <p:cNvPr id="17" name="Picture 16">
            <a:extLst>
              <a:ext uri="{FF2B5EF4-FFF2-40B4-BE49-F238E27FC236}">
                <a16:creationId xmlns:a16="http://schemas.microsoft.com/office/drawing/2014/main" xmlns="" id="{B38911B8-C1BE-B8C6-E22C-ADC7BB5DB7E9}"/>
              </a:ext>
            </a:extLst>
          </p:cNvPr>
          <p:cNvPicPr>
            <a:picLocks noChangeAspect="1"/>
          </p:cNvPicPr>
          <p:nvPr/>
        </p:nvPicPr>
        <p:blipFill>
          <a:blip r:embed="rId5"/>
          <a:stretch>
            <a:fillRect/>
          </a:stretch>
        </p:blipFill>
        <p:spPr>
          <a:xfrm>
            <a:off x="5555225" y="6423072"/>
            <a:ext cx="2556387" cy="558417"/>
          </a:xfrm>
          <a:prstGeom prst="rect">
            <a:avLst/>
          </a:prstGeom>
        </p:spPr>
      </p:pic>
    </p:spTree>
    <p:extLst>
      <p:ext uri="{BB962C8B-B14F-4D97-AF65-F5344CB8AC3E}">
        <p14:creationId xmlns:p14="http://schemas.microsoft.com/office/powerpoint/2010/main" val="3269056973"/>
      </p:ext>
    </p:extLst>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C784DFA8-A3C3-99F0-3863-A6B56064F44F}"/>
              </a:ext>
            </a:extLst>
          </p:cNvPr>
          <p:cNvSpPr txBox="1"/>
          <p:nvPr/>
        </p:nvSpPr>
        <p:spPr>
          <a:xfrm>
            <a:off x="806245" y="482231"/>
            <a:ext cx="9743768" cy="1754326"/>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a:t>Minimum Required Bandwidth</a:t>
            </a:r>
          </a:p>
          <a:p>
            <a:r>
              <a:rPr lang="en-US"/>
              <a:t> • The previous argument can give us the minimum bandwidth if the data-rate and the number of signal-levels are fixed. </a:t>
            </a:r>
          </a:p>
          <a:p>
            <a:endParaRPr lang="en-US"/>
          </a:p>
          <a:p>
            <a:r>
              <a:rPr lang="en-US"/>
              <a:t>We can say </a:t>
            </a:r>
          </a:p>
          <a:p>
            <a:endParaRPr lang="en-IN"/>
          </a:p>
        </p:txBody>
      </p:sp>
      <p:pic>
        <p:nvPicPr>
          <p:cNvPr id="7" name="Picture 6">
            <a:extLst>
              <a:ext uri="{FF2B5EF4-FFF2-40B4-BE49-F238E27FC236}">
                <a16:creationId xmlns:a16="http://schemas.microsoft.com/office/drawing/2014/main" xmlns="" id="{57057581-70E2-C06C-5034-55F6AB701598}"/>
              </a:ext>
            </a:extLst>
          </p:cNvPr>
          <p:cNvPicPr>
            <a:picLocks noChangeAspect="1"/>
          </p:cNvPicPr>
          <p:nvPr/>
        </p:nvPicPr>
        <p:blipFill>
          <a:blip r:embed="rId2"/>
          <a:stretch>
            <a:fillRect/>
          </a:stretch>
        </p:blipFill>
        <p:spPr>
          <a:xfrm>
            <a:off x="1824138" y="2236556"/>
            <a:ext cx="3239475" cy="700175"/>
          </a:xfrm>
          <a:prstGeom prst="rect">
            <a:avLst/>
          </a:prstGeom>
        </p:spPr>
      </p:pic>
    </p:spTree>
    <p:extLst>
      <p:ext uri="{BB962C8B-B14F-4D97-AF65-F5344CB8AC3E}">
        <p14:creationId xmlns:p14="http://schemas.microsoft.com/office/powerpoint/2010/main" val="1435976160"/>
      </p:ext>
    </p:extLst>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46820D42-92A9-F297-DBC4-98C3E21CB4CA}"/>
              </a:ext>
            </a:extLst>
          </p:cNvPr>
          <p:cNvSpPr txBox="1"/>
          <p:nvPr/>
        </p:nvSpPr>
        <p:spPr>
          <a:xfrm>
            <a:off x="432619" y="118438"/>
            <a:ext cx="10107562" cy="1015663"/>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spc="-10">
                <a:solidFill>
                  <a:srgbClr val="C00000"/>
                </a:solidFill>
                <a:latin typeface="Times New Roman" panose="02020603050405020304" pitchFamily="18" charset="0"/>
              </a:rPr>
              <a:t>TRANSMISSION MODES</a:t>
            </a:r>
            <a:r>
              <a:rPr lang="en-US"/>
              <a:t>  </a:t>
            </a:r>
          </a:p>
          <a:p>
            <a:r>
              <a:rPr lang="en-US"/>
              <a:t>• Two ways of transmitting data over a link (Figure 4.31): 1) Parallel mode &amp; 2) Serial mode.</a:t>
            </a:r>
          </a:p>
          <a:p>
            <a:r>
              <a:rPr lang="en-US"/>
              <a:t> </a:t>
            </a:r>
            <a:endParaRPr lang="en-IN"/>
          </a:p>
        </p:txBody>
      </p:sp>
      <p:pic>
        <p:nvPicPr>
          <p:cNvPr id="11" name="Picture 10">
            <a:extLst>
              <a:ext uri="{FF2B5EF4-FFF2-40B4-BE49-F238E27FC236}">
                <a16:creationId xmlns:a16="http://schemas.microsoft.com/office/drawing/2014/main" xmlns="" id="{2D36876E-4CD0-B5EC-FA5E-DA3051A65047}"/>
              </a:ext>
            </a:extLst>
          </p:cNvPr>
          <p:cNvPicPr>
            <a:picLocks noChangeAspect="1"/>
          </p:cNvPicPr>
          <p:nvPr/>
        </p:nvPicPr>
        <p:blipFill>
          <a:blip r:embed="rId2"/>
          <a:stretch>
            <a:fillRect/>
          </a:stretch>
        </p:blipFill>
        <p:spPr>
          <a:xfrm>
            <a:off x="3828905" y="3709621"/>
            <a:ext cx="3314987" cy="243861"/>
          </a:xfrm>
          <a:prstGeom prst="rect">
            <a:avLst/>
          </a:prstGeom>
        </p:spPr>
      </p:pic>
      <p:pic>
        <p:nvPicPr>
          <p:cNvPr id="13" name="Picture 12">
            <a:extLst>
              <a:ext uri="{FF2B5EF4-FFF2-40B4-BE49-F238E27FC236}">
                <a16:creationId xmlns:a16="http://schemas.microsoft.com/office/drawing/2014/main" xmlns="" id="{FEBCAE37-90F4-3D5D-D8E1-8C437055755B}"/>
              </a:ext>
            </a:extLst>
          </p:cNvPr>
          <p:cNvPicPr>
            <a:picLocks noChangeAspect="1"/>
          </p:cNvPicPr>
          <p:nvPr/>
        </p:nvPicPr>
        <p:blipFill>
          <a:blip r:embed="rId3"/>
          <a:stretch>
            <a:fillRect/>
          </a:stretch>
        </p:blipFill>
        <p:spPr>
          <a:xfrm>
            <a:off x="1303656" y="786051"/>
            <a:ext cx="8365487" cy="2999310"/>
          </a:xfrm>
          <a:prstGeom prst="rect">
            <a:avLst/>
          </a:prstGeom>
        </p:spPr>
      </p:pic>
      <p:sp>
        <p:nvSpPr>
          <p:cNvPr id="19" name="TextBox 18">
            <a:extLst>
              <a:ext uri="{FF2B5EF4-FFF2-40B4-BE49-F238E27FC236}">
                <a16:creationId xmlns:a16="http://schemas.microsoft.com/office/drawing/2014/main" xmlns="" id="{C74C930F-1E28-7E38-C624-666C61DE1E82}"/>
              </a:ext>
            </a:extLst>
          </p:cNvPr>
          <p:cNvSpPr txBox="1"/>
          <p:nvPr/>
        </p:nvSpPr>
        <p:spPr>
          <a:xfrm>
            <a:off x="530942" y="4217980"/>
            <a:ext cx="6096000" cy="2308324"/>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t>PARALLEL TRANSMISSION </a:t>
            </a:r>
          </a:p>
          <a:p>
            <a:r>
              <a:rPr lang="en-US" dirty="0"/>
              <a:t> </a:t>
            </a:r>
          </a:p>
          <a:p>
            <a:r>
              <a:rPr lang="en-US" dirty="0"/>
              <a:t>• Multiple bits are sent with each clock-tick (Figure 4.32).  </a:t>
            </a:r>
          </a:p>
          <a:p>
            <a:r>
              <a:rPr lang="en-US" dirty="0"/>
              <a:t>• “n‟ bits in a group are sent simultaneously.  </a:t>
            </a:r>
          </a:p>
          <a:p>
            <a:r>
              <a:rPr lang="en-US" dirty="0"/>
              <a:t>• “n‟ wires are used to send “n‟ bits at one time.  </a:t>
            </a:r>
          </a:p>
          <a:p>
            <a:r>
              <a:rPr lang="en-US" dirty="0"/>
              <a:t>• Each bit has its own wire.  </a:t>
            </a:r>
          </a:p>
          <a:p>
            <a:r>
              <a:rPr lang="en-US" dirty="0"/>
              <a:t>• Typically, the 8 wires are bundled in a cable with a connector at each end. </a:t>
            </a:r>
            <a:endParaRPr lang="en-IN" dirty="0"/>
          </a:p>
        </p:txBody>
      </p:sp>
      <p:pic>
        <p:nvPicPr>
          <p:cNvPr id="21" name="Picture 20">
            <a:extLst>
              <a:ext uri="{FF2B5EF4-FFF2-40B4-BE49-F238E27FC236}">
                <a16:creationId xmlns:a16="http://schemas.microsoft.com/office/drawing/2014/main" xmlns="" id="{D76AC2C4-AD49-8573-1452-21C720F433E5}"/>
              </a:ext>
            </a:extLst>
          </p:cNvPr>
          <p:cNvPicPr>
            <a:picLocks noChangeAspect="1"/>
          </p:cNvPicPr>
          <p:nvPr/>
        </p:nvPicPr>
        <p:blipFill>
          <a:blip r:embed="rId4"/>
          <a:stretch>
            <a:fillRect/>
          </a:stretch>
        </p:blipFill>
        <p:spPr>
          <a:xfrm>
            <a:off x="6420760" y="4083655"/>
            <a:ext cx="4541914" cy="2537680"/>
          </a:xfrm>
          <a:prstGeom prst="rect">
            <a:avLst/>
          </a:prstGeom>
        </p:spPr>
      </p:pic>
      <p:pic>
        <p:nvPicPr>
          <p:cNvPr id="23" name="Picture 22">
            <a:extLst>
              <a:ext uri="{FF2B5EF4-FFF2-40B4-BE49-F238E27FC236}">
                <a16:creationId xmlns:a16="http://schemas.microsoft.com/office/drawing/2014/main" xmlns="" id="{41901CE0-A473-E9BF-5B1A-4D7B008AB830}"/>
              </a:ext>
            </a:extLst>
          </p:cNvPr>
          <p:cNvPicPr>
            <a:picLocks noChangeAspect="1"/>
          </p:cNvPicPr>
          <p:nvPr/>
        </p:nvPicPr>
        <p:blipFill>
          <a:blip r:embed="rId5"/>
          <a:stretch>
            <a:fillRect/>
          </a:stretch>
        </p:blipFill>
        <p:spPr>
          <a:xfrm>
            <a:off x="7243791" y="6592672"/>
            <a:ext cx="2895851" cy="205758"/>
          </a:xfrm>
          <a:prstGeom prst="rect">
            <a:avLst/>
          </a:prstGeom>
        </p:spPr>
      </p:pic>
    </p:spTree>
    <p:extLst>
      <p:ext uri="{BB962C8B-B14F-4D97-AF65-F5344CB8AC3E}">
        <p14:creationId xmlns:p14="http://schemas.microsoft.com/office/powerpoint/2010/main" val="1265134899"/>
      </p:ext>
    </p:extLst>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EDCEB6CB-544D-3F0D-FF2F-ACC9DE41D9DA}"/>
              </a:ext>
            </a:extLst>
          </p:cNvPr>
          <p:cNvSpPr txBox="1"/>
          <p:nvPr/>
        </p:nvSpPr>
        <p:spPr>
          <a:xfrm>
            <a:off x="324465" y="192010"/>
            <a:ext cx="11356258" cy="1754326"/>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 Advantage:  </a:t>
            </a:r>
          </a:p>
          <a:p>
            <a:pPr marL="342900" indent="-342900">
              <a:buAutoNum type="arabicParenR"/>
            </a:pPr>
            <a:r>
              <a:rPr lang="en-US" dirty="0"/>
              <a:t>Speed: Parallel transmission can increase the transfer speed by a factor of n over serial transmission.  </a:t>
            </a:r>
          </a:p>
          <a:p>
            <a:r>
              <a:rPr lang="en-US" dirty="0"/>
              <a:t>• Disadvantage:  </a:t>
            </a:r>
          </a:p>
          <a:p>
            <a:pPr marL="342900" indent="-342900">
              <a:buAutoNum type="arabicParenR"/>
            </a:pPr>
            <a:r>
              <a:rPr lang="en-US" dirty="0"/>
              <a:t>Cost: Parallel transmission requires n communication lines just to transmit the data-stream. Because this is expensive, parallel transmission is usually limited to short distances. </a:t>
            </a:r>
          </a:p>
          <a:p>
            <a:pPr marL="342900" indent="-342900">
              <a:buAutoNum type="arabicParenR"/>
            </a:pPr>
            <a:r>
              <a:rPr lang="en-US" dirty="0"/>
              <a:t>Limited to short distance</a:t>
            </a:r>
            <a:endParaRPr lang="en-IN" dirty="0"/>
          </a:p>
        </p:txBody>
      </p:sp>
      <p:sp>
        <p:nvSpPr>
          <p:cNvPr id="11" name="TextBox 10">
            <a:extLst>
              <a:ext uri="{FF2B5EF4-FFF2-40B4-BE49-F238E27FC236}">
                <a16:creationId xmlns:a16="http://schemas.microsoft.com/office/drawing/2014/main" xmlns="" id="{C5B9DAA8-BE07-BD54-0E8B-7D975E909A0B}"/>
              </a:ext>
            </a:extLst>
          </p:cNvPr>
          <p:cNvSpPr txBox="1"/>
          <p:nvPr/>
        </p:nvSpPr>
        <p:spPr>
          <a:xfrm>
            <a:off x="324465" y="1878413"/>
            <a:ext cx="8013290" cy="64633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 </a:t>
            </a:r>
            <a:r>
              <a:rPr lang="en-US" b="1"/>
              <a:t>SERIAL TRANSMISSION  </a:t>
            </a:r>
          </a:p>
          <a:p>
            <a:r>
              <a:rPr lang="en-US"/>
              <a:t>• One bit is sent with each clock-tick using only a single link (Figure 4.33). </a:t>
            </a:r>
            <a:endParaRPr lang="en-IN"/>
          </a:p>
        </p:txBody>
      </p:sp>
      <p:pic>
        <p:nvPicPr>
          <p:cNvPr id="13" name="Picture 12">
            <a:extLst>
              <a:ext uri="{FF2B5EF4-FFF2-40B4-BE49-F238E27FC236}">
                <a16:creationId xmlns:a16="http://schemas.microsoft.com/office/drawing/2014/main" xmlns="" id="{B2177F73-DBFC-93AB-A856-9B71651938E2}"/>
              </a:ext>
            </a:extLst>
          </p:cNvPr>
          <p:cNvPicPr>
            <a:picLocks noChangeAspect="1"/>
          </p:cNvPicPr>
          <p:nvPr/>
        </p:nvPicPr>
        <p:blipFill>
          <a:blip r:embed="rId3"/>
          <a:stretch>
            <a:fillRect/>
          </a:stretch>
        </p:blipFill>
        <p:spPr>
          <a:xfrm>
            <a:off x="1143741" y="2524743"/>
            <a:ext cx="6171459" cy="2377529"/>
          </a:xfrm>
          <a:prstGeom prst="rect">
            <a:avLst/>
          </a:prstGeom>
        </p:spPr>
      </p:pic>
      <p:sp>
        <p:nvSpPr>
          <p:cNvPr id="15" name="TextBox 14">
            <a:extLst>
              <a:ext uri="{FF2B5EF4-FFF2-40B4-BE49-F238E27FC236}">
                <a16:creationId xmlns:a16="http://schemas.microsoft.com/office/drawing/2014/main" xmlns="" id="{B088DB10-930D-CBE8-83D3-801045C53788}"/>
              </a:ext>
            </a:extLst>
          </p:cNvPr>
          <p:cNvSpPr txBox="1"/>
          <p:nvPr/>
        </p:nvSpPr>
        <p:spPr>
          <a:xfrm>
            <a:off x="2616979" y="4810121"/>
            <a:ext cx="3224981" cy="307777"/>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400"/>
              <a:t>        Figure 4.33 Serial transmission</a:t>
            </a:r>
          </a:p>
        </p:txBody>
      </p:sp>
      <p:sp>
        <p:nvSpPr>
          <p:cNvPr id="19" name="TextBox 18">
            <a:extLst>
              <a:ext uri="{FF2B5EF4-FFF2-40B4-BE49-F238E27FC236}">
                <a16:creationId xmlns:a16="http://schemas.microsoft.com/office/drawing/2014/main" xmlns="" id="{196291D7-800A-D82C-2AC1-EB59359296B1}"/>
              </a:ext>
            </a:extLst>
          </p:cNvPr>
          <p:cNvSpPr txBox="1"/>
          <p:nvPr/>
        </p:nvSpPr>
        <p:spPr>
          <a:xfrm>
            <a:off x="776749" y="5117898"/>
            <a:ext cx="10628670" cy="1754326"/>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dirty="0"/>
              <a:t>• Advantage:  </a:t>
            </a:r>
          </a:p>
          <a:p>
            <a:pPr algn="just"/>
            <a:r>
              <a:rPr lang="en-US" dirty="0"/>
              <a:t>         1) Cost: Serial transmission reduces cost of transmission over parallel by a factor of n.  </a:t>
            </a:r>
          </a:p>
          <a:p>
            <a:pPr algn="just"/>
            <a:r>
              <a:rPr lang="en-US" dirty="0"/>
              <a:t>• Disadvantage:  </a:t>
            </a:r>
          </a:p>
          <a:p>
            <a:pPr algn="just"/>
            <a:r>
              <a:rPr lang="en-US" dirty="0"/>
              <a:t>        1) Since communication within devices is parallel, following 2 converters are required at interface:  </a:t>
            </a:r>
          </a:p>
          <a:p>
            <a:pPr algn="just"/>
            <a:r>
              <a:rPr lang="en-US" dirty="0"/>
              <a:t>                 </a:t>
            </a:r>
            <a:r>
              <a:rPr lang="en-US" dirty="0" err="1"/>
              <a:t>i</a:t>
            </a:r>
            <a:r>
              <a:rPr lang="en-US" dirty="0"/>
              <a:t>) Parallel-to-serial converter  </a:t>
            </a:r>
          </a:p>
          <a:p>
            <a:pPr algn="just"/>
            <a:r>
              <a:rPr lang="en-US" dirty="0"/>
              <a:t>                ii) Serial-to-parallel converter </a:t>
            </a:r>
            <a:endParaRPr lang="en-IN" dirty="0"/>
          </a:p>
        </p:txBody>
      </p:sp>
    </p:spTree>
    <p:extLst>
      <p:ext uri="{BB962C8B-B14F-4D97-AF65-F5344CB8AC3E}">
        <p14:creationId xmlns:p14="http://schemas.microsoft.com/office/powerpoint/2010/main" val="1666715912"/>
      </p:ext>
    </p:extLst>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BD9EF113-9DC5-7E4A-952F-F082D0FCB740}"/>
              </a:ext>
            </a:extLst>
          </p:cNvPr>
          <p:cNvSpPr txBox="1"/>
          <p:nvPr/>
        </p:nvSpPr>
        <p:spPr>
          <a:xfrm>
            <a:off x="698090" y="109454"/>
            <a:ext cx="8858865"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 Three types of serial transmission: asynchronous, synchronous, and isochronous. </a:t>
            </a:r>
            <a:endParaRPr lang="en-IN"/>
          </a:p>
        </p:txBody>
      </p:sp>
      <p:sp>
        <p:nvSpPr>
          <p:cNvPr id="9" name="TextBox 8">
            <a:extLst>
              <a:ext uri="{FF2B5EF4-FFF2-40B4-BE49-F238E27FC236}">
                <a16:creationId xmlns:a16="http://schemas.microsoft.com/office/drawing/2014/main" xmlns="" id="{857D3B0B-50CB-E172-8AE4-4BE06DEE5EA2}"/>
              </a:ext>
            </a:extLst>
          </p:cNvPr>
          <p:cNvSpPr txBox="1"/>
          <p:nvPr/>
        </p:nvSpPr>
        <p:spPr>
          <a:xfrm>
            <a:off x="698090" y="478786"/>
            <a:ext cx="10795820" cy="3970318"/>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a:t> </a:t>
            </a:r>
            <a:r>
              <a:rPr lang="en-US" b="1"/>
              <a:t>Asynchronous Transmission  </a:t>
            </a:r>
          </a:p>
          <a:p>
            <a:pPr algn="just"/>
            <a:r>
              <a:rPr lang="en-US"/>
              <a:t>• Asynchronous transmission is so named because the timing of a signal is not important (Figure 4.34).  </a:t>
            </a:r>
          </a:p>
          <a:p>
            <a:pPr algn="just"/>
            <a:r>
              <a:rPr lang="en-US"/>
              <a:t>• Prior to data transfer, both sender &amp; receiver agree on pattern of information to be exchanged.  </a:t>
            </a:r>
          </a:p>
          <a:p>
            <a:pPr algn="just"/>
            <a:r>
              <a:rPr lang="en-US"/>
              <a:t>• Normally, patterns are based on grouping the bit-stream into bytes.  </a:t>
            </a:r>
          </a:p>
          <a:p>
            <a:pPr algn="just"/>
            <a:r>
              <a:rPr lang="en-US"/>
              <a:t>• The sender transmits each group to the link without regard to a timer.  </a:t>
            </a:r>
          </a:p>
          <a:p>
            <a:pPr algn="just"/>
            <a:r>
              <a:rPr lang="en-US"/>
              <a:t>• As long as those patterns are followed, the receiver can retrieve the info. without regard to a timer.  </a:t>
            </a:r>
          </a:p>
          <a:p>
            <a:pPr algn="just"/>
            <a:r>
              <a:rPr lang="en-US"/>
              <a:t>• There may be a gap between bytes.  </a:t>
            </a:r>
          </a:p>
          <a:p>
            <a:pPr algn="just"/>
            <a:r>
              <a:rPr lang="en-US"/>
              <a:t>• We send  </a:t>
            </a:r>
          </a:p>
          <a:p>
            <a:pPr algn="just"/>
            <a:r>
              <a:rPr lang="en-US"/>
              <a:t>	→ 1 start bit (0) at the beginning of each byte → </a:t>
            </a:r>
          </a:p>
          <a:p>
            <a:pPr algn="just"/>
            <a:r>
              <a:rPr lang="en-US"/>
              <a:t>	1 stop bit (1) at the end of each byte.  </a:t>
            </a:r>
          </a:p>
          <a:p>
            <a:pPr algn="just"/>
            <a:r>
              <a:rPr lang="en-US"/>
              <a:t>• Start bit alerts the receiver to the arrival of a new group.  </a:t>
            </a:r>
          </a:p>
          <a:p>
            <a:pPr algn="just"/>
            <a:r>
              <a:rPr lang="en-US"/>
              <a:t>	Stop bit lets the receiver know that the byte is finished.  </a:t>
            </a:r>
          </a:p>
          <a:p>
            <a:pPr algn="just"/>
            <a:r>
              <a:rPr lang="en-US"/>
              <a:t>• Here, the term asynchronous means “asynchronous at the byte level”.  </a:t>
            </a:r>
          </a:p>
          <a:p>
            <a:pPr algn="just"/>
            <a:r>
              <a:rPr lang="en-US"/>
              <a:t>	However, the bits are still synchronized &amp; bit-durations are the same. </a:t>
            </a:r>
            <a:endParaRPr lang="en-IN"/>
          </a:p>
        </p:txBody>
      </p:sp>
      <p:pic>
        <p:nvPicPr>
          <p:cNvPr id="11" name="Picture 10">
            <a:extLst>
              <a:ext uri="{FF2B5EF4-FFF2-40B4-BE49-F238E27FC236}">
                <a16:creationId xmlns:a16="http://schemas.microsoft.com/office/drawing/2014/main" xmlns="" id="{5DF6CF1D-ECDC-5475-C769-64957A6E2B54}"/>
              </a:ext>
            </a:extLst>
          </p:cNvPr>
          <p:cNvPicPr>
            <a:picLocks noChangeAspect="1"/>
          </p:cNvPicPr>
          <p:nvPr/>
        </p:nvPicPr>
        <p:blipFill>
          <a:blip r:embed="rId2"/>
          <a:stretch>
            <a:fillRect/>
          </a:stretch>
        </p:blipFill>
        <p:spPr>
          <a:xfrm>
            <a:off x="1239186" y="4339650"/>
            <a:ext cx="6744284" cy="2408896"/>
          </a:xfrm>
          <a:prstGeom prst="rect">
            <a:avLst/>
          </a:prstGeom>
        </p:spPr>
      </p:pic>
      <p:pic>
        <p:nvPicPr>
          <p:cNvPr id="13" name="Picture 12">
            <a:extLst>
              <a:ext uri="{FF2B5EF4-FFF2-40B4-BE49-F238E27FC236}">
                <a16:creationId xmlns:a16="http://schemas.microsoft.com/office/drawing/2014/main" xmlns="" id="{9D3ECA0E-F79A-6A7A-E164-7E427433F3BF}"/>
              </a:ext>
            </a:extLst>
          </p:cNvPr>
          <p:cNvPicPr>
            <a:picLocks noChangeAspect="1"/>
          </p:cNvPicPr>
          <p:nvPr/>
        </p:nvPicPr>
        <p:blipFill>
          <a:blip r:embed="rId3"/>
          <a:stretch>
            <a:fillRect/>
          </a:stretch>
        </p:blipFill>
        <p:spPr>
          <a:xfrm>
            <a:off x="2873711" y="6606518"/>
            <a:ext cx="3101609" cy="251482"/>
          </a:xfrm>
          <a:prstGeom prst="rect">
            <a:avLst/>
          </a:prstGeom>
        </p:spPr>
      </p:pic>
    </p:spTree>
    <p:extLst>
      <p:ext uri="{BB962C8B-B14F-4D97-AF65-F5344CB8AC3E}">
        <p14:creationId xmlns:p14="http://schemas.microsoft.com/office/powerpoint/2010/main" val="700023308"/>
      </p:ext>
    </p:extLst>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0E78C63D-574A-59A9-50D2-9976C6AF9714}"/>
              </a:ext>
            </a:extLst>
          </p:cNvPr>
          <p:cNvSpPr txBox="1"/>
          <p:nvPr/>
        </p:nvSpPr>
        <p:spPr>
          <a:xfrm>
            <a:off x="344129" y="86399"/>
            <a:ext cx="10274709" cy="1477328"/>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 Disadvantage:  </a:t>
            </a:r>
          </a:p>
          <a:p>
            <a:r>
              <a:rPr lang="en-US"/>
              <a:t>1) Slower than synchronous transmission. (Because of stop bit, start bit and gaps)  </a:t>
            </a:r>
          </a:p>
          <a:p>
            <a:r>
              <a:rPr lang="en-US"/>
              <a:t>• Advantages:  </a:t>
            </a:r>
          </a:p>
          <a:p>
            <a:r>
              <a:rPr lang="en-US"/>
              <a:t>1) Cheap &amp; effective.  </a:t>
            </a:r>
          </a:p>
          <a:p>
            <a:r>
              <a:rPr lang="en-US"/>
              <a:t>2) Useful for low-speed communication.</a:t>
            </a:r>
            <a:endParaRPr lang="en-IN"/>
          </a:p>
        </p:txBody>
      </p:sp>
      <p:sp>
        <p:nvSpPr>
          <p:cNvPr id="11" name="TextBox 10">
            <a:extLst>
              <a:ext uri="{FF2B5EF4-FFF2-40B4-BE49-F238E27FC236}">
                <a16:creationId xmlns:a16="http://schemas.microsoft.com/office/drawing/2014/main" xmlns="" id="{A1FBB22F-9F49-2622-353E-BDF7176AC5AC}"/>
              </a:ext>
            </a:extLst>
          </p:cNvPr>
          <p:cNvSpPr txBox="1"/>
          <p:nvPr/>
        </p:nvSpPr>
        <p:spPr>
          <a:xfrm>
            <a:off x="344128" y="1563727"/>
            <a:ext cx="11611897" cy="1785104"/>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a:t>Synchronous Transmission  </a:t>
            </a:r>
          </a:p>
          <a:p>
            <a:r>
              <a:rPr lang="en-US"/>
              <a:t>• The receiver is responsible for grouping the bits.  </a:t>
            </a:r>
          </a:p>
          <a:p>
            <a:r>
              <a:rPr lang="en-US"/>
              <a:t>• We send bits one after another without start or stop bits or gaps (Figure 4.35).  </a:t>
            </a:r>
          </a:p>
          <a:p>
            <a:r>
              <a:rPr lang="en-US"/>
              <a:t>• The bit-stream is combined into longer "frames," which may contain multiple bytes.  </a:t>
            </a:r>
          </a:p>
          <a:p>
            <a:r>
              <a:rPr lang="en-US"/>
              <a:t>• If the sender wants to send data in separate bursts, the gaps b/w bursts must be filled with a special </a:t>
            </a:r>
          </a:p>
          <a:p>
            <a:r>
              <a:rPr lang="en-US"/>
              <a:t>sequence of 0s &amp; 1s (that means idle).</a:t>
            </a:r>
            <a:endParaRPr lang="en-IN"/>
          </a:p>
        </p:txBody>
      </p:sp>
      <p:pic>
        <p:nvPicPr>
          <p:cNvPr id="13" name="Picture 12">
            <a:extLst>
              <a:ext uri="{FF2B5EF4-FFF2-40B4-BE49-F238E27FC236}">
                <a16:creationId xmlns:a16="http://schemas.microsoft.com/office/drawing/2014/main" xmlns="" id="{F7AC6447-64EA-25D9-410F-9BA2DC384D81}"/>
              </a:ext>
            </a:extLst>
          </p:cNvPr>
          <p:cNvPicPr>
            <a:picLocks noChangeAspect="1"/>
          </p:cNvPicPr>
          <p:nvPr/>
        </p:nvPicPr>
        <p:blipFill>
          <a:blip r:embed="rId2"/>
          <a:stretch>
            <a:fillRect/>
          </a:stretch>
        </p:blipFill>
        <p:spPr>
          <a:xfrm>
            <a:off x="899107" y="3509170"/>
            <a:ext cx="6873836" cy="2560542"/>
          </a:xfrm>
          <a:prstGeom prst="rect">
            <a:avLst/>
          </a:prstGeom>
        </p:spPr>
      </p:pic>
      <p:pic>
        <p:nvPicPr>
          <p:cNvPr id="15" name="Picture 14">
            <a:extLst>
              <a:ext uri="{FF2B5EF4-FFF2-40B4-BE49-F238E27FC236}">
                <a16:creationId xmlns:a16="http://schemas.microsoft.com/office/drawing/2014/main" xmlns="" id="{863C0FA7-6E3F-3C7B-4464-C3C543A40638}"/>
              </a:ext>
            </a:extLst>
          </p:cNvPr>
          <p:cNvPicPr>
            <a:picLocks noChangeAspect="1"/>
          </p:cNvPicPr>
          <p:nvPr/>
        </p:nvPicPr>
        <p:blipFill>
          <a:blip r:embed="rId3"/>
          <a:stretch>
            <a:fillRect/>
          </a:stretch>
        </p:blipFill>
        <p:spPr>
          <a:xfrm>
            <a:off x="1564796" y="6230051"/>
            <a:ext cx="3480864" cy="236734"/>
          </a:xfrm>
          <a:prstGeom prst="rect">
            <a:avLst/>
          </a:prstGeom>
        </p:spPr>
      </p:pic>
    </p:spTree>
    <p:extLst>
      <p:ext uri="{BB962C8B-B14F-4D97-AF65-F5344CB8AC3E}">
        <p14:creationId xmlns:p14="http://schemas.microsoft.com/office/powerpoint/2010/main" val="1360226905"/>
      </p:ext>
    </p:extLst>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33098874-527E-AD57-070B-8C354D981181}"/>
              </a:ext>
            </a:extLst>
          </p:cNvPr>
          <p:cNvSpPr txBox="1"/>
          <p:nvPr/>
        </p:nvSpPr>
        <p:spPr>
          <a:xfrm>
            <a:off x="186812" y="185569"/>
            <a:ext cx="11238271" cy="92333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 Advantages:  </a:t>
            </a:r>
          </a:p>
          <a:p>
            <a:r>
              <a:rPr lang="en-US"/>
              <a:t>1) Speed: Faster than asynchronous transmission. (no stop bit, start bit and gaps).  </a:t>
            </a:r>
          </a:p>
          <a:p>
            <a:r>
              <a:rPr lang="en-US"/>
              <a:t>2) Useful for high-speed applications such as transmission of data from one computer to another. </a:t>
            </a:r>
            <a:endParaRPr lang="en-IN"/>
          </a:p>
        </p:txBody>
      </p:sp>
      <p:sp>
        <p:nvSpPr>
          <p:cNvPr id="11" name="TextBox 10">
            <a:extLst>
              <a:ext uri="{FF2B5EF4-FFF2-40B4-BE49-F238E27FC236}">
                <a16:creationId xmlns:a16="http://schemas.microsoft.com/office/drawing/2014/main" xmlns="" id="{AC72BBB6-D8A6-31DB-B572-4E3926F3479C}"/>
              </a:ext>
            </a:extLst>
          </p:cNvPr>
          <p:cNvSpPr txBox="1"/>
          <p:nvPr/>
        </p:nvSpPr>
        <p:spPr>
          <a:xfrm>
            <a:off x="540773" y="1666001"/>
            <a:ext cx="10176387" cy="27454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a:t>Isochronous  </a:t>
            </a:r>
          </a:p>
          <a:p>
            <a:endParaRPr lang="en-US" sz="2000" b="1"/>
          </a:p>
          <a:p>
            <a:pPr algn="just">
              <a:lnSpc>
                <a:spcPct val="150000"/>
              </a:lnSpc>
            </a:pPr>
            <a:r>
              <a:rPr lang="en-US"/>
              <a:t>• Synchronization between characters is not enough; the entire stream of bits must be synchronized.  </a:t>
            </a:r>
          </a:p>
          <a:p>
            <a:pPr algn="just">
              <a:lnSpc>
                <a:spcPct val="150000"/>
              </a:lnSpc>
            </a:pPr>
            <a:r>
              <a:rPr lang="en-US"/>
              <a:t>• The isochronous transmission guarantees that the data arrive at a fixed rate.  </a:t>
            </a:r>
          </a:p>
          <a:p>
            <a:pPr algn="just">
              <a:lnSpc>
                <a:spcPct val="150000"/>
              </a:lnSpc>
            </a:pPr>
            <a:r>
              <a:rPr lang="en-US"/>
              <a:t>• In real-time audio/video, jitter is not acceptable.  Therefore, synchronous transmission fails.  </a:t>
            </a:r>
          </a:p>
          <a:p>
            <a:pPr algn="just">
              <a:lnSpc>
                <a:spcPct val="150000"/>
              </a:lnSpc>
            </a:pPr>
            <a:r>
              <a:rPr lang="en-US"/>
              <a:t>• For example: TV images are broadcast at the rate of 30 images per second. The images must be </a:t>
            </a:r>
          </a:p>
          <a:p>
            <a:pPr algn="just">
              <a:lnSpc>
                <a:spcPct val="150000"/>
              </a:lnSpc>
            </a:pPr>
            <a:r>
              <a:rPr lang="en-US"/>
              <a:t>viewed at the same rate. </a:t>
            </a:r>
            <a:endParaRPr lang="en-IN"/>
          </a:p>
        </p:txBody>
      </p:sp>
      <p:pic>
        <p:nvPicPr>
          <p:cNvPr id="3" name="Picture 2">
            <a:extLst>
              <a:ext uri="{FF2B5EF4-FFF2-40B4-BE49-F238E27FC236}">
                <a16:creationId xmlns:a16="http://schemas.microsoft.com/office/drawing/2014/main" xmlns="" id="{7987F0E1-AF04-6D20-2387-70C98CB353D6}"/>
              </a:ext>
            </a:extLst>
          </p:cNvPr>
          <p:cNvPicPr>
            <a:picLocks noChangeAspect="1"/>
          </p:cNvPicPr>
          <p:nvPr/>
        </p:nvPicPr>
        <p:blipFill>
          <a:blip r:embed="rId3"/>
          <a:stretch>
            <a:fillRect/>
          </a:stretch>
        </p:blipFill>
        <p:spPr>
          <a:xfrm>
            <a:off x="3556950" y="4025692"/>
            <a:ext cx="6501450" cy="2745432"/>
          </a:xfrm>
          <a:prstGeom prst="rect">
            <a:avLst/>
          </a:prstGeom>
        </p:spPr>
      </p:pic>
    </p:spTree>
    <p:extLst>
      <p:ext uri="{BB962C8B-B14F-4D97-AF65-F5344CB8AC3E}">
        <p14:creationId xmlns:p14="http://schemas.microsoft.com/office/powerpoint/2010/main" val="3102116584"/>
      </p:ext>
    </p:extLst>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5D62BF2C-6FC5-7C75-FAAD-7C4274A4D504}"/>
              </a:ext>
            </a:extLst>
          </p:cNvPr>
          <p:cNvSpPr txBox="1"/>
          <p:nvPr/>
        </p:nvSpPr>
        <p:spPr>
          <a:xfrm>
            <a:off x="432618" y="165903"/>
            <a:ext cx="11395587" cy="249299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dirty="0"/>
              <a:t> </a:t>
            </a:r>
            <a:r>
              <a:rPr lang="en-US" sz="2800" b="1" spc="-10" dirty="0">
                <a:solidFill>
                  <a:srgbClr val="C00000"/>
                </a:solidFill>
                <a:latin typeface="Times New Roman" panose="02020603050405020304" pitchFamily="18" charset="0"/>
              </a:rPr>
              <a:t>ANALOG TRANSMISSION </a:t>
            </a:r>
          </a:p>
          <a:p>
            <a:endParaRPr lang="en-US" sz="2800" b="1" spc="-10" dirty="0">
              <a:solidFill>
                <a:srgbClr val="C00000"/>
              </a:solidFill>
              <a:latin typeface="Times New Roman" panose="02020603050405020304" pitchFamily="18" charset="0"/>
            </a:endParaRPr>
          </a:p>
          <a:p>
            <a:r>
              <a:rPr lang="en-US" sz="2800" b="1" spc="-10" dirty="0">
                <a:solidFill>
                  <a:srgbClr val="C00000"/>
                </a:solidFill>
                <a:latin typeface="Times New Roman" panose="02020603050405020304" pitchFamily="18" charset="0"/>
              </a:rPr>
              <a:t> </a:t>
            </a:r>
            <a:r>
              <a:rPr lang="en-US" sz="2400" b="1" spc="-10" dirty="0">
                <a:solidFill>
                  <a:srgbClr val="C00000"/>
                </a:solidFill>
                <a:latin typeface="Times New Roman" panose="02020603050405020304" pitchFamily="18" charset="0"/>
              </a:rPr>
              <a:t>DIGITAL TO ANALOG CONVERSION  </a:t>
            </a:r>
          </a:p>
          <a:p>
            <a:endParaRPr lang="en-US" dirty="0"/>
          </a:p>
          <a:p>
            <a:r>
              <a:rPr lang="en-US" dirty="0"/>
              <a:t>• Digital-to-analog conversion is the process of changing one of the characteristics of an analog-signal </a:t>
            </a:r>
          </a:p>
          <a:p>
            <a:r>
              <a:rPr lang="en-US" dirty="0"/>
              <a:t>based on the information in digital-data.  Fig below shows the relationship between the digital information, the digital-to-analog modulating process, and the resultant analog signal.</a:t>
            </a:r>
            <a:endParaRPr lang="en-IN" dirty="0"/>
          </a:p>
        </p:txBody>
      </p:sp>
      <p:pic>
        <p:nvPicPr>
          <p:cNvPr id="9" name="Picture 8">
            <a:extLst>
              <a:ext uri="{FF2B5EF4-FFF2-40B4-BE49-F238E27FC236}">
                <a16:creationId xmlns:a16="http://schemas.microsoft.com/office/drawing/2014/main" xmlns="" id="{D4862A75-F374-3C84-391F-B16CCC718D10}"/>
              </a:ext>
            </a:extLst>
          </p:cNvPr>
          <p:cNvPicPr>
            <a:picLocks noChangeAspect="1"/>
          </p:cNvPicPr>
          <p:nvPr/>
        </p:nvPicPr>
        <p:blipFill>
          <a:blip r:embed="rId2"/>
          <a:stretch>
            <a:fillRect/>
          </a:stretch>
        </p:blipFill>
        <p:spPr>
          <a:xfrm>
            <a:off x="1856407" y="2844847"/>
            <a:ext cx="8377571" cy="3339643"/>
          </a:xfrm>
          <a:prstGeom prst="rect">
            <a:avLst/>
          </a:prstGeom>
        </p:spPr>
      </p:pic>
    </p:spTree>
    <p:extLst>
      <p:ext uri="{BB962C8B-B14F-4D97-AF65-F5344CB8AC3E}">
        <p14:creationId xmlns:p14="http://schemas.microsoft.com/office/powerpoint/2010/main" val="737295159"/>
      </p:ext>
    </p:extLst>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8F14BE46-7610-F571-2FAC-4206C423337A}"/>
              </a:ext>
            </a:extLst>
          </p:cNvPr>
          <p:cNvSpPr txBox="1"/>
          <p:nvPr/>
        </p:nvSpPr>
        <p:spPr>
          <a:xfrm>
            <a:off x="668592" y="0"/>
            <a:ext cx="11061291" cy="3970318"/>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 A sine wave can be defined by 3 attributes:  </a:t>
            </a:r>
          </a:p>
          <a:p>
            <a:r>
              <a:rPr lang="en-US"/>
              <a:t>	1) Amplitude  </a:t>
            </a:r>
          </a:p>
          <a:p>
            <a:r>
              <a:rPr lang="en-US"/>
              <a:t>	2) Frequency </a:t>
            </a:r>
          </a:p>
          <a:p>
            <a:r>
              <a:rPr lang="en-US"/>
              <a:t>	3) Phase.  </a:t>
            </a:r>
          </a:p>
          <a:p>
            <a:r>
              <a:rPr lang="en-US"/>
              <a:t>• When anyone of the 3 attributes of a wave is varied, a different version of the wave will be created.  </a:t>
            </a:r>
          </a:p>
          <a:p>
            <a:r>
              <a:rPr lang="en-US"/>
              <a:t>• So, by changing one attribute of an analog signal, we can use it to represent digital-data.  </a:t>
            </a:r>
          </a:p>
          <a:p>
            <a:r>
              <a:rPr lang="en-US"/>
              <a:t>• Four methods of digital to analog conversion (Figure 5.2):  </a:t>
            </a:r>
          </a:p>
          <a:p>
            <a:r>
              <a:rPr lang="en-US"/>
              <a:t>	1) Amplitude shift keying (ASK)  </a:t>
            </a:r>
          </a:p>
          <a:p>
            <a:r>
              <a:rPr lang="en-US"/>
              <a:t>	2) Frequency shift keying (FSK)  </a:t>
            </a:r>
          </a:p>
          <a:p>
            <a:r>
              <a:rPr lang="en-US"/>
              <a:t>	3) Phase shift keying (PSK)  </a:t>
            </a:r>
          </a:p>
          <a:p>
            <a:r>
              <a:rPr lang="en-US"/>
              <a:t>	4) Quadrature amplitude modulation (QAM).  </a:t>
            </a:r>
          </a:p>
          <a:p>
            <a:r>
              <a:rPr lang="en-US"/>
              <a:t>• QAM is a combination of ASK and PSK i.e. QAM combines changing both the amplitude and phase. </a:t>
            </a:r>
          </a:p>
          <a:p>
            <a:r>
              <a:rPr lang="en-US"/>
              <a:t>	QAM is the most efficient of these 4 methods.  </a:t>
            </a:r>
          </a:p>
          <a:p>
            <a:r>
              <a:rPr lang="en-US"/>
              <a:t>		QAM is the method commonly used today. </a:t>
            </a:r>
            <a:endParaRPr lang="en-IN"/>
          </a:p>
        </p:txBody>
      </p:sp>
      <p:pic>
        <p:nvPicPr>
          <p:cNvPr id="9" name="Picture 8">
            <a:extLst>
              <a:ext uri="{FF2B5EF4-FFF2-40B4-BE49-F238E27FC236}">
                <a16:creationId xmlns:a16="http://schemas.microsoft.com/office/drawing/2014/main" xmlns="" id="{0CE88F5D-69FC-1117-E102-4FC05D8B3F29}"/>
              </a:ext>
            </a:extLst>
          </p:cNvPr>
          <p:cNvPicPr>
            <a:picLocks noChangeAspect="1"/>
          </p:cNvPicPr>
          <p:nvPr/>
        </p:nvPicPr>
        <p:blipFill>
          <a:blip r:embed="rId2"/>
          <a:stretch>
            <a:fillRect/>
          </a:stretch>
        </p:blipFill>
        <p:spPr>
          <a:xfrm>
            <a:off x="2119667" y="3860634"/>
            <a:ext cx="6713802" cy="2872989"/>
          </a:xfrm>
          <a:prstGeom prst="rect">
            <a:avLst/>
          </a:prstGeom>
        </p:spPr>
      </p:pic>
    </p:spTree>
    <p:extLst>
      <p:ext uri="{BB962C8B-B14F-4D97-AF65-F5344CB8AC3E}">
        <p14:creationId xmlns:p14="http://schemas.microsoft.com/office/powerpoint/2010/main" val="206063922"/>
      </p:ext>
    </p:extLst>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3667B194-31E6-DE50-D63C-276C74C38092}"/>
              </a:ext>
            </a:extLst>
          </p:cNvPr>
          <p:cNvPicPr>
            <a:picLocks noChangeAspect="1"/>
          </p:cNvPicPr>
          <p:nvPr/>
        </p:nvPicPr>
        <p:blipFill>
          <a:blip r:embed="rId2"/>
          <a:stretch>
            <a:fillRect/>
          </a:stretch>
        </p:blipFill>
        <p:spPr>
          <a:xfrm>
            <a:off x="791390" y="1086209"/>
            <a:ext cx="10254118" cy="4498514"/>
          </a:xfrm>
          <a:prstGeom prst="rect">
            <a:avLst/>
          </a:prstGeom>
        </p:spPr>
      </p:pic>
      <p:sp>
        <p:nvSpPr>
          <p:cNvPr id="7" name="TextBox 6">
            <a:extLst>
              <a:ext uri="{FF2B5EF4-FFF2-40B4-BE49-F238E27FC236}">
                <a16:creationId xmlns:a16="http://schemas.microsoft.com/office/drawing/2014/main" xmlns="" id="{A18EBE9D-84D3-DBFF-AAAE-A8670352D3E8}"/>
              </a:ext>
            </a:extLst>
          </p:cNvPr>
          <p:cNvSpPr txBox="1"/>
          <p:nvPr/>
        </p:nvSpPr>
        <p:spPr>
          <a:xfrm>
            <a:off x="791390" y="297114"/>
            <a:ext cx="8047810" cy="52322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2800" b="1"/>
              <a:t>Aspects of Digital-to-Analog Conversion</a:t>
            </a:r>
          </a:p>
        </p:txBody>
      </p:sp>
    </p:spTree>
    <p:extLst>
      <p:ext uri="{BB962C8B-B14F-4D97-AF65-F5344CB8AC3E}">
        <p14:creationId xmlns:p14="http://schemas.microsoft.com/office/powerpoint/2010/main" val="662591325"/>
      </p:ext>
    </p:extLst>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F7B73189-2904-E76F-2CD7-9849F47745C7}"/>
              </a:ext>
            </a:extLst>
          </p:cNvPr>
          <p:cNvPicPr>
            <a:picLocks noChangeAspect="1"/>
          </p:cNvPicPr>
          <p:nvPr/>
        </p:nvPicPr>
        <p:blipFill>
          <a:blip r:embed="rId2"/>
          <a:stretch>
            <a:fillRect/>
          </a:stretch>
        </p:blipFill>
        <p:spPr>
          <a:xfrm>
            <a:off x="580102" y="76088"/>
            <a:ext cx="10184485" cy="2562731"/>
          </a:xfrm>
          <a:prstGeom prst="rect">
            <a:avLst/>
          </a:prstGeom>
        </p:spPr>
      </p:pic>
      <p:pic>
        <p:nvPicPr>
          <p:cNvPr id="7" name="Picture 6">
            <a:extLst>
              <a:ext uri="{FF2B5EF4-FFF2-40B4-BE49-F238E27FC236}">
                <a16:creationId xmlns:a16="http://schemas.microsoft.com/office/drawing/2014/main" xmlns="" id="{2F2D2718-2871-4E14-ACB1-56F0762BEF46}"/>
              </a:ext>
            </a:extLst>
          </p:cNvPr>
          <p:cNvPicPr>
            <a:picLocks noChangeAspect="1"/>
          </p:cNvPicPr>
          <p:nvPr/>
        </p:nvPicPr>
        <p:blipFill>
          <a:blip r:embed="rId3"/>
          <a:stretch>
            <a:fillRect/>
          </a:stretch>
        </p:blipFill>
        <p:spPr>
          <a:xfrm>
            <a:off x="2224422" y="2638819"/>
            <a:ext cx="8540163" cy="1772661"/>
          </a:xfrm>
          <a:prstGeom prst="rect">
            <a:avLst/>
          </a:prstGeom>
        </p:spPr>
      </p:pic>
      <p:pic>
        <p:nvPicPr>
          <p:cNvPr id="9" name="Picture 8">
            <a:extLst>
              <a:ext uri="{FF2B5EF4-FFF2-40B4-BE49-F238E27FC236}">
                <a16:creationId xmlns:a16="http://schemas.microsoft.com/office/drawing/2014/main" xmlns="" id="{356BC7C3-28EF-2F9C-3356-91B9D3528484}"/>
              </a:ext>
            </a:extLst>
          </p:cNvPr>
          <p:cNvPicPr>
            <a:picLocks noChangeAspect="1"/>
          </p:cNvPicPr>
          <p:nvPr/>
        </p:nvPicPr>
        <p:blipFill>
          <a:blip r:embed="rId4"/>
          <a:stretch>
            <a:fillRect/>
          </a:stretch>
        </p:blipFill>
        <p:spPr>
          <a:xfrm>
            <a:off x="2312915" y="4590485"/>
            <a:ext cx="8318359" cy="2191427"/>
          </a:xfrm>
          <a:prstGeom prst="rect">
            <a:avLst/>
          </a:prstGeom>
        </p:spPr>
      </p:pic>
      <p:sp>
        <p:nvSpPr>
          <p:cNvPr id="11" name="TextBox 10">
            <a:extLst>
              <a:ext uri="{FF2B5EF4-FFF2-40B4-BE49-F238E27FC236}">
                <a16:creationId xmlns:a16="http://schemas.microsoft.com/office/drawing/2014/main" xmlns="" id="{2AF23CB1-E83F-A69D-8457-D1582230496E}"/>
              </a:ext>
            </a:extLst>
          </p:cNvPr>
          <p:cNvSpPr txBox="1"/>
          <p:nvPr/>
        </p:nvSpPr>
        <p:spPr>
          <a:xfrm>
            <a:off x="710257" y="3849850"/>
            <a:ext cx="1602658"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b="1"/>
              <a:t>Example</a:t>
            </a:r>
          </a:p>
        </p:txBody>
      </p:sp>
      <p:sp>
        <p:nvSpPr>
          <p:cNvPr id="12" name="TextBox 11">
            <a:extLst>
              <a:ext uri="{FF2B5EF4-FFF2-40B4-BE49-F238E27FC236}">
                <a16:creationId xmlns:a16="http://schemas.microsoft.com/office/drawing/2014/main" xmlns="" id="{426ED633-D5A0-3671-DDCC-1972E4AC7B97}"/>
              </a:ext>
            </a:extLst>
          </p:cNvPr>
          <p:cNvSpPr txBox="1"/>
          <p:nvPr/>
        </p:nvSpPr>
        <p:spPr>
          <a:xfrm>
            <a:off x="710257" y="5577620"/>
            <a:ext cx="1602658"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b="1"/>
              <a:t>Example</a:t>
            </a:r>
          </a:p>
        </p:txBody>
      </p:sp>
    </p:spTree>
    <p:extLst>
      <p:ext uri="{BB962C8B-B14F-4D97-AF65-F5344CB8AC3E}">
        <p14:creationId xmlns:p14="http://schemas.microsoft.com/office/powerpoint/2010/main" val="4046402688"/>
      </p:ext>
    </p:extLst>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42AAAF18-E500-F4FE-7D26-874DECCE77D8}"/>
              </a:ext>
            </a:extLst>
          </p:cNvPr>
          <p:cNvSpPr txBox="1"/>
          <p:nvPr/>
        </p:nvSpPr>
        <p:spPr>
          <a:xfrm>
            <a:off x="639097" y="271516"/>
            <a:ext cx="9389806" cy="2462213"/>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a:t>Amplitude Shift Keying (ASK)  </a:t>
            </a:r>
          </a:p>
          <a:p>
            <a:r>
              <a:rPr lang="en-US"/>
              <a:t>•The amplitude of the carrier-signal is varied to represent different signal-elements.  </a:t>
            </a:r>
          </a:p>
          <a:p>
            <a:r>
              <a:rPr lang="en-US"/>
              <a:t>• Both frequency and phase remain constant for all signal-elements.  </a:t>
            </a:r>
          </a:p>
          <a:p>
            <a:endParaRPr lang="en-US"/>
          </a:p>
          <a:p>
            <a:r>
              <a:rPr lang="en-US" sz="2000" b="1"/>
              <a:t>Binary ASK (BASK)  </a:t>
            </a:r>
          </a:p>
          <a:p>
            <a:endParaRPr lang="en-US" sz="2000" b="1"/>
          </a:p>
          <a:p>
            <a:r>
              <a:rPr lang="en-US"/>
              <a:t>• BASK is implemented using only 2 levels. (Figure 5.3)  </a:t>
            </a:r>
          </a:p>
          <a:p>
            <a:r>
              <a:rPr lang="en-US"/>
              <a:t>• This is also referred to as OOK (On-Off Keying). </a:t>
            </a:r>
            <a:endParaRPr lang="en-IN"/>
          </a:p>
        </p:txBody>
      </p:sp>
      <p:pic>
        <p:nvPicPr>
          <p:cNvPr id="9" name="Picture 8">
            <a:extLst>
              <a:ext uri="{FF2B5EF4-FFF2-40B4-BE49-F238E27FC236}">
                <a16:creationId xmlns:a16="http://schemas.microsoft.com/office/drawing/2014/main" xmlns="" id="{E62B7126-A81C-881B-2175-8A3E4F872D45}"/>
              </a:ext>
            </a:extLst>
          </p:cNvPr>
          <p:cNvPicPr>
            <a:picLocks noChangeAspect="1"/>
          </p:cNvPicPr>
          <p:nvPr/>
        </p:nvPicPr>
        <p:blipFill>
          <a:blip r:embed="rId2"/>
          <a:stretch>
            <a:fillRect/>
          </a:stretch>
        </p:blipFill>
        <p:spPr>
          <a:xfrm>
            <a:off x="1578536" y="2893023"/>
            <a:ext cx="7848812" cy="3094822"/>
          </a:xfrm>
          <a:prstGeom prst="rect">
            <a:avLst/>
          </a:prstGeom>
        </p:spPr>
      </p:pic>
    </p:spTree>
    <p:extLst>
      <p:ext uri="{BB962C8B-B14F-4D97-AF65-F5344CB8AC3E}">
        <p14:creationId xmlns:p14="http://schemas.microsoft.com/office/powerpoint/2010/main" val="2310277992"/>
      </p:ext>
    </p:extLst>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BBF65E18-D76F-FD73-063C-2F067E5B95EF}"/>
              </a:ext>
            </a:extLst>
          </p:cNvPr>
          <p:cNvSpPr txBox="1"/>
          <p:nvPr/>
        </p:nvSpPr>
        <p:spPr>
          <a:xfrm>
            <a:off x="314631" y="281347"/>
            <a:ext cx="10766323" cy="1508105"/>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 </a:t>
            </a:r>
            <a:r>
              <a:rPr lang="en-US" sz="2000" b="1" dirty="0"/>
              <a:t>Implementation of BASK  </a:t>
            </a:r>
          </a:p>
          <a:p>
            <a:r>
              <a:rPr lang="en-US" dirty="0"/>
              <a:t>• Here, line coding method used = unipolar NRZ (Figure 5.4).  </a:t>
            </a:r>
          </a:p>
          <a:p>
            <a:r>
              <a:rPr lang="en-US" dirty="0"/>
              <a:t>• The unipolar NRZ signal is multiplied by the carrier-frequency coming from an oscillator.  </a:t>
            </a:r>
          </a:p>
          <a:p>
            <a:r>
              <a:rPr lang="en-US" dirty="0"/>
              <a:t>	1) When amplitude of the NRZ signal = 0, amplitude of the carrier-signal = 0.  </a:t>
            </a:r>
          </a:p>
          <a:p>
            <a:r>
              <a:rPr lang="en-US" dirty="0"/>
              <a:t>	2) When amplitude of the NRZ signal = 1, the amplitude of the carrier-signal is held. </a:t>
            </a:r>
            <a:endParaRPr lang="en-IN" dirty="0"/>
          </a:p>
        </p:txBody>
      </p:sp>
      <p:pic>
        <p:nvPicPr>
          <p:cNvPr id="9" name="Picture 8">
            <a:extLst>
              <a:ext uri="{FF2B5EF4-FFF2-40B4-BE49-F238E27FC236}">
                <a16:creationId xmlns:a16="http://schemas.microsoft.com/office/drawing/2014/main" xmlns="" id="{65032C9B-CB20-F830-C3FA-E71533F7AFB7}"/>
              </a:ext>
            </a:extLst>
          </p:cNvPr>
          <p:cNvPicPr>
            <a:picLocks noChangeAspect="1"/>
          </p:cNvPicPr>
          <p:nvPr/>
        </p:nvPicPr>
        <p:blipFill>
          <a:blip r:embed="rId2"/>
          <a:stretch>
            <a:fillRect/>
          </a:stretch>
        </p:blipFill>
        <p:spPr>
          <a:xfrm>
            <a:off x="1622322" y="2179318"/>
            <a:ext cx="7521677" cy="3122987"/>
          </a:xfrm>
          <a:prstGeom prst="rect">
            <a:avLst/>
          </a:prstGeom>
        </p:spPr>
      </p:pic>
    </p:spTree>
    <p:extLst>
      <p:ext uri="{BB962C8B-B14F-4D97-AF65-F5344CB8AC3E}">
        <p14:creationId xmlns:p14="http://schemas.microsoft.com/office/powerpoint/2010/main" val="3986315876"/>
      </p:ext>
    </p:extLst>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B57425A5-BA20-40D1-A913-71EE99E4AC3D}"/>
              </a:ext>
            </a:extLst>
          </p:cNvPr>
          <p:cNvSpPr txBox="1"/>
          <p:nvPr/>
        </p:nvSpPr>
        <p:spPr>
          <a:xfrm>
            <a:off x="154370" y="56344"/>
            <a:ext cx="11061291" cy="2062103"/>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 </a:t>
            </a:r>
            <a:r>
              <a:rPr lang="en-US" sz="2000" b="1"/>
              <a:t>Bandwidth for ASK  </a:t>
            </a:r>
          </a:p>
          <a:p>
            <a:r>
              <a:rPr lang="en-US"/>
              <a:t>• The bandwidth is proportional to the signal-rate (S) (Figure 5.5)</a:t>
            </a:r>
          </a:p>
          <a:p>
            <a:r>
              <a:rPr lang="en-US"/>
              <a:t>•The bandwidth is given by</a:t>
            </a:r>
          </a:p>
          <a:p>
            <a:endParaRPr lang="en-US"/>
          </a:p>
          <a:p>
            <a:endParaRPr lang="en-US"/>
          </a:p>
          <a:p>
            <a:r>
              <a:rPr lang="en-US"/>
              <a:t>where d(0&lt;d&lt;1)= this factor depends on modulation and filtering-process. </a:t>
            </a:r>
          </a:p>
          <a:p>
            <a:endParaRPr lang="en-IN"/>
          </a:p>
        </p:txBody>
      </p:sp>
      <p:pic>
        <p:nvPicPr>
          <p:cNvPr id="9" name="Picture 8">
            <a:extLst>
              <a:ext uri="{FF2B5EF4-FFF2-40B4-BE49-F238E27FC236}">
                <a16:creationId xmlns:a16="http://schemas.microsoft.com/office/drawing/2014/main" xmlns="" id="{A7D86963-99B7-6F41-7562-F882F16A6A39}"/>
              </a:ext>
            </a:extLst>
          </p:cNvPr>
          <p:cNvPicPr>
            <a:picLocks noChangeAspect="1"/>
          </p:cNvPicPr>
          <p:nvPr/>
        </p:nvPicPr>
        <p:blipFill>
          <a:blip r:embed="rId2"/>
          <a:stretch>
            <a:fillRect/>
          </a:stretch>
        </p:blipFill>
        <p:spPr>
          <a:xfrm>
            <a:off x="2205063" y="933507"/>
            <a:ext cx="1508891" cy="327688"/>
          </a:xfrm>
          <a:prstGeom prst="rect">
            <a:avLst/>
          </a:prstGeom>
        </p:spPr>
      </p:pic>
      <p:pic>
        <p:nvPicPr>
          <p:cNvPr id="11" name="Picture 10">
            <a:extLst>
              <a:ext uri="{FF2B5EF4-FFF2-40B4-BE49-F238E27FC236}">
                <a16:creationId xmlns:a16="http://schemas.microsoft.com/office/drawing/2014/main" xmlns="" id="{51891AFF-6152-5C8B-C336-E97AFED0B123}"/>
              </a:ext>
            </a:extLst>
          </p:cNvPr>
          <p:cNvPicPr>
            <a:picLocks noChangeAspect="1"/>
          </p:cNvPicPr>
          <p:nvPr/>
        </p:nvPicPr>
        <p:blipFill>
          <a:blip r:embed="rId3"/>
          <a:stretch>
            <a:fillRect/>
          </a:stretch>
        </p:blipFill>
        <p:spPr>
          <a:xfrm>
            <a:off x="840727" y="4304267"/>
            <a:ext cx="9688578" cy="2424815"/>
          </a:xfrm>
          <a:prstGeom prst="rect">
            <a:avLst/>
          </a:prstGeom>
        </p:spPr>
      </p:pic>
      <p:sp>
        <p:nvSpPr>
          <p:cNvPr id="12" name="TextBox 11">
            <a:extLst>
              <a:ext uri="{FF2B5EF4-FFF2-40B4-BE49-F238E27FC236}">
                <a16:creationId xmlns:a16="http://schemas.microsoft.com/office/drawing/2014/main" xmlns="" id="{6FB7B907-21BE-ABA0-BD61-CCB93CA474A9}"/>
              </a:ext>
            </a:extLst>
          </p:cNvPr>
          <p:cNvSpPr txBox="1"/>
          <p:nvPr/>
        </p:nvSpPr>
        <p:spPr>
          <a:xfrm>
            <a:off x="154370" y="3934935"/>
            <a:ext cx="1602658"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b="1"/>
              <a:t>Example</a:t>
            </a:r>
          </a:p>
        </p:txBody>
      </p:sp>
      <p:pic>
        <p:nvPicPr>
          <p:cNvPr id="16" name="Picture 15">
            <a:extLst>
              <a:ext uri="{FF2B5EF4-FFF2-40B4-BE49-F238E27FC236}">
                <a16:creationId xmlns:a16="http://schemas.microsoft.com/office/drawing/2014/main" xmlns="" id="{73B1FB50-6FE5-CE39-99B1-73D1141DEA79}"/>
              </a:ext>
            </a:extLst>
          </p:cNvPr>
          <p:cNvPicPr>
            <a:picLocks noChangeAspect="1"/>
          </p:cNvPicPr>
          <p:nvPr/>
        </p:nvPicPr>
        <p:blipFill>
          <a:blip r:embed="rId4"/>
          <a:stretch>
            <a:fillRect/>
          </a:stretch>
        </p:blipFill>
        <p:spPr>
          <a:xfrm>
            <a:off x="3605799" y="1914150"/>
            <a:ext cx="5459543" cy="2441603"/>
          </a:xfrm>
          <a:prstGeom prst="rect">
            <a:avLst/>
          </a:prstGeom>
        </p:spPr>
      </p:pic>
    </p:spTree>
    <p:extLst>
      <p:ext uri="{BB962C8B-B14F-4D97-AF65-F5344CB8AC3E}">
        <p14:creationId xmlns:p14="http://schemas.microsoft.com/office/powerpoint/2010/main" val="2303221829"/>
      </p:ext>
    </p:extLst>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E05E2596-7DD9-5D4A-ABBB-FB4009BFCCA4}"/>
              </a:ext>
            </a:extLst>
          </p:cNvPr>
          <p:cNvSpPr txBox="1"/>
          <p:nvPr/>
        </p:nvSpPr>
        <p:spPr>
          <a:xfrm>
            <a:off x="462115" y="128777"/>
            <a:ext cx="11533239" cy="2985433"/>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a:t>Frequency Shift Keying (FSK)  </a:t>
            </a:r>
          </a:p>
          <a:p>
            <a:r>
              <a:rPr lang="en-US"/>
              <a:t>• The frequency of the carrier-signal is varied to represent different signal-elements.  </a:t>
            </a:r>
          </a:p>
          <a:p>
            <a:r>
              <a:rPr lang="en-US"/>
              <a:t>• The frequency of the modulated-signal is constant for the duration of one signal-element, but </a:t>
            </a:r>
          </a:p>
          <a:p>
            <a:r>
              <a:rPr lang="en-US"/>
              <a:t>changes for the next signal-element if the data-element changes.  </a:t>
            </a:r>
          </a:p>
          <a:p>
            <a:r>
              <a:rPr lang="en-US"/>
              <a:t>• Both amplitude and phase remain constant for all signal-elements.  </a:t>
            </a:r>
          </a:p>
          <a:p>
            <a:endParaRPr lang="en-US"/>
          </a:p>
          <a:p>
            <a:r>
              <a:rPr lang="en-US" sz="2000" b="1"/>
              <a:t>Binary FSK (BFSK)  </a:t>
            </a:r>
          </a:p>
          <a:p>
            <a:r>
              <a:rPr lang="en-US"/>
              <a:t>• This uses 2 carrier-frequencies: f1 and f2. (Figure 5.6)  </a:t>
            </a:r>
          </a:p>
          <a:p>
            <a:r>
              <a:rPr lang="en-US"/>
              <a:t>	1) When data-element = 1, first carrier frequency(f1) is used.  </a:t>
            </a:r>
          </a:p>
          <a:p>
            <a:r>
              <a:rPr lang="en-US"/>
              <a:t>	2) When data-element = 0, second carrier frequency(f2) is used. </a:t>
            </a:r>
            <a:endParaRPr lang="en-IN"/>
          </a:p>
        </p:txBody>
      </p:sp>
      <p:pic>
        <p:nvPicPr>
          <p:cNvPr id="9" name="Picture 8">
            <a:extLst>
              <a:ext uri="{FF2B5EF4-FFF2-40B4-BE49-F238E27FC236}">
                <a16:creationId xmlns:a16="http://schemas.microsoft.com/office/drawing/2014/main" xmlns="" id="{07ABD442-E971-7A88-6018-10C812FCA169}"/>
              </a:ext>
            </a:extLst>
          </p:cNvPr>
          <p:cNvPicPr>
            <a:picLocks noChangeAspect="1"/>
          </p:cNvPicPr>
          <p:nvPr/>
        </p:nvPicPr>
        <p:blipFill>
          <a:blip r:embed="rId2"/>
          <a:stretch>
            <a:fillRect/>
          </a:stretch>
        </p:blipFill>
        <p:spPr>
          <a:xfrm>
            <a:off x="1105824" y="3208747"/>
            <a:ext cx="8076903" cy="3520476"/>
          </a:xfrm>
          <a:prstGeom prst="rect">
            <a:avLst/>
          </a:prstGeom>
        </p:spPr>
      </p:pic>
    </p:spTree>
    <p:extLst>
      <p:ext uri="{BB962C8B-B14F-4D97-AF65-F5344CB8AC3E}">
        <p14:creationId xmlns:p14="http://schemas.microsoft.com/office/powerpoint/2010/main" val="896052400"/>
      </p:ext>
    </p:extLst>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D490A808-6BDD-B8CD-773B-D1839A4C9BF9}"/>
              </a:ext>
            </a:extLst>
          </p:cNvPr>
          <p:cNvSpPr txBox="1"/>
          <p:nvPr/>
        </p:nvSpPr>
        <p:spPr>
          <a:xfrm>
            <a:off x="481781" y="255242"/>
            <a:ext cx="7934632" cy="954107"/>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 </a:t>
            </a:r>
            <a:r>
              <a:rPr lang="en-US" sz="2000" b="1"/>
              <a:t>Implementation  </a:t>
            </a:r>
          </a:p>
          <a:p>
            <a:r>
              <a:rPr lang="en-US"/>
              <a:t>• Here, line coding method used = unipolar NRZ.  </a:t>
            </a:r>
          </a:p>
          <a:p>
            <a:r>
              <a:rPr lang="en-US"/>
              <a:t>• Two implementations of BFSK: i) Coherent and ii) Non-Coherent. </a:t>
            </a:r>
            <a:endParaRPr lang="en-IN"/>
          </a:p>
        </p:txBody>
      </p:sp>
      <p:pic>
        <p:nvPicPr>
          <p:cNvPr id="9" name="Picture 8">
            <a:extLst>
              <a:ext uri="{FF2B5EF4-FFF2-40B4-BE49-F238E27FC236}">
                <a16:creationId xmlns:a16="http://schemas.microsoft.com/office/drawing/2014/main" xmlns="" id="{41CA2644-E4F9-032F-D9F8-872C1C14FC77}"/>
              </a:ext>
            </a:extLst>
          </p:cNvPr>
          <p:cNvPicPr>
            <a:picLocks noChangeAspect="1"/>
          </p:cNvPicPr>
          <p:nvPr/>
        </p:nvPicPr>
        <p:blipFill>
          <a:blip r:embed="rId2"/>
          <a:stretch>
            <a:fillRect/>
          </a:stretch>
        </p:blipFill>
        <p:spPr>
          <a:xfrm>
            <a:off x="718015" y="1412104"/>
            <a:ext cx="9653656" cy="2551197"/>
          </a:xfrm>
          <a:prstGeom prst="rect">
            <a:avLst/>
          </a:prstGeom>
        </p:spPr>
      </p:pic>
      <p:pic>
        <p:nvPicPr>
          <p:cNvPr id="11" name="Picture 10">
            <a:extLst>
              <a:ext uri="{FF2B5EF4-FFF2-40B4-BE49-F238E27FC236}">
                <a16:creationId xmlns:a16="http://schemas.microsoft.com/office/drawing/2014/main" xmlns="" id="{48A925D8-C812-399E-0230-0B17D50D9B8C}"/>
              </a:ext>
            </a:extLst>
          </p:cNvPr>
          <p:cNvPicPr>
            <a:picLocks noChangeAspect="1"/>
          </p:cNvPicPr>
          <p:nvPr/>
        </p:nvPicPr>
        <p:blipFill>
          <a:blip r:embed="rId3"/>
          <a:stretch>
            <a:fillRect/>
          </a:stretch>
        </p:blipFill>
        <p:spPr>
          <a:xfrm>
            <a:off x="1540789" y="3963300"/>
            <a:ext cx="7348081" cy="2894699"/>
          </a:xfrm>
          <a:prstGeom prst="rect">
            <a:avLst/>
          </a:prstGeom>
        </p:spPr>
      </p:pic>
    </p:spTree>
    <p:extLst>
      <p:ext uri="{BB962C8B-B14F-4D97-AF65-F5344CB8AC3E}">
        <p14:creationId xmlns:p14="http://schemas.microsoft.com/office/powerpoint/2010/main" val="3614833806"/>
      </p:ext>
    </p:extLst>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7C73CADB-DF60-95E5-B4B2-9789A625A3F6}"/>
              </a:ext>
            </a:extLst>
          </p:cNvPr>
          <p:cNvSpPr txBox="1"/>
          <p:nvPr/>
        </p:nvSpPr>
        <p:spPr>
          <a:xfrm>
            <a:off x="422787" y="196249"/>
            <a:ext cx="9832258" cy="954107"/>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 </a:t>
            </a:r>
            <a:r>
              <a:rPr lang="en-US" sz="2000" b="1"/>
              <a:t>Bandwidth for BFSK  </a:t>
            </a:r>
          </a:p>
          <a:p>
            <a:r>
              <a:rPr lang="en-US"/>
              <a:t>• FSK has two ASK signals, each with its own carrier-frequency f1 or f2. (Figure 5.6)  </a:t>
            </a:r>
          </a:p>
          <a:p>
            <a:r>
              <a:rPr lang="en-US"/>
              <a:t>• The bandwidth is given by </a:t>
            </a:r>
            <a:endParaRPr lang="en-IN"/>
          </a:p>
        </p:txBody>
      </p:sp>
      <p:pic>
        <p:nvPicPr>
          <p:cNvPr id="9" name="Picture 8">
            <a:extLst>
              <a:ext uri="{FF2B5EF4-FFF2-40B4-BE49-F238E27FC236}">
                <a16:creationId xmlns:a16="http://schemas.microsoft.com/office/drawing/2014/main" xmlns="" id="{CF790947-01A7-2937-D24E-3623A0B3E356}"/>
              </a:ext>
            </a:extLst>
          </p:cNvPr>
          <p:cNvPicPr>
            <a:picLocks noChangeAspect="1"/>
          </p:cNvPicPr>
          <p:nvPr/>
        </p:nvPicPr>
        <p:blipFill>
          <a:blip r:embed="rId2"/>
          <a:stretch>
            <a:fillRect/>
          </a:stretch>
        </p:blipFill>
        <p:spPr>
          <a:xfrm>
            <a:off x="1951370" y="1301902"/>
            <a:ext cx="2089688" cy="295108"/>
          </a:xfrm>
          <a:prstGeom prst="rect">
            <a:avLst/>
          </a:prstGeom>
        </p:spPr>
      </p:pic>
      <p:sp>
        <p:nvSpPr>
          <p:cNvPr id="11" name="TextBox 10">
            <a:extLst>
              <a:ext uri="{FF2B5EF4-FFF2-40B4-BE49-F238E27FC236}">
                <a16:creationId xmlns:a16="http://schemas.microsoft.com/office/drawing/2014/main" xmlns="" id="{19BBADBE-CEFB-5132-C96C-6F60C6B5436A}"/>
              </a:ext>
            </a:extLst>
          </p:cNvPr>
          <p:cNvSpPr txBox="1"/>
          <p:nvPr/>
        </p:nvSpPr>
        <p:spPr>
          <a:xfrm>
            <a:off x="993058" y="1748556"/>
            <a:ext cx="6096000"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where 2∆f is the difference between f1 and f2, </a:t>
            </a:r>
            <a:endParaRPr lang="en-IN"/>
          </a:p>
        </p:txBody>
      </p:sp>
      <p:pic>
        <p:nvPicPr>
          <p:cNvPr id="13" name="Picture 12">
            <a:extLst>
              <a:ext uri="{FF2B5EF4-FFF2-40B4-BE49-F238E27FC236}">
                <a16:creationId xmlns:a16="http://schemas.microsoft.com/office/drawing/2014/main" xmlns="" id="{F1CD6DE2-4E23-4CB8-3D6D-6AD473E99005}"/>
              </a:ext>
            </a:extLst>
          </p:cNvPr>
          <p:cNvPicPr>
            <a:picLocks noChangeAspect="1"/>
          </p:cNvPicPr>
          <p:nvPr/>
        </p:nvPicPr>
        <p:blipFill>
          <a:blip r:embed="rId3"/>
          <a:stretch>
            <a:fillRect/>
          </a:stretch>
        </p:blipFill>
        <p:spPr>
          <a:xfrm>
            <a:off x="1306652" y="3162742"/>
            <a:ext cx="8799127" cy="2010397"/>
          </a:xfrm>
          <a:prstGeom prst="rect">
            <a:avLst/>
          </a:prstGeom>
        </p:spPr>
      </p:pic>
      <p:sp>
        <p:nvSpPr>
          <p:cNvPr id="16" name="TextBox 15">
            <a:extLst>
              <a:ext uri="{FF2B5EF4-FFF2-40B4-BE49-F238E27FC236}">
                <a16:creationId xmlns:a16="http://schemas.microsoft.com/office/drawing/2014/main" xmlns="" id="{F7E1EB22-48BD-8C5D-246F-FB5E93F4A4BA}"/>
              </a:ext>
            </a:extLst>
          </p:cNvPr>
          <p:cNvSpPr txBox="1"/>
          <p:nvPr/>
        </p:nvSpPr>
        <p:spPr>
          <a:xfrm>
            <a:off x="642975" y="2576991"/>
            <a:ext cx="1602658"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b="1"/>
              <a:t>Example</a:t>
            </a:r>
          </a:p>
        </p:txBody>
      </p:sp>
    </p:spTree>
    <p:extLst>
      <p:ext uri="{BB962C8B-B14F-4D97-AF65-F5344CB8AC3E}">
        <p14:creationId xmlns:p14="http://schemas.microsoft.com/office/powerpoint/2010/main" val="885730019"/>
      </p:ext>
    </p:extLst>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8F310AAA-25F7-8A9D-F0B5-89BE3EF0E275}"/>
              </a:ext>
            </a:extLst>
          </p:cNvPr>
          <p:cNvPicPr>
            <a:picLocks noChangeAspect="1"/>
          </p:cNvPicPr>
          <p:nvPr/>
        </p:nvPicPr>
        <p:blipFill>
          <a:blip r:embed="rId2"/>
          <a:stretch>
            <a:fillRect/>
          </a:stretch>
        </p:blipFill>
        <p:spPr>
          <a:xfrm>
            <a:off x="1755502" y="797498"/>
            <a:ext cx="9295956" cy="5263004"/>
          </a:xfrm>
          <a:prstGeom prst="rect">
            <a:avLst/>
          </a:prstGeom>
        </p:spPr>
      </p:pic>
      <p:sp>
        <p:nvSpPr>
          <p:cNvPr id="6" name="TextBox 5">
            <a:extLst>
              <a:ext uri="{FF2B5EF4-FFF2-40B4-BE49-F238E27FC236}">
                <a16:creationId xmlns:a16="http://schemas.microsoft.com/office/drawing/2014/main" xmlns="" id="{34E816CE-992E-157E-78A6-760CDFFCE4F4}"/>
              </a:ext>
            </a:extLst>
          </p:cNvPr>
          <p:cNvSpPr txBox="1"/>
          <p:nvPr/>
        </p:nvSpPr>
        <p:spPr>
          <a:xfrm>
            <a:off x="1275247" y="159348"/>
            <a:ext cx="1602658"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b="1"/>
              <a:t>Example</a:t>
            </a:r>
          </a:p>
        </p:txBody>
      </p:sp>
    </p:spTree>
    <p:extLst>
      <p:ext uri="{BB962C8B-B14F-4D97-AF65-F5344CB8AC3E}">
        <p14:creationId xmlns:p14="http://schemas.microsoft.com/office/powerpoint/2010/main" val="1678683580"/>
      </p:ext>
    </p:extLst>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DA8CAACB-CE69-2B5B-FB61-A41671A90A24}"/>
              </a:ext>
            </a:extLst>
          </p:cNvPr>
          <p:cNvSpPr txBox="1"/>
          <p:nvPr/>
        </p:nvSpPr>
        <p:spPr>
          <a:xfrm>
            <a:off x="471947" y="0"/>
            <a:ext cx="10097729" cy="1015663"/>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a:t>Phase Shift Keying (PSK)  </a:t>
            </a:r>
          </a:p>
          <a:p>
            <a:r>
              <a:rPr lang="en-US"/>
              <a:t>• The phase of the carrier-signal is varied to represent different signal-elements.  </a:t>
            </a:r>
          </a:p>
          <a:p>
            <a:r>
              <a:rPr lang="en-US"/>
              <a:t>• Both amplitude and frequency remain constant for all signal-elements. </a:t>
            </a:r>
            <a:endParaRPr lang="en-IN"/>
          </a:p>
        </p:txBody>
      </p:sp>
      <p:sp>
        <p:nvSpPr>
          <p:cNvPr id="11" name="TextBox 10">
            <a:extLst>
              <a:ext uri="{FF2B5EF4-FFF2-40B4-BE49-F238E27FC236}">
                <a16:creationId xmlns:a16="http://schemas.microsoft.com/office/drawing/2014/main" xmlns="" id="{BCF981E7-1F57-2433-670A-8BF31A2ABD0B}"/>
              </a:ext>
            </a:extLst>
          </p:cNvPr>
          <p:cNvSpPr txBox="1"/>
          <p:nvPr/>
        </p:nvSpPr>
        <p:spPr>
          <a:xfrm>
            <a:off x="471947" y="1015663"/>
            <a:ext cx="10962968" cy="341632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 </a:t>
            </a:r>
            <a:r>
              <a:rPr lang="en-US" sz="2000" b="1"/>
              <a:t>Binary PSK (BPSK)  </a:t>
            </a:r>
          </a:p>
          <a:p>
            <a:r>
              <a:rPr lang="en-US"/>
              <a:t>• We have only two signal-elements:  </a:t>
            </a:r>
          </a:p>
          <a:p>
            <a:r>
              <a:rPr lang="en-US"/>
              <a:t>      1) First signal-element with a phase of 0°.  </a:t>
            </a:r>
          </a:p>
          <a:p>
            <a:r>
              <a:rPr lang="en-US"/>
              <a:t>     2) Second signal-element with a phase of 180° (Figure 5.9).  </a:t>
            </a:r>
          </a:p>
          <a:p>
            <a:r>
              <a:rPr lang="en-US"/>
              <a:t>• ASK vs. PSK  </a:t>
            </a:r>
          </a:p>
          <a:p>
            <a:r>
              <a:rPr lang="en-US"/>
              <a:t>      In ASK, the criterion for bit detection is the amplitude of the signal. </a:t>
            </a:r>
          </a:p>
          <a:p>
            <a:r>
              <a:rPr lang="en-US"/>
              <a:t>      In PSK, the criterion for bit detection is the phase.  </a:t>
            </a:r>
          </a:p>
          <a:p>
            <a:r>
              <a:rPr lang="en-US"/>
              <a:t>• Advantages:  </a:t>
            </a:r>
          </a:p>
          <a:p>
            <a:r>
              <a:rPr lang="en-US"/>
              <a:t>    1) PSK is less susceptible to noise than ASK.  </a:t>
            </a:r>
          </a:p>
          <a:p>
            <a:r>
              <a:rPr lang="en-US"/>
              <a:t>    2) PSK is superior to FSK because we do not need 2 carrier-frequencies.  </a:t>
            </a:r>
          </a:p>
          <a:p>
            <a:r>
              <a:rPr lang="en-US"/>
              <a:t>• Disadvantage:  </a:t>
            </a:r>
          </a:p>
          <a:p>
            <a:r>
              <a:rPr lang="en-US"/>
              <a:t>1) PSK is limited by the ability of the equipment to distinguish small differences in phase. </a:t>
            </a:r>
            <a:endParaRPr lang="en-IN"/>
          </a:p>
        </p:txBody>
      </p:sp>
      <p:pic>
        <p:nvPicPr>
          <p:cNvPr id="13" name="Picture 12">
            <a:extLst>
              <a:ext uri="{FF2B5EF4-FFF2-40B4-BE49-F238E27FC236}">
                <a16:creationId xmlns:a16="http://schemas.microsoft.com/office/drawing/2014/main" xmlns="" id="{565661F6-4B86-EFC0-910E-B14F1A91F6C1}"/>
              </a:ext>
            </a:extLst>
          </p:cNvPr>
          <p:cNvPicPr>
            <a:picLocks noChangeAspect="1"/>
          </p:cNvPicPr>
          <p:nvPr/>
        </p:nvPicPr>
        <p:blipFill>
          <a:blip r:embed="rId2"/>
          <a:stretch>
            <a:fillRect/>
          </a:stretch>
        </p:blipFill>
        <p:spPr>
          <a:xfrm>
            <a:off x="2635044" y="4431983"/>
            <a:ext cx="6449962" cy="2425955"/>
          </a:xfrm>
          <a:prstGeom prst="rect">
            <a:avLst/>
          </a:prstGeom>
        </p:spPr>
      </p:pic>
    </p:spTree>
    <p:extLst>
      <p:ext uri="{BB962C8B-B14F-4D97-AF65-F5344CB8AC3E}">
        <p14:creationId xmlns:p14="http://schemas.microsoft.com/office/powerpoint/2010/main" val="3001843001"/>
      </p:ext>
    </p:extLst>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4A7278D4-D082-1008-ED6A-078EE404FC7C}"/>
              </a:ext>
            </a:extLst>
          </p:cNvPr>
          <p:cNvSpPr txBox="1"/>
          <p:nvPr/>
        </p:nvSpPr>
        <p:spPr>
          <a:xfrm>
            <a:off x="373626" y="289679"/>
            <a:ext cx="10215716" cy="233910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a:t>Implementation  </a:t>
            </a:r>
          </a:p>
          <a:p>
            <a:r>
              <a:rPr lang="en-US"/>
              <a:t>• The implementation of BPSK is as simple as that for ASK. (Figure 5.10).  </a:t>
            </a:r>
          </a:p>
          <a:p>
            <a:r>
              <a:rPr lang="en-US"/>
              <a:t>phase 0°.  </a:t>
            </a:r>
          </a:p>
          <a:p>
            <a:r>
              <a:rPr lang="en-US"/>
              <a:t>• Here, line coding method used: polar NRZ.  </a:t>
            </a:r>
          </a:p>
          <a:p>
            <a:r>
              <a:rPr lang="en-US"/>
              <a:t>• The signal-element with phase 180° can be seen as the complement of the signal-element with </a:t>
            </a:r>
          </a:p>
          <a:p>
            <a:r>
              <a:rPr lang="en-US"/>
              <a:t>• The polar NRZ signal is multiplied by the carrier-frequency coming from an oscillator.  </a:t>
            </a:r>
          </a:p>
          <a:p>
            <a:r>
              <a:rPr lang="en-US"/>
              <a:t>	1) When data-element = 1, the phase starts at 0°.  </a:t>
            </a:r>
          </a:p>
          <a:p>
            <a:r>
              <a:rPr lang="en-US"/>
              <a:t>	2) When data-element = 0, the phase starts at 180°. </a:t>
            </a:r>
            <a:endParaRPr lang="en-IN"/>
          </a:p>
        </p:txBody>
      </p:sp>
      <p:pic>
        <p:nvPicPr>
          <p:cNvPr id="9" name="Picture 8">
            <a:extLst>
              <a:ext uri="{FF2B5EF4-FFF2-40B4-BE49-F238E27FC236}">
                <a16:creationId xmlns:a16="http://schemas.microsoft.com/office/drawing/2014/main" xmlns="" id="{AD3A0C50-8E6D-FFE1-BFD2-A790B56ADE0C}"/>
              </a:ext>
            </a:extLst>
          </p:cNvPr>
          <p:cNvPicPr>
            <a:picLocks noChangeAspect="1"/>
          </p:cNvPicPr>
          <p:nvPr/>
        </p:nvPicPr>
        <p:blipFill>
          <a:blip r:embed="rId2"/>
          <a:stretch>
            <a:fillRect/>
          </a:stretch>
        </p:blipFill>
        <p:spPr>
          <a:xfrm>
            <a:off x="1761522" y="2846070"/>
            <a:ext cx="7600798" cy="3082782"/>
          </a:xfrm>
          <a:prstGeom prst="rect">
            <a:avLst/>
          </a:prstGeom>
        </p:spPr>
      </p:pic>
    </p:spTree>
    <p:extLst>
      <p:ext uri="{BB962C8B-B14F-4D97-AF65-F5344CB8AC3E}">
        <p14:creationId xmlns:p14="http://schemas.microsoft.com/office/powerpoint/2010/main" val="298064096"/>
      </p:ext>
    </p:extLst>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4BF088A7-7B94-26D8-5F70-BC91340996F6}"/>
              </a:ext>
            </a:extLst>
          </p:cNvPr>
          <p:cNvSpPr txBox="1"/>
          <p:nvPr/>
        </p:nvSpPr>
        <p:spPr>
          <a:xfrm>
            <a:off x="599768" y="147087"/>
            <a:ext cx="10058400" cy="954107"/>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a:t>Bandwidth for BPSK  </a:t>
            </a:r>
          </a:p>
          <a:p>
            <a:r>
              <a:rPr lang="en-US"/>
              <a:t>• The bandwidth is the same as that for BASK, but less than that for BFSK. (Figure 5.9b)  </a:t>
            </a:r>
          </a:p>
          <a:p>
            <a:r>
              <a:rPr lang="en-US"/>
              <a:t>• No bandwidth is wasted for separating 2 carrier-signals. </a:t>
            </a:r>
            <a:endParaRPr lang="en-IN"/>
          </a:p>
        </p:txBody>
      </p:sp>
      <p:sp>
        <p:nvSpPr>
          <p:cNvPr id="11" name="TextBox 10">
            <a:extLst>
              <a:ext uri="{FF2B5EF4-FFF2-40B4-BE49-F238E27FC236}">
                <a16:creationId xmlns:a16="http://schemas.microsoft.com/office/drawing/2014/main" xmlns="" id="{50CB80F3-2810-1052-D38C-0140DB8A2CEA}"/>
              </a:ext>
            </a:extLst>
          </p:cNvPr>
          <p:cNvSpPr txBox="1"/>
          <p:nvPr/>
        </p:nvSpPr>
        <p:spPr>
          <a:xfrm>
            <a:off x="373625" y="1443841"/>
            <a:ext cx="10844981" cy="470898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a:t> Quadrature PSK (QPSK)  </a:t>
            </a:r>
          </a:p>
          <a:p>
            <a:endParaRPr lang="en-US" sz="2400" b="1"/>
          </a:p>
          <a:p>
            <a:pPr algn="just"/>
            <a:r>
              <a:rPr lang="en-US"/>
              <a:t>• The scheme is called QPSK because it uses 2 separate BPSK modulations (Figure 5.11):  </a:t>
            </a:r>
          </a:p>
          <a:p>
            <a:pPr algn="just"/>
            <a:r>
              <a:rPr lang="en-US"/>
              <a:t>         1) First modulation is in-phase,  </a:t>
            </a:r>
          </a:p>
          <a:p>
            <a:pPr algn="just"/>
            <a:r>
              <a:rPr lang="en-US"/>
              <a:t>         2) Second modulation is quadrature (out-of-phase).  </a:t>
            </a:r>
          </a:p>
          <a:p>
            <a:pPr algn="just"/>
            <a:endParaRPr lang="en-US"/>
          </a:p>
          <a:p>
            <a:pPr algn="just"/>
            <a:r>
              <a:rPr lang="en-US"/>
              <a:t>• A serial-to-parallel converter  </a:t>
            </a:r>
          </a:p>
          <a:p>
            <a:pPr algn="just"/>
            <a:r>
              <a:rPr lang="en-US"/>
              <a:t>         → accepts the incoming bits  </a:t>
            </a:r>
          </a:p>
          <a:p>
            <a:pPr algn="just"/>
            <a:r>
              <a:rPr lang="en-US"/>
              <a:t>         → sends first bit to first modulator and  </a:t>
            </a:r>
          </a:p>
          <a:p>
            <a:pPr algn="just"/>
            <a:r>
              <a:rPr lang="en-US"/>
              <a:t>        → sends second bit to second modulator.  </a:t>
            </a:r>
          </a:p>
          <a:p>
            <a:pPr algn="just"/>
            <a:endParaRPr lang="en-US"/>
          </a:p>
          <a:p>
            <a:pPr algn="just"/>
            <a:r>
              <a:rPr lang="en-US"/>
              <a:t>• The bit to each BPSK signal has one-half the frequency of the original signal.  </a:t>
            </a:r>
          </a:p>
          <a:p>
            <a:pPr algn="just"/>
            <a:endParaRPr lang="en-US"/>
          </a:p>
          <a:p>
            <a:pPr algn="just"/>
            <a:r>
              <a:rPr lang="en-US"/>
              <a:t>• Advantages:  </a:t>
            </a:r>
          </a:p>
          <a:p>
            <a:pPr algn="just"/>
            <a:r>
              <a:rPr lang="en-US"/>
              <a:t>     1) Decreases the baud rate.  </a:t>
            </a:r>
          </a:p>
          <a:p>
            <a:pPr algn="just"/>
            <a:r>
              <a:rPr lang="en-US"/>
              <a:t>     2) Decreases the required bandwidth. </a:t>
            </a:r>
            <a:endParaRPr lang="en-IN"/>
          </a:p>
        </p:txBody>
      </p:sp>
    </p:spTree>
    <p:extLst>
      <p:ext uri="{BB962C8B-B14F-4D97-AF65-F5344CB8AC3E}">
        <p14:creationId xmlns:p14="http://schemas.microsoft.com/office/powerpoint/2010/main" val="4178451284"/>
      </p:ext>
    </p:extLst>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8C479E6E-B84A-D5F9-9CDA-D1D6E71F23D7}"/>
              </a:ext>
            </a:extLst>
          </p:cNvPr>
          <p:cNvPicPr>
            <a:picLocks noChangeAspect="1"/>
          </p:cNvPicPr>
          <p:nvPr/>
        </p:nvPicPr>
        <p:blipFill>
          <a:blip r:embed="rId2"/>
          <a:stretch>
            <a:fillRect/>
          </a:stretch>
        </p:blipFill>
        <p:spPr>
          <a:xfrm>
            <a:off x="540774" y="159687"/>
            <a:ext cx="8082115" cy="6251860"/>
          </a:xfrm>
          <a:prstGeom prst="rect">
            <a:avLst/>
          </a:prstGeom>
        </p:spPr>
      </p:pic>
      <p:sp>
        <p:nvSpPr>
          <p:cNvPr id="9" name="TextBox 8">
            <a:extLst>
              <a:ext uri="{FF2B5EF4-FFF2-40B4-BE49-F238E27FC236}">
                <a16:creationId xmlns:a16="http://schemas.microsoft.com/office/drawing/2014/main" xmlns="" id="{25A924F9-1633-FE5D-9DE9-C0C8A7AD0A3B}"/>
              </a:ext>
            </a:extLst>
          </p:cNvPr>
          <p:cNvSpPr txBox="1"/>
          <p:nvPr/>
        </p:nvSpPr>
        <p:spPr>
          <a:xfrm>
            <a:off x="8622889" y="1023459"/>
            <a:ext cx="2890684" cy="4524315"/>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 As shown in Figure 5.11, the 2 composite-signals created by each multiplier are 2 sine waves with the </a:t>
            </a:r>
          </a:p>
          <a:p>
            <a:r>
              <a:rPr lang="en-US"/>
              <a:t>same frequency, but different phases.  </a:t>
            </a:r>
          </a:p>
          <a:p>
            <a:r>
              <a:rPr lang="en-US"/>
              <a:t>• When the 2 sine waves are added, the result is another sine wave, with 4 possible phases: 45°, -45°, </a:t>
            </a:r>
          </a:p>
          <a:p>
            <a:r>
              <a:rPr lang="en-US"/>
              <a:t>135°, and -135°.  </a:t>
            </a:r>
          </a:p>
          <a:p>
            <a:r>
              <a:rPr lang="en-US"/>
              <a:t>• There are 4 kinds of signal-elements in the output signal (L=4), so we can send 2 bits per </a:t>
            </a:r>
            <a:r>
              <a:rPr lang="en-IN"/>
              <a:t>signal element (r=2). </a:t>
            </a:r>
          </a:p>
        </p:txBody>
      </p:sp>
    </p:spTree>
    <p:extLst>
      <p:ext uri="{BB962C8B-B14F-4D97-AF65-F5344CB8AC3E}">
        <p14:creationId xmlns:p14="http://schemas.microsoft.com/office/powerpoint/2010/main" val="2925317067"/>
      </p:ext>
    </p:extLst>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27B1771F-5FFA-7BE3-C94E-C2DDEB9338BF}"/>
              </a:ext>
            </a:extLst>
          </p:cNvPr>
          <p:cNvPicPr>
            <a:picLocks noChangeAspect="1"/>
          </p:cNvPicPr>
          <p:nvPr/>
        </p:nvPicPr>
        <p:blipFill>
          <a:blip r:embed="rId2"/>
          <a:stretch>
            <a:fillRect/>
          </a:stretch>
        </p:blipFill>
        <p:spPr>
          <a:xfrm>
            <a:off x="1026554" y="419050"/>
            <a:ext cx="8839382" cy="1449079"/>
          </a:xfrm>
          <a:prstGeom prst="rect">
            <a:avLst/>
          </a:prstGeom>
        </p:spPr>
      </p:pic>
      <p:sp>
        <p:nvSpPr>
          <p:cNvPr id="9" name="TextBox 8">
            <a:extLst>
              <a:ext uri="{FF2B5EF4-FFF2-40B4-BE49-F238E27FC236}">
                <a16:creationId xmlns:a16="http://schemas.microsoft.com/office/drawing/2014/main" xmlns="" id="{284058B6-4F9A-F1A0-E78A-117034BF0D0E}"/>
              </a:ext>
            </a:extLst>
          </p:cNvPr>
          <p:cNvSpPr txBox="1"/>
          <p:nvPr/>
        </p:nvSpPr>
        <p:spPr>
          <a:xfrm>
            <a:off x="875069" y="2005780"/>
            <a:ext cx="10373033" cy="4278094"/>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2000" b="1"/>
              <a:t>Constellation Diagram  </a:t>
            </a:r>
          </a:p>
          <a:p>
            <a:pPr algn="just"/>
            <a:r>
              <a:rPr lang="en-US"/>
              <a:t>• A constellation diagram can be used to define the amplitude and phase of a signal-element.  </a:t>
            </a:r>
          </a:p>
          <a:p>
            <a:pPr algn="just"/>
            <a:r>
              <a:rPr lang="en-US"/>
              <a:t>• This diagram is particularly useful  </a:t>
            </a:r>
          </a:p>
          <a:p>
            <a:pPr algn="just"/>
            <a:r>
              <a:rPr lang="en-US"/>
              <a:t>	→ when 2 carriers (one in-phase and one quadrature) are used.</a:t>
            </a:r>
          </a:p>
          <a:p>
            <a:pPr algn="just"/>
            <a:r>
              <a:rPr lang="en-US"/>
              <a:t> 	→ when dealing with multilevel ASK, PSK, or QAM.  </a:t>
            </a:r>
          </a:p>
          <a:p>
            <a:pPr algn="just"/>
            <a:r>
              <a:rPr lang="en-US"/>
              <a:t>• In a constellation diagram, a signal-element type is represented as a dot.  </a:t>
            </a:r>
          </a:p>
          <a:p>
            <a:pPr algn="just"/>
            <a:r>
              <a:rPr lang="en-US"/>
              <a:t>• The diagram has 2 axes (Figure 5.12):  </a:t>
            </a:r>
          </a:p>
          <a:p>
            <a:pPr algn="just"/>
            <a:r>
              <a:rPr lang="en-US"/>
              <a:t>	1) The horizontal X axis is related to the in-phase carrier.  </a:t>
            </a:r>
          </a:p>
          <a:p>
            <a:pPr algn="just"/>
            <a:r>
              <a:rPr lang="en-US"/>
              <a:t>	2) The vertical Y axis is related to the quadrature carrier.  </a:t>
            </a:r>
          </a:p>
          <a:p>
            <a:pPr algn="just"/>
            <a:r>
              <a:rPr lang="en-US"/>
              <a:t>• For each point on the diagram, 4 pieces of information can be deduced.  </a:t>
            </a:r>
          </a:p>
          <a:p>
            <a:pPr algn="just"/>
            <a:r>
              <a:rPr lang="en-US"/>
              <a:t>     1) The projection of point on the X axis defines the peak amplitude of the in-phase component.  </a:t>
            </a:r>
          </a:p>
          <a:p>
            <a:pPr algn="just"/>
            <a:r>
              <a:rPr lang="en-US"/>
              <a:t>     2) The projection of point on Y axis defines peak amplitude of the quadrature component.  </a:t>
            </a:r>
          </a:p>
          <a:p>
            <a:pPr algn="just"/>
            <a:r>
              <a:rPr lang="en-US"/>
              <a:t>     3) The length of the line  that connects the point to the origin is the peak amplitude of the </a:t>
            </a:r>
          </a:p>
          <a:p>
            <a:pPr algn="just"/>
            <a:r>
              <a:rPr lang="en-US"/>
              <a:t>signal-element (combination of the X and Y components);  </a:t>
            </a:r>
          </a:p>
          <a:p>
            <a:pPr algn="just"/>
            <a:r>
              <a:rPr lang="en-US"/>
              <a:t>     4) The angle the line makes with the X axis is the phase of the signal-element. </a:t>
            </a:r>
            <a:endParaRPr lang="en-IN"/>
          </a:p>
        </p:txBody>
      </p:sp>
    </p:spTree>
    <p:extLst>
      <p:ext uri="{BB962C8B-B14F-4D97-AF65-F5344CB8AC3E}">
        <p14:creationId xmlns:p14="http://schemas.microsoft.com/office/powerpoint/2010/main" val="3406329406"/>
      </p:ext>
    </p:extLst>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4957F91F-B565-8879-6C22-AAAD6DA6C8F4}"/>
              </a:ext>
            </a:extLst>
          </p:cNvPr>
          <p:cNvPicPr>
            <a:picLocks noChangeAspect="1"/>
          </p:cNvPicPr>
          <p:nvPr/>
        </p:nvPicPr>
        <p:blipFill>
          <a:blip r:embed="rId2"/>
          <a:stretch>
            <a:fillRect/>
          </a:stretch>
        </p:blipFill>
        <p:spPr>
          <a:xfrm>
            <a:off x="1517009" y="806244"/>
            <a:ext cx="9157982" cy="4522839"/>
          </a:xfrm>
          <a:prstGeom prst="rect">
            <a:avLst/>
          </a:prstGeom>
        </p:spPr>
      </p:pic>
    </p:spTree>
    <p:extLst>
      <p:ext uri="{BB962C8B-B14F-4D97-AF65-F5344CB8AC3E}">
        <p14:creationId xmlns:p14="http://schemas.microsoft.com/office/powerpoint/2010/main" val="1937707780"/>
      </p:ext>
    </p:extLst>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xmlns="" id="{AF9A56DE-DD08-2CFA-7D30-A8415AE7FC3B}"/>
              </a:ext>
            </a:extLst>
          </p:cNvPr>
          <p:cNvPicPr>
            <a:picLocks noChangeAspect="1"/>
          </p:cNvPicPr>
          <p:nvPr/>
        </p:nvPicPr>
        <p:blipFill>
          <a:blip r:embed="rId2"/>
          <a:stretch>
            <a:fillRect/>
          </a:stretch>
        </p:blipFill>
        <p:spPr>
          <a:xfrm>
            <a:off x="1965145" y="530942"/>
            <a:ext cx="9048180" cy="5171739"/>
          </a:xfrm>
          <a:prstGeom prst="rect">
            <a:avLst/>
          </a:prstGeom>
        </p:spPr>
      </p:pic>
    </p:spTree>
    <p:extLst>
      <p:ext uri="{BB962C8B-B14F-4D97-AF65-F5344CB8AC3E}">
        <p14:creationId xmlns:p14="http://schemas.microsoft.com/office/powerpoint/2010/main" val="1983469299"/>
      </p:ext>
    </p:extLst>
  </p:cSld>
  <p:clrMapOvr>
    <a:masterClrMapping/>
  </p:clrMapOv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945BB27B-288E-0D72-B654-D592E3DB2C29}"/>
              </a:ext>
            </a:extLst>
          </p:cNvPr>
          <p:cNvSpPr txBox="1"/>
          <p:nvPr/>
        </p:nvSpPr>
        <p:spPr>
          <a:xfrm>
            <a:off x="658761" y="383568"/>
            <a:ext cx="10245213" cy="2954655"/>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a:t> Quadrature Amplitude Modulation (QAM)  </a:t>
            </a:r>
          </a:p>
          <a:p>
            <a:r>
              <a:rPr lang="en-US"/>
              <a:t>• This is a combination of ASK and PSK.  </a:t>
            </a:r>
          </a:p>
          <a:p>
            <a:r>
              <a:rPr lang="en-US"/>
              <a:t>• Main idea: Using 2 carriers, one in-phase and the other quadrature, with different amplitude levels for </a:t>
            </a:r>
          </a:p>
          <a:p>
            <a:r>
              <a:rPr lang="en-US"/>
              <a:t>each carrier.  </a:t>
            </a:r>
          </a:p>
          <a:p>
            <a:r>
              <a:rPr lang="en-US"/>
              <a:t>• There are many variations of QAM (Figure 5.14).  </a:t>
            </a:r>
          </a:p>
          <a:p>
            <a:r>
              <a:rPr lang="en-US"/>
              <a:t>	A) Figure 5.14a shows the 4-QAM scheme using a unipolar NRZ signal. This is same as BASK.  </a:t>
            </a:r>
          </a:p>
          <a:p>
            <a:r>
              <a:rPr lang="en-US"/>
              <a:t>	B) Figure 5.14b shows another QAM using polar NRZ. This is the same as QPSK.  </a:t>
            </a:r>
          </a:p>
          <a:p>
            <a:r>
              <a:rPr lang="en-US"/>
              <a:t>	C) Figure 5.14c shows another 4-QAM in which we used a signal with 2 positive levels to </a:t>
            </a:r>
          </a:p>
          <a:p>
            <a:r>
              <a:rPr lang="en-US"/>
              <a:t>                    modulate each of the 2 carriers.  </a:t>
            </a:r>
          </a:p>
          <a:p>
            <a:r>
              <a:rPr lang="en-US"/>
              <a:t>	D) Figure 5.14d shows a 16-QAM constellation of a signal with 8 levels, 4 positive &amp; 4 negative. </a:t>
            </a:r>
            <a:endParaRPr lang="en-IN"/>
          </a:p>
        </p:txBody>
      </p:sp>
      <p:pic>
        <p:nvPicPr>
          <p:cNvPr id="9" name="Picture 8">
            <a:extLst>
              <a:ext uri="{FF2B5EF4-FFF2-40B4-BE49-F238E27FC236}">
                <a16:creationId xmlns:a16="http://schemas.microsoft.com/office/drawing/2014/main" xmlns="" id="{1CF5131F-6411-843F-A6A0-C50F6E644A71}"/>
              </a:ext>
            </a:extLst>
          </p:cNvPr>
          <p:cNvPicPr>
            <a:picLocks noChangeAspect="1"/>
          </p:cNvPicPr>
          <p:nvPr/>
        </p:nvPicPr>
        <p:blipFill>
          <a:blip r:embed="rId2"/>
          <a:stretch>
            <a:fillRect/>
          </a:stretch>
        </p:blipFill>
        <p:spPr>
          <a:xfrm>
            <a:off x="1527386" y="3429000"/>
            <a:ext cx="8026079" cy="2954655"/>
          </a:xfrm>
          <a:prstGeom prst="rect">
            <a:avLst/>
          </a:prstGeom>
        </p:spPr>
      </p:pic>
    </p:spTree>
    <p:extLst>
      <p:ext uri="{BB962C8B-B14F-4D97-AF65-F5344CB8AC3E}">
        <p14:creationId xmlns:p14="http://schemas.microsoft.com/office/powerpoint/2010/main" val="3562964498"/>
      </p:ext>
    </p:extLst>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50ADB71A-2075-9DA3-35D2-3F5DA8EAD786}"/>
              </a:ext>
            </a:extLst>
          </p:cNvPr>
          <p:cNvSpPr txBox="1"/>
          <p:nvPr/>
        </p:nvSpPr>
        <p:spPr>
          <a:xfrm>
            <a:off x="550606" y="708374"/>
            <a:ext cx="8524567" cy="954107"/>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a:t>Bandwidth for QAM  </a:t>
            </a:r>
          </a:p>
          <a:p>
            <a:r>
              <a:rPr lang="en-US"/>
              <a:t>• The bandwidth is same as in ASK and PSK transmission.  </a:t>
            </a:r>
          </a:p>
          <a:p>
            <a:r>
              <a:rPr lang="en-US"/>
              <a:t>• QAM has the same advantages as PSK over ASK. </a:t>
            </a:r>
            <a:endParaRPr lang="en-IN"/>
          </a:p>
        </p:txBody>
      </p:sp>
    </p:spTree>
    <p:extLst>
      <p:ext uri="{BB962C8B-B14F-4D97-AF65-F5344CB8AC3E}">
        <p14:creationId xmlns:p14="http://schemas.microsoft.com/office/powerpoint/2010/main" val="2800735432"/>
      </p:ext>
    </p:extLst>
  </p:cSld>
  <p:clrMapOvr>
    <a:masterClrMapping/>
  </p:clrMapOvr>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S_NET" val="6.0.36"/>
  <p:tag name="AS_OS" val="Microsoft Windows NT 10.0.20348.0"/>
  <p:tag name="AS_RELEASE_DATE" val="2025.01.14"/>
  <p:tag name="AS_TITLE" val="Aspose.Slides for .NET6"/>
  <p:tag name="AS_VERSION" val="25.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Calibri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Calibri"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Aptos Display" panose="0211000402020202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Aptos" panose="0211000402020202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Aptos Display" panose="0211000402020202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Aptos" panose="0211000402020202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1200</TotalTime>
  <Words>3507</Words>
  <Application>Microsoft Office PowerPoint</Application>
  <PresentationFormat>Widescreen</PresentationFormat>
  <Paragraphs>439</Paragraphs>
  <Slides>62</Slides>
  <Notes>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62</vt:i4>
      </vt:variant>
    </vt:vector>
  </HeadingPairs>
  <TitlesOfParts>
    <vt:vector size="71" baseType="lpstr">
      <vt:lpstr>Aptos</vt:lpstr>
      <vt:lpstr>Aptos Display</vt:lpstr>
      <vt:lpstr>Arial</vt:lpstr>
      <vt:lpstr>Calibri</vt:lpstr>
      <vt:lpstr>Calibri Light</vt:lpstr>
      <vt:lpstr>Times New Roman</vt:lpstr>
      <vt:lpstr>Times-Roman</vt:lpstr>
      <vt:lpstr>Office Theme</vt:lpstr>
      <vt:lpstr>Office Theme</vt:lpstr>
      <vt:lpstr>MODULE - 2 </vt:lpstr>
      <vt:lpstr>DIGITAL-TO-DIGITAL CONVERSION  </vt:lpstr>
      <vt:lpstr>Line Coding</vt:lpstr>
      <vt:lpstr>Characteristics </vt:lpstr>
      <vt:lpstr>Characteristics cont</vt:lpstr>
      <vt:lpstr>PowerPoint Presentation</vt:lpstr>
      <vt:lpstr>PowerPoint Presentation</vt:lpstr>
      <vt:lpstr>PowerPoint Presentation</vt:lpstr>
      <vt:lpstr>Baseline Wandering </vt:lpstr>
      <vt:lpstr>DC Components </vt:lpstr>
      <vt:lpstr>Self-synchronization  </vt:lpstr>
      <vt:lpstr>PowerPoint Presentation</vt:lpstr>
      <vt:lpstr>PowerPoint Presentation</vt:lpstr>
      <vt:lpstr>Line Coding Schemes  </vt:lpstr>
      <vt:lpstr>Polar Schemes  </vt:lpstr>
      <vt:lpstr>PowerPoint Presentation</vt:lpstr>
      <vt:lpstr>Return-to-Zero (RZ) </vt:lpstr>
      <vt:lpstr>Return-to-Zero (RZ) </vt:lpstr>
      <vt:lpstr>Biphase: Manchester and Differential Manchester  </vt:lpstr>
      <vt:lpstr>PowerPoint Presentation</vt:lpstr>
      <vt:lpstr>Differential Manchester  </vt:lpstr>
      <vt:lpstr>PowerPoint Presentation</vt:lpstr>
      <vt:lpstr>Bipolar Schemes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- 2</dc:title>
  <dc:creator>Pavan Mulgund</dc:creator>
  <cp:lastModifiedBy>Microsoft account</cp:lastModifiedBy>
  <cp:revision>70</cp:revision>
  <dcterms:created xsi:type="dcterms:W3CDTF">2025-09-14T09:32:41Z</dcterms:created>
  <dcterms:modified xsi:type="dcterms:W3CDTF">2025-10-07T17:06:49Z</dcterms:modified>
</cp:coreProperties>
</file>