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1"/>
  </p:notesMasterIdLst>
  <p:handoutMasterIdLst>
    <p:handoutMasterId r:id="rId42"/>
  </p:handoutMasterIdLst>
  <p:sldIdLst>
    <p:sldId id="355" r:id="rId2"/>
    <p:sldId id="256" r:id="rId3"/>
    <p:sldId id="270" r:id="rId4"/>
    <p:sldId id="281" r:id="rId5"/>
    <p:sldId id="318" r:id="rId6"/>
    <p:sldId id="319" r:id="rId7"/>
    <p:sldId id="333" r:id="rId8"/>
    <p:sldId id="282" r:id="rId9"/>
    <p:sldId id="257" r:id="rId10"/>
    <p:sldId id="284" r:id="rId11"/>
    <p:sldId id="285" r:id="rId12"/>
    <p:sldId id="258" r:id="rId13"/>
    <p:sldId id="288" r:id="rId14"/>
    <p:sldId id="320" r:id="rId15"/>
    <p:sldId id="289" r:id="rId16"/>
    <p:sldId id="322" r:id="rId17"/>
    <p:sldId id="259" r:id="rId18"/>
    <p:sldId id="346" r:id="rId19"/>
    <p:sldId id="347" r:id="rId20"/>
    <p:sldId id="334" r:id="rId21"/>
    <p:sldId id="272" r:id="rId22"/>
    <p:sldId id="260" r:id="rId23"/>
    <p:sldId id="291" r:id="rId24"/>
    <p:sldId id="293" r:id="rId25"/>
    <p:sldId id="261" r:id="rId26"/>
    <p:sldId id="323" r:id="rId27"/>
    <p:sldId id="348" r:id="rId28"/>
    <p:sldId id="299" r:id="rId29"/>
    <p:sldId id="262" r:id="rId30"/>
    <p:sldId id="301" r:id="rId31"/>
    <p:sldId id="263" r:id="rId32"/>
    <p:sldId id="303" r:id="rId33"/>
    <p:sldId id="264" r:id="rId34"/>
    <p:sldId id="350" r:id="rId35"/>
    <p:sldId id="351" r:id="rId36"/>
    <p:sldId id="352" r:id="rId37"/>
    <p:sldId id="353" r:id="rId38"/>
    <p:sldId id="354" r:id="rId39"/>
    <p:sldId id="356" r:id="rId4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4316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232189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072895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012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lang="en-IN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983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815082" y="6401675"/>
            <a:ext cx="16972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480698" y="6430166"/>
            <a:ext cx="13815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717" y="6376338"/>
            <a:ext cx="481380" cy="4727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366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d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1116106" y="1565564"/>
            <a:ext cx="7234518" cy="14262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none" strike="noStrike" cap="none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BCS501 - Software Engineering AND PROJECT MANAGEMENT</a:t>
            </a:r>
            <a:endParaRPr sz="3200" b="0" i="0" u="none" strike="noStrike" cap="none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16106" y="3076144"/>
            <a:ext cx="7234518" cy="12003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IN" sz="24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Faculty: Dr. Harish Kumar N</a:t>
            </a:r>
          </a:p>
          <a:p>
            <a:pPr lvl="0" algn="ctr"/>
            <a:r>
              <a:rPr lang="en-IN" sz="24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Associate Professor</a:t>
            </a:r>
            <a:endParaRPr lang="en-IN" sz="2400" dirty="0"/>
          </a:p>
          <a:p>
            <a:pPr lvl="0" algn="ctr"/>
            <a:r>
              <a:rPr lang="en-IN" sz="24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Dept. of ISE</a:t>
            </a:r>
          </a:p>
        </p:txBody>
      </p:sp>
    </p:spTree>
    <p:extLst>
      <p:ext uri="{BB962C8B-B14F-4D97-AF65-F5344CB8AC3E}">
        <p14:creationId xmlns:p14="http://schemas.microsoft.com/office/powerpoint/2010/main" val="3424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 – Software Processes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</a:p>
          <a:p>
            <a:r>
              <a:rPr lang="en-GB" dirty="0"/>
              <a:t>Process activities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86531"/>
            <a:ext cx="7293232" cy="1143000"/>
          </a:xfrm>
        </p:spPr>
        <p:txBody>
          <a:bodyPr/>
          <a:lstStyle/>
          <a:p>
            <a:r>
              <a:rPr lang="en-GB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A structured set of activities required to develop a software system. </a:t>
            </a:r>
          </a:p>
          <a:p>
            <a:r>
              <a:rPr lang="en-GB" sz="1800" dirty="0"/>
              <a:t>Many different software processes but all involve:</a:t>
            </a:r>
            <a:r>
              <a:rPr lang="en-US" sz="1800" dirty="0"/>
              <a:t>the four fundamental software engineering activities</a:t>
            </a:r>
            <a:endParaRPr lang="en-GB" sz="1800" dirty="0"/>
          </a:p>
          <a:p>
            <a:pPr lvl="1"/>
            <a:r>
              <a:rPr lang="en-IN" sz="1800" i="1" dirty="0"/>
              <a:t>Software </a:t>
            </a:r>
            <a:r>
              <a:rPr lang="en-GB" sz="1800" dirty="0"/>
              <a:t>Specification – </a:t>
            </a:r>
            <a:r>
              <a:rPr lang="en-US" sz="1800" dirty="0"/>
              <a:t>The functionality of the software and constraints on its operation must be defined.</a:t>
            </a:r>
          </a:p>
          <a:p>
            <a:pPr lvl="1"/>
            <a:r>
              <a:rPr lang="en-IN" sz="1800" i="1" dirty="0"/>
              <a:t>Software development</a:t>
            </a:r>
            <a:r>
              <a:rPr lang="en-GB" sz="1800" dirty="0"/>
              <a:t>– </a:t>
            </a:r>
            <a:r>
              <a:rPr lang="en-US" sz="1800" dirty="0"/>
              <a:t>The software to meet the specification must be produced</a:t>
            </a:r>
            <a:endParaRPr lang="en-GB" sz="1800" dirty="0"/>
          </a:p>
          <a:p>
            <a:pPr lvl="1"/>
            <a:r>
              <a:rPr lang="en-IN" sz="1800" i="1" dirty="0"/>
              <a:t>Software validation</a:t>
            </a:r>
            <a:r>
              <a:rPr lang="en-GB" sz="1800" dirty="0"/>
              <a:t> – </a:t>
            </a:r>
            <a:r>
              <a:rPr lang="en-US" sz="1800" dirty="0"/>
              <a:t>The software must be validated to ensure that it does what the customer wants.</a:t>
            </a:r>
            <a:endParaRPr lang="en-GB" sz="1800" dirty="0"/>
          </a:p>
          <a:p>
            <a:pPr lvl="1"/>
            <a:r>
              <a:rPr lang="en-IN" sz="1800" i="1" dirty="0"/>
              <a:t>Software evolution</a:t>
            </a:r>
            <a:r>
              <a:rPr lang="en-GB" sz="1800" dirty="0"/>
              <a:t> – </a:t>
            </a:r>
            <a:r>
              <a:rPr lang="en-US" sz="1800" dirty="0"/>
              <a:t>The software must evolve to meet changing customer needs.</a:t>
            </a:r>
          </a:p>
          <a:p>
            <a:pPr marL="457200" lvl="1" indent="0">
              <a:buNone/>
            </a:pPr>
            <a:r>
              <a:rPr lang="en-GB" sz="1800" dirty="0"/>
              <a:t>A software process model is an abstract representation of a process. It presents a description of a process from some particular perspective.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When we describe and discuss processes, we usually talk about the activities in these processes such as specifying a data model, designing a user interface, etc. and the ordering of these activities.</a:t>
            </a:r>
          </a:p>
          <a:p>
            <a:r>
              <a:rPr lang="en-GB"/>
              <a:t>Process descriptions may also include:</a:t>
            </a:r>
          </a:p>
          <a:p>
            <a:pPr lvl="1"/>
            <a:r>
              <a:rPr lang="en-GB"/>
              <a:t>Products, which are the outcomes of a process activity; </a:t>
            </a:r>
          </a:p>
          <a:p>
            <a:pPr lvl="1"/>
            <a:r>
              <a:rPr lang="en-GB"/>
              <a:t>Roles, which reflect the responsibilities of the people involved in the process;</a:t>
            </a:r>
          </a:p>
          <a:p>
            <a:pPr lvl="1"/>
            <a:r>
              <a:rPr lang="en-GB"/>
              <a:t>Pre- and post-conditions,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Plan-driven processes are processes where all of the process activities are planned in advance and progress is measured against this plan. </a:t>
            </a:r>
          </a:p>
          <a:p>
            <a:r>
              <a:rPr lang="en-GB" dirty="0"/>
              <a:t>In agile processes, planning is incremental 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r>
              <a:rPr lang="en-GB" dirty="0"/>
              <a:t>There are no right or wrong software processes.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Software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03290-FFE2-E597-8CFF-85EEB65EC167}"/>
              </a:ext>
            </a:extLst>
          </p:cNvPr>
          <p:cNvSpPr txBox="1"/>
          <p:nvPr/>
        </p:nvSpPr>
        <p:spPr>
          <a:xfrm>
            <a:off x="269696" y="3679280"/>
            <a:ext cx="8604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https://www.geeksforgeeks.org/software-engineering/top-8-software-development-models-used-in-industry/</a:t>
            </a:r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dirty="0"/>
              <a:t>Incremental development</a:t>
            </a:r>
          </a:p>
          <a:p>
            <a:pPr lvl="1"/>
            <a:r>
              <a:rPr lang="en-GB" dirty="0"/>
              <a:t>Specification, development and validation are interleaved. May be plan-driven or agile.</a:t>
            </a:r>
          </a:p>
          <a:p>
            <a:r>
              <a:rPr lang="en-GB" dirty="0"/>
              <a:t>Integration and configuration</a:t>
            </a:r>
          </a:p>
          <a:p>
            <a:pPr lvl="1"/>
            <a:r>
              <a:rPr lang="en-GB" dirty="0"/>
              <a:t>The system is assembled from existing configurable components. May be plan-driven or agile.</a:t>
            </a:r>
          </a:p>
          <a:p>
            <a:r>
              <a:rPr lang="en-GB" dirty="0"/>
              <a:t>In practice, most large systems are developed using a process that incorporates elements from all of these models.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phases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identified phases 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r>
              <a:rPr lang="en-GB" dirty="0"/>
              <a:t>The main drawback of the waterfall model is the difficulty of accommodating change after the process is underway. In principle, a phase has to be complete before moving onto the next phase.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r>
              <a:rPr lang="en-GB" dirty="0"/>
              <a:t>The waterfall model is mostly used for large systems engineering projects where a system is developed at several sites.</a:t>
            </a:r>
          </a:p>
          <a:p>
            <a:pPr lvl="1"/>
            <a:r>
              <a:rPr lang="en-GB" dirty="0"/>
              <a:t>In those circumstances, the plan-driven nature of the waterfall model helps coordinate the work.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cost of accommodating changing customer requirements is reduced. </a:t>
            </a:r>
          </a:p>
          <a:p>
            <a:pPr lvl="1"/>
            <a:r>
              <a:rPr lang="en-GB" dirty="0"/>
              <a:t>The amount of analysis and documentation that has to be redone is much less than is required with the waterfall model.</a:t>
            </a:r>
          </a:p>
          <a:p>
            <a:r>
              <a:rPr lang="en-GB" dirty="0"/>
              <a:t>It is easier to get customer feedback on the development work that has been done. </a:t>
            </a:r>
          </a:p>
          <a:p>
            <a:pPr lvl="1"/>
            <a:r>
              <a:rPr lang="en-GB" dirty="0"/>
              <a:t>Customers can comment on demonstrations of the software and see how much has been implemented. </a:t>
            </a:r>
          </a:p>
          <a:p>
            <a:r>
              <a:rPr lang="en-GB" dirty="0"/>
              <a:t>More rapid delivery and deployment of useful software to the customer is possible. </a:t>
            </a:r>
          </a:p>
          <a:p>
            <a:pPr lvl="1"/>
            <a:r>
              <a:rPr lang="en-GB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is not visible. </a:t>
            </a:r>
          </a:p>
          <a:p>
            <a:pPr lvl="1"/>
            <a:r>
              <a:rPr lang="en-GB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/>
              <a:t>System structure tends to degrade as new increments are added</a:t>
            </a:r>
            <a:r>
              <a:rPr lang="en-GB" i="1" dirty="0"/>
              <a:t>. 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and configuration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software reuse where systems are integrated from existing components or application systems (</a:t>
            </a:r>
            <a:r>
              <a:rPr lang="en-GB"/>
              <a:t>sometimes called COTS </a:t>
            </a:r>
            <a:r>
              <a:rPr lang="en-GB" dirty="0"/>
              <a:t>-</a:t>
            </a:r>
            <a:r>
              <a:rPr lang="en-GB"/>
              <a:t>Commercial</a:t>
            </a:r>
            <a:r>
              <a:rPr lang="en-GB" dirty="0"/>
              <a:t>-off-the-shelf</a:t>
            </a:r>
            <a:r>
              <a:rPr lang="en-GB"/>
              <a:t>) systems).</a:t>
            </a:r>
            <a:endParaRPr lang="en-GB" dirty="0"/>
          </a:p>
          <a:p>
            <a:r>
              <a:rPr lang="en-GB" dirty="0"/>
              <a:t>Reused elements may be configured to adapt their behaviour and functionality to a user’s requirements</a:t>
            </a:r>
          </a:p>
          <a:p>
            <a:r>
              <a:rPr lang="en-GB" dirty="0"/>
              <a:t>Reuse is now the standard approach for building many types of business system</a:t>
            </a:r>
          </a:p>
          <a:p>
            <a:pPr lvl="1"/>
            <a:r>
              <a:rPr lang="en-GB" dirty="0"/>
              <a:t>Reuse covered in more depth in Chapter 15.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reusable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Stand-alone application systems (sometimes called COTS) that are configured for use in a particular environment.</a:t>
            </a:r>
          </a:p>
          <a:p>
            <a:r>
              <a:rPr lang="en-GB" dirty="0"/>
              <a:t>Collections of objects that are developed as a package to be integrated with a component framework such as .NET or J2EE.</a:t>
            </a:r>
          </a:p>
          <a:p>
            <a:r>
              <a:rPr lang="en-GB" dirty="0"/>
              <a:t>Web services that are developed according to service standards and which are available for remote invocation. 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Reuse-oriented software engineering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0" y="2326734"/>
            <a:ext cx="8793575" cy="36546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process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  <a:p>
            <a:r>
              <a:rPr lang="en-US" dirty="0"/>
              <a:t>Software discovery and evaluation</a:t>
            </a:r>
          </a:p>
          <a:p>
            <a:r>
              <a:rPr lang="en-US" dirty="0"/>
              <a:t>Requirements refinement</a:t>
            </a:r>
          </a:p>
          <a:p>
            <a:r>
              <a:rPr lang="en-US" dirty="0"/>
              <a:t>Application system configuration</a:t>
            </a:r>
          </a:p>
          <a:p>
            <a:r>
              <a:rPr lang="en-US" dirty="0"/>
              <a:t>Component adaptation and integration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4114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costs and risks as less software is developed from scratch</a:t>
            </a:r>
          </a:p>
          <a:p>
            <a:r>
              <a:rPr lang="en-US" dirty="0"/>
              <a:t>Faster delivery and deployment of system</a:t>
            </a:r>
          </a:p>
          <a:p>
            <a:r>
              <a:rPr lang="en-US" dirty="0"/>
              <a:t>But requirements compromises are inevitable so system may not meet real needs of users</a:t>
            </a:r>
          </a:p>
          <a:p>
            <a:r>
              <a:rPr lang="en-US" dirty="0"/>
              <a:t>Loss of control over evolution of reused system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 software processes are inter-leaved sequences of technical, collaborative and managerial activities with the overall goal of specifying, designing, implementing and testing a software system. </a:t>
            </a:r>
          </a:p>
          <a:p>
            <a:r>
              <a:rPr lang="en-GB" dirty="0"/>
              <a:t>The four basic process activities of specification, development, validation and evolution are </a:t>
            </a:r>
            <a:r>
              <a:rPr lang="en-GB" dirty="0">
                <a:highlight>
                  <a:srgbClr val="FFFF00"/>
                </a:highlight>
              </a:rPr>
              <a:t>organized differently in different development processes</a:t>
            </a:r>
            <a:r>
              <a:rPr lang="en-GB" dirty="0"/>
              <a:t>. </a:t>
            </a:r>
          </a:p>
          <a:p>
            <a:r>
              <a:rPr lang="en-GB" dirty="0"/>
              <a:t>For example, in the waterfall model, they are </a:t>
            </a:r>
            <a:r>
              <a:rPr lang="en-GB" dirty="0">
                <a:highlight>
                  <a:srgbClr val="FFFF00"/>
                </a:highlight>
              </a:rPr>
              <a:t>organized in sequence</a:t>
            </a:r>
            <a:r>
              <a:rPr lang="en-GB" dirty="0"/>
              <a:t>, whereas in </a:t>
            </a:r>
            <a:r>
              <a:rPr lang="en-GB" dirty="0">
                <a:highlight>
                  <a:srgbClr val="FFFF00"/>
                </a:highlight>
              </a:rPr>
              <a:t>incremental development </a:t>
            </a:r>
            <a:r>
              <a:rPr lang="en-GB" dirty="0"/>
              <a:t>they are </a:t>
            </a:r>
            <a:r>
              <a:rPr lang="en-GB" dirty="0">
                <a:highlight>
                  <a:srgbClr val="FFFF00"/>
                </a:highlight>
              </a:rPr>
              <a:t>interleaved.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requirements engineering process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specification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/>
              <a:t>The process of establishing what services are required and the constraints on the system’s operation and development.</a:t>
            </a:r>
          </a:p>
          <a:p>
            <a:r>
              <a:rPr lang="en-GB" dirty="0"/>
              <a:t>Requirements engineering process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process of converting the system specification into an executable system.</a:t>
            </a:r>
          </a:p>
          <a:p>
            <a:r>
              <a:rPr lang="en-GB"/>
              <a:t>Software design</a:t>
            </a:r>
          </a:p>
          <a:p>
            <a:pPr lvl="1"/>
            <a:r>
              <a:rPr lang="en-GB"/>
              <a:t>Design a software structure that realises the specification;</a:t>
            </a:r>
          </a:p>
          <a:p>
            <a:r>
              <a:rPr lang="en-GB"/>
              <a:t>Implementation</a:t>
            </a:r>
          </a:p>
          <a:p>
            <a:pPr lvl="1"/>
            <a:r>
              <a:rPr lang="en-GB"/>
              <a:t>Translate this structure into an executable program;</a:t>
            </a:r>
          </a:p>
          <a:p>
            <a:r>
              <a:rPr lang="en-GB"/>
              <a:t>The activities of design and implementation are closely related and may be inter-leaved.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general model of the design process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Architectural design,</a:t>
            </a:r>
            <a:r>
              <a:rPr lang="en-GB" dirty="0"/>
              <a:t> where you identify the overall structure of the system,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define the interfaces between system components. </a:t>
            </a:r>
          </a:p>
          <a:p>
            <a:r>
              <a:rPr lang="en-GB" i="1" dirty="0"/>
              <a:t>Component selection and design, </a:t>
            </a:r>
            <a:r>
              <a:rPr lang="en-GB" dirty="0"/>
              <a:t>where you search for reusable components. If unavailable, you design how it will operate.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is implemented either by developing a program or programs or by configuring an application system.</a:t>
            </a:r>
          </a:p>
          <a:p>
            <a:r>
              <a:rPr lang="en-US" dirty="0"/>
              <a:t>Design and implementation are interleaved activities for most types of software system.</a:t>
            </a:r>
          </a:p>
          <a:p>
            <a:r>
              <a:rPr lang="en-US" dirty="0"/>
              <a:t>Programming is an individual activity with no standard process.</a:t>
            </a:r>
          </a:p>
          <a:p>
            <a:r>
              <a:rPr lang="en-US" dirty="0"/>
              <a:t>Debugging is the activity of finding program faults and correcting these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validation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and validation (V &amp; V) is intended to show that a system conforms to its specification 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dirty="0"/>
              <a:t>Testing is the most commonly used V &amp; V activity.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stages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functions or objects or coherent groupings of these entities.</a:t>
            </a:r>
          </a:p>
          <a:p>
            <a:r>
              <a:rPr lang="en-GB" dirty="0"/>
              <a:t>System testing</a:t>
            </a:r>
          </a:p>
          <a:p>
            <a:pPr lvl="1"/>
            <a:r>
              <a:rPr lang="en-GB" dirty="0"/>
              <a:t>Testing of the system as a whole. Testing of emergent properties is particularly important.</a:t>
            </a:r>
          </a:p>
          <a:p>
            <a:r>
              <a:rPr lang="en-GB" dirty="0"/>
              <a:t>Customer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phases in a plan-driven software process (V-model)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7" y="2186304"/>
            <a:ext cx="8647437" cy="298801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evolution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Software is inherently flexible and can change. </a:t>
            </a:r>
          </a:p>
          <a:p>
            <a:r>
              <a:rPr lang="en-GB"/>
              <a:t>As requirements change through changing business circumstances, the software that supports the business must also evolve and change.</a:t>
            </a:r>
          </a:p>
          <a:p>
            <a:r>
              <a:rPr lang="en-GB"/>
              <a:t>Although there has been a demarcation between development and evolution (maintenance) this is increasingly irrelevant as fewer and fewer systems are completely new.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064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C00000"/>
                </a:solidFill>
              </a:rPr>
              <a:t>Boehm’s Spiral Model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1654555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742950"/>
            <a:ext cx="7886700" cy="44291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Boehm’s spiral model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C00000"/>
                </a:solidFill>
              </a:rPr>
              <a:t>Process is represented as a spiral rather than as a sequence of activities with backtracking</a:t>
            </a:r>
          </a:p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Each loop in the spiral represents a phase in the process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C00000"/>
                </a:solidFill>
              </a:rPr>
              <a:t>No fixed phases such as specification or design - loops in the spiral are chosen depending on what is required</a:t>
            </a:r>
          </a:p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Risks are explicitly assessed and resolved throughout the process</a:t>
            </a:r>
          </a:p>
        </p:txBody>
      </p:sp>
    </p:spTree>
    <p:extLst>
      <p:ext uri="{BB962C8B-B14F-4D97-AF65-F5344CB8AC3E}">
        <p14:creationId xmlns:p14="http://schemas.microsoft.com/office/powerpoint/2010/main" val="1896968016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28650" y="742950"/>
            <a:ext cx="7886700" cy="578174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rgbClr val="C00000"/>
                </a:solidFill>
              </a:rPr>
              <a:t>Boehm’s spiral model of the software process </a:t>
            </a:r>
            <a:endParaRPr lang="en-US" sz="3200" dirty="0">
              <a:solidFill>
                <a:srgbClr val="C00000"/>
              </a:solidFill>
            </a:endParaRPr>
          </a:p>
        </p:txBody>
      </p:sp>
      <p:pic>
        <p:nvPicPr>
          <p:cNvPr id="4" name="Picture 3" descr="2.11 Spiral-model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078915" y="1430335"/>
            <a:ext cx="6986169" cy="475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36748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771526"/>
            <a:ext cx="7886700" cy="471488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Spiral model sectors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539875"/>
            <a:ext cx="7886700" cy="4351338"/>
          </a:xfrm>
        </p:spPr>
        <p:txBody>
          <a:bodyPr/>
          <a:lstStyle/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C00000"/>
                </a:solidFill>
              </a:rPr>
              <a:t>Objective setting</a:t>
            </a:r>
          </a:p>
          <a:p>
            <a:pPr lvl="1" algn="just"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Specific objectives for the phase are identified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C00000"/>
                </a:solidFill>
              </a:rPr>
              <a:t>Risk assessment and reduction</a:t>
            </a:r>
          </a:p>
          <a:p>
            <a:pPr lvl="1" algn="just"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Risks are assessed and activities put in place to reduce the key risks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C00000"/>
                </a:solidFill>
              </a:rPr>
              <a:t>Development and validation</a:t>
            </a:r>
          </a:p>
          <a:p>
            <a:pPr lvl="1" algn="just"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A development model for the system is chosen  which can be any of the generic models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C00000"/>
                </a:solidFill>
              </a:rPr>
              <a:t>Planning</a:t>
            </a:r>
          </a:p>
          <a:p>
            <a:pPr lvl="1" algn="just"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rgbClr val="00B050"/>
                </a:solidFill>
              </a:rPr>
              <a:t>The project is reviewed and the next phase of the spiral is planned</a:t>
            </a:r>
          </a:p>
        </p:txBody>
      </p:sp>
    </p:spTree>
    <p:extLst>
      <p:ext uri="{BB962C8B-B14F-4D97-AF65-F5344CB8AC3E}">
        <p14:creationId xmlns:p14="http://schemas.microsoft.com/office/powerpoint/2010/main" val="3565272631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85814"/>
            <a:ext cx="7886700" cy="50006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Spiral model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Spiral model has been very influential in helping people think about iteration in software processes and introducing the risk-driven approach to development</a:t>
            </a:r>
          </a:p>
          <a:p>
            <a:pPr algn="just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B050"/>
                </a:solidFill>
              </a:rPr>
              <a:t>In practice, however, the model is rarely used as published for practical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2773036618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31D88-3D60-CC68-B6E2-0A505303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DF5DA-18D2-A0CA-4AED-701D3FCF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094DD-20DF-8101-C2B6-FD16FE1B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F104E9-08B5-B47A-5B49-B2DBC6309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55684"/>
              </p:ext>
            </p:extLst>
          </p:nvPr>
        </p:nvGraphicFramePr>
        <p:xfrm>
          <a:off x="1315092" y="1825625"/>
          <a:ext cx="6883686" cy="4351339"/>
        </p:xfrm>
        <a:graphic>
          <a:graphicData uri="http://schemas.openxmlformats.org/drawingml/2006/table">
            <a:tbl>
              <a:tblPr/>
              <a:tblGrid>
                <a:gridCol w="2294562">
                  <a:extLst>
                    <a:ext uri="{9D8B030D-6E8A-4147-A177-3AD203B41FA5}">
                      <a16:colId xmlns:a16="http://schemas.microsoft.com/office/drawing/2014/main" val="549326093"/>
                    </a:ext>
                  </a:extLst>
                </a:gridCol>
                <a:gridCol w="2294562">
                  <a:extLst>
                    <a:ext uri="{9D8B030D-6E8A-4147-A177-3AD203B41FA5}">
                      <a16:colId xmlns:a16="http://schemas.microsoft.com/office/drawing/2014/main" val="3490887496"/>
                    </a:ext>
                  </a:extLst>
                </a:gridCol>
                <a:gridCol w="2294562">
                  <a:extLst>
                    <a:ext uri="{9D8B030D-6E8A-4147-A177-3AD203B41FA5}">
                      <a16:colId xmlns:a16="http://schemas.microsoft.com/office/drawing/2014/main" val="2502025694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Real-Life Example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When to Use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731556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Waterfall 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Defense or aerospace control system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When requirements are fixed, well-documented, and unlikely to change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84691"/>
                  </a:ext>
                </a:extLst>
              </a:tr>
              <a:tr h="734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Incremental 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Hospital management system (module by module)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When requirements can be divided into smaller parts and delivered in stages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598351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Spiral 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Banking software (security &amp; compliance risks)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When project is large, complex, and involves high risk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787323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V-Model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Automotive software (ABS system in cars)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When testing and validation are critical at every stage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990167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Agile 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Mobile apps (e.g., Swiggy/Zomato)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When requirements change frequently and fast delivery is needed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353836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Prototype 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E-commerce website mockup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When requirements are unclear and need user feedback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55184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RAD Model</a:t>
                      </a:r>
                      <a:endParaRPr lang="en-IN" sz="1100"/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University admission portal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When there is a strict deadline and rapid development is required</a:t>
                      </a:r>
                    </a:p>
                  </a:txBody>
                  <a:tcPr marL="56511" marR="56511" marT="28255" marB="28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981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927858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9080</TotalTime>
  <Words>1976</Words>
  <Application>Microsoft Office PowerPoint</Application>
  <PresentationFormat>On-screen Show (4:3)</PresentationFormat>
  <Paragraphs>282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Algerian</vt:lpstr>
      <vt:lpstr>Arial</vt:lpstr>
      <vt:lpstr>Calibri</vt:lpstr>
      <vt:lpstr>Wingdings</vt:lpstr>
      <vt:lpstr>SE10 slides</vt:lpstr>
      <vt:lpstr>PowerPoint Presentation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Types of reusable software</vt:lpstr>
      <vt:lpstr>Reuse-oriented software engineering</vt:lpstr>
      <vt:lpstr>Key process stages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Testing phases in a plan-driven software process (V-model)</vt:lpstr>
      <vt:lpstr>Software evolution</vt:lpstr>
      <vt:lpstr>System evolution </vt:lpstr>
      <vt:lpstr>Boehm’s Spiral Model</vt:lpstr>
      <vt:lpstr>Boehm’s spiral model</vt:lpstr>
      <vt:lpstr>Boehm’s spiral model of the software process </vt:lpstr>
      <vt:lpstr>Spiral model sectors</vt:lpstr>
      <vt:lpstr>Spiral model usage</vt:lpstr>
      <vt:lpstr>PowerPoint Presentation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DELL</cp:lastModifiedBy>
  <cp:revision>45</cp:revision>
  <dcterms:created xsi:type="dcterms:W3CDTF">2010-01-06T19:57:16Z</dcterms:created>
  <dcterms:modified xsi:type="dcterms:W3CDTF">2025-09-08T16:32:24Z</dcterms:modified>
</cp:coreProperties>
</file>