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60"/>
  </p:notesMasterIdLst>
  <p:handoutMasterIdLst>
    <p:handoutMasterId r:id="rId61"/>
  </p:handoutMasterIdLst>
  <p:sldIdLst>
    <p:sldId id="340" r:id="rId2"/>
    <p:sldId id="256" r:id="rId3"/>
    <p:sldId id="295" r:id="rId4"/>
    <p:sldId id="267" r:id="rId5"/>
    <p:sldId id="268" r:id="rId6"/>
    <p:sldId id="329" r:id="rId7"/>
    <p:sldId id="328" r:id="rId8"/>
    <p:sldId id="257" r:id="rId9"/>
    <p:sldId id="296" r:id="rId10"/>
    <p:sldId id="297" r:id="rId11"/>
    <p:sldId id="298" r:id="rId12"/>
    <p:sldId id="258" r:id="rId13"/>
    <p:sldId id="299" r:id="rId14"/>
    <p:sldId id="303" r:id="rId15"/>
    <p:sldId id="304" r:id="rId16"/>
    <p:sldId id="305" r:id="rId17"/>
    <p:sldId id="330" r:id="rId18"/>
    <p:sldId id="300" r:id="rId19"/>
    <p:sldId id="306" r:id="rId20"/>
    <p:sldId id="307" r:id="rId21"/>
    <p:sldId id="308" r:id="rId22"/>
    <p:sldId id="309" r:id="rId23"/>
    <p:sldId id="301" r:id="rId24"/>
    <p:sldId id="311" r:id="rId25"/>
    <p:sldId id="310" r:id="rId26"/>
    <p:sldId id="331" r:id="rId27"/>
    <p:sldId id="335" r:id="rId28"/>
    <p:sldId id="284" r:id="rId29"/>
    <p:sldId id="285" r:id="rId30"/>
    <p:sldId id="286" r:id="rId31"/>
    <p:sldId id="287" r:id="rId32"/>
    <p:sldId id="315" r:id="rId33"/>
    <p:sldId id="259" r:id="rId34"/>
    <p:sldId id="316" r:id="rId35"/>
    <p:sldId id="334" r:id="rId36"/>
    <p:sldId id="292" r:id="rId37"/>
    <p:sldId id="302" r:id="rId38"/>
    <p:sldId id="317" r:id="rId39"/>
    <p:sldId id="260" r:id="rId40"/>
    <p:sldId id="261" r:id="rId41"/>
    <p:sldId id="318" r:id="rId42"/>
    <p:sldId id="319" r:id="rId43"/>
    <p:sldId id="320" r:id="rId44"/>
    <p:sldId id="321" r:id="rId45"/>
    <p:sldId id="262" r:id="rId46"/>
    <p:sldId id="323" r:id="rId47"/>
    <p:sldId id="324" r:id="rId48"/>
    <p:sldId id="322" r:id="rId49"/>
    <p:sldId id="263" r:id="rId50"/>
    <p:sldId id="325" r:id="rId51"/>
    <p:sldId id="326" r:id="rId52"/>
    <p:sldId id="327" r:id="rId53"/>
    <p:sldId id="339" r:id="rId54"/>
    <p:sldId id="337" r:id="rId55"/>
    <p:sldId id="336" r:id="rId56"/>
    <p:sldId id="338" r:id="rId57"/>
    <p:sldId id="332" r:id="rId58"/>
    <p:sldId id="333"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8/19/2025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8/19/2025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316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2089512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2759349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9"/>
        <p:cNvGrpSpPr/>
        <p:nvPr/>
      </p:nvGrpSpPr>
      <p:grpSpPr>
        <a:xfrm>
          <a:off x="0" y="0"/>
          <a:ext cx="0" cy="0"/>
          <a:chOff x="0" y="0"/>
          <a:chExt cx="0" cy="0"/>
        </a:xfrm>
      </p:grpSpPr>
      <p:sp>
        <p:nvSpPr>
          <p:cNvPr id="20" name="Google Shape;20;p2"/>
          <p:cNvSpPr txBox="1">
            <a:spLocks noGrp="1"/>
          </p:cNvSpPr>
          <p:nvPr>
            <p:ph type="dt" idx="10"/>
          </p:nvPr>
        </p:nvSpPr>
        <p:spPr>
          <a:xfrm>
            <a:off x="815082" y="6401675"/>
            <a:ext cx="16972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FF0000"/>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480698" y="6430166"/>
            <a:ext cx="1381587"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000" b="1" i="0" u="none" strike="noStrike" cap="none">
                <a:solidFill>
                  <a:srgbClr val="FF0000"/>
                </a:solidFill>
                <a:latin typeface="Arial"/>
                <a:ea typeface="Arial"/>
                <a:cs typeface="Arial"/>
                <a:sym typeface="Arial"/>
              </a:defRPr>
            </a:lvl1pPr>
            <a:lvl2pPr marL="0" marR="0" lvl="1" indent="0" algn="r">
              <a:spcBef>
                <a:spcPts val="0"/>
              </a:spcBef>
              <a:spcAft>
                <a:spcPts val="0"/>
              </a:spcAft>
              <a:buNone/>
              <a:defRPr sz="1000" b="1" i="0" u="none" strike="noStrike" cap="none">
                <a:solidFill>
                  <a:srgbClr val="FF0000"/>
                </a:solidFill>
                <a:latin typeface="Arial"/>
                <a:ea typeface="Arial"/>
                <a:cs typeface="Arial"/>
                <a:sym typeface="Arial"/>
              </a:defRPr>
            </a:lvl2pPr>
            <a:lvl3pPr marL="0" marR="0" lvl="2" indent="0" algn="r">
              <a:spcBef>
                <a:spcPts val="0"/>
              </a:spcBef>
              <a:spcAft>
                <a:spcPts val="0"/>
              </a:spcAft>
              <a:buNone/>
              <a:defRPr sz="1000" b="1" i="0" u="none" strike="noStrike" cap="none">
                <a:solidFill>
                  <a:srgbClr val="FF0000"/>
                </a:solidFill>
                <a:latin typeface="Arial"/>
                <a:ea typeface="Arial"/>
                <a:cs typeface="Arial"/>
                <a:sym typeface="Arial"/>
              </a:defRPr>
            </a:lvl3pPr>
            <a:lvl4pPr marL="0" marR="0" lvl="3" indent="0" algn="r">
              <a:spcBef>
                <a:spcPts val="0"/>
              </a:spcBef>
              <a:spcAft>
                <a:spcPts val="0"/>
              </a:spcAft>
              <a:buNone/>
              <a:defRPr sz="1000" b="1" i="0" u="none" strike="noStrike" cap="none">
                <a:solidFill>
                  <a:srgbClr val="FF0000"/>
                </a:solidFill>
                <a:latin typeface="Arial"/>
                <a:ea typeface="Arial"/>
                <a:cs typeface="Arial"/>
                <a:sym typeface="Arial"/>
              </a:defRPr>
            </a:lvl4pPr>
            <a:lvl5pPr marL="0" marR="0" lvl="4" indent="0" algn="r">
              <a:spcBef>
                <a:spcPts val="0"/>
              </a:spcBef>
              <a:spcAft>
                <a:spcPts val="0"/>
              </a:spcAft>
              <a:buNone/>
              <a:defRPr sz="1000" b="1" i="0" u="none" strike="noStrike" cap="none">
                <a:solidFill>
                  <a:srgbClr val="FF0000"/>
                </a:solidFill>
                <a:latin typeface="Arial"/>
                <a:ea typeface="Arial"/>
                <a:cs typeface="Arial"/>
                <a:sym typeface="Arial"/>
              </a:defRPr>
            </a:lvl5pPr>
            <a:lvl6pPr marL="0" marR="0" lvl="5" indent="0" algn="r">
              <a:spcBef>
                <a:spcPts val="0"/>
              </a:spcBef>
              <a:spcAft>
                <a:spcPts val="0"/>
              </a:spcAft>
              <a:buNone/>
              <a:defRPr sz="1000" b="1" i="0" u="none" strike="noStrike" cap="none">
                <a:solidFill>
                  <a:srgbClr val="FF0000"/>
                </a:solidFill>
                <a:latin typeface="Arial"/>
                <a:ea typeface="Arial"/>
                <a:cs typeface="Arial"/>
                <a:sym typeface="Arial"/>
              </a:defRPr>
            </a:lvl6pPr>
            <a:lvl7pPr marL="0" marR="0" lvl="6" indent="0" algn="r">
              <a:spcBef>
                <a:spcPts val="0"/>
              </a:spcBef>
              <a:spcAft>
                <a:spcPts val="0"/>
              </a:spcAft>
              <a:buNone/>
              <a:defRPr sz="1000" b="1" i="0" u="none" strike="noStrike" cap="none">
                <a:solidFill>
                  <a:srgbClr val="FF0000"/>
                </a:solidFill>
                <a:latin typeface="Arial"/>
                <a:ea typeface="Arial"/>
                <a:cs typeface="Arial"/>
                <a:sym typeface="Arial"/>
              </a:defRPr>
            </a:lvl7pPr>
            <a:lvl8pPr marL="0" marR="0" lvl="7" indent="0" algn="r">
              <a:spcBef>
                <a:spcPts val="0"/>
              </a:spcBef>
              <a:spcAft>
                <a:spcPts val="0"/>
              </a:spcAft>
              <a:buNone/>
              <a:defRPr sz="1000" b="1" i="0" u="none" strike="noStrike" cap="none">
                <a:solidFill>
                  <a:srgbClr val="FF0000"/>
                </a:solidFill>
                <a:latin typeface="Arial"/>
                <a:ea typeface="Arial"/>
                <a:cs typeface="Arial"/>
                <a:sym typeface="Arial"/>
              </a:defRPr>
            </a:lvl8pPr>
            <a:lvl9pPr marL="0" marR="0" lvl="8" indent="0" algn="r">
              <a:spcBef>
                <a:spcPts val="0"/>
              </a:spcBef>
              <a:spcAft>
                <a:spcPts val="0"/>
              </a:spcAft>
              <a:buNone/>
              <a:defRPr sz="1000" b="1"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22" name="Google Shape;22;p2"/>
          <p:cNvPicPr preferRelativeResize="0"/>
          <p:nvPr/>
        </p:nvPicPr>
        <p:blipFill rotWithShape="1">
          <a:blip r:embed="rId2">
            <a:alphaModFix/>
          </a:blip>
          <a:srcRect/>
          <a:stretch/>
        </p:blipFill>
        <p:spPr>
          <a:xfrm>
            <a:off x="69717" y="6376338"/>
            <a:ext cx="481380" cy="472783"/>
          </a:xfrm>
          <a:prstGeom prst="rect">
            <a:avLst/>
          </a:prstGeom>
          <a:noFill/>
          <a:ln>
            <a:noFill/>
          </a:ln>
        </p:spPr>
      </p:pic>
    </p:spTree>
    <p:extLst>
      <p:ext uri="{BB962C8B-B14F-4D97-AF65-F5344CB8AC3E}">
        <p14:creationId xmlns:p14="http://schemas.microsoft.com/office/powerpoint/2010/main" val="1647273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4"/>
          <p:cNvSpPr txBox="1"/>
          <p:nvPr/>
        </p:nvSpPr>
        <p:spPr>
          <a:xfrm>
            <a:off x="1116106" y="1565564"/>
            <a:ext cx="7234518" cy="1426233"/>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3200" dirty="0">
                <a:solidFill>
                  <a:schemeClr val="dk1"/>
                </a:solidFill>
                <a:latin typeface="Algerian"/>
                <a:ea typeface="Algerian"/>
                <a:cs typeface="Algerian"/>
                <a:sym typeface="Algerian"/>
              </a:rPr>
              <a:t>bCS501</a:t>
            </a:r>
            <a:r>
              <a:rPr lang="en-IN" sz="3200" b="0" i="0" u="none" strike="noStrike" cap="none" dirty="0">
                <a:solidFill>
                  <a:schemeClr val="dk1"/>
                </a:solidFill>
                <a:latin typeface="Algerian"/>
                <a:ea typeface="Algerian"/>
                <a:cs typeface="Algerian"/>
                <a:sym typeface="Algerian"/>
              </a:rPr>
              <a:t> - Software Engineering AND PROJECT MANAGEMENT</a:t>
            </a:r>
            <a:endParaRPr sz="3200" b="0" i="0" u="none" strike="noStrike" cap="none" dirty="0">
              <a:solidFill>
                <a:schemeClr val="dk1"/>
              </a:solidFill>
              <a:latin typeface="Algerian"/>
              <a:ea typeface="Algerian"/>
              <a:cs typeface="Algerian"/>
              <a:sym typeface="Algerian"/>
            </a:endParaRPr>
          </a:p>
        </p:txBody>
      </p:sp>
      <p:sp>
        <p:nvSpPr>
          <p:cNvPr id="97" name="Google Shape;97;p14"/>
          <p:cNvSpPr txBox="1"/>
          <p:nvPr/>
        </p:nvSpPr>
        <p:spPr>
          <a:xfrm>
            <a:off x="1116106" y="3076144"/>
            <a:ext cx="7234518" cy="1200329"/>
          </a:xfrm>
          <a:prstGeom prst="rect">
            <a:avLst/>
          </a:prstGeom>
          <a:solidFill>
            <a:schemeClr val="accent2"/>
          </a:solidFill>
          <a:ln>
            <a:noFill/>
          </a:ln>
        </p:spPr>
        <p:txBody>
          <a:bodyPr spcFirstLastPara="1" wrap="square" lIns="91425" tIns="45700" rIns="91425" bIns="45700" anchor="t" anchorCtr="0">
            <a:noAutofit/>
          </a:bodyPr>
          <a:lstStyle/>
          <a:p>
            <a:pPr lvl="0" algn="ctr"/>
            <a:r>
              <a:rPr lang="en-IN" sz="2400" dirty="0">
                <a:solidFill>
                  <a:schemeClr val="dk1"/>
                </a:solidFill>
                <a:latin typeface="Algerian"/>
                <a:ea typeface="Algerian"/>
                <a:cs typeface="Algerian"/>
                <a:sym typeface="Algerian"/>
              </a:rPr>
              <a:t>Faculty: Dr.  Harish Kumar N</a:t>
            </a:r>
          </a:p>
          <a:p>
            <a:pPr lvl="0" algn="ctr"/>
            <a:r>
              <a:rPr lang="en-IN" sz="2400" dirty="0">
                <a:solidFill>
                  <a:schemeClr val="dk1"/>
                </a:solidFill>
                <a:latin typeface="Algerian"/>
                <a:ea typeface="Algerian"/>
                <a:cs typeface="Algerian"/>
                <a:sym typeface="Algerian"/>
              </a:rPr>
              <a:t>Associate Professor</a:t>
            </a:r>
            <a:endParaRPr lang="en-IN" sz="2400" dirty="0"/>
          </a:p>
          <a:p>
            <a:pPr lvl="0" algn="ctr"/>
            <a:r>
              <a:rPr lang="en-IN" sz="2400" dirty="0">
                <a:solidFill>
                  <a:schemeClr val="dk1"/>
                </a:solidFill>
                <a:latin typeface="Algerian"/>
                <a:ea typeface="Algerian"/>
                <a:cs typeface="Algerian"/>
                <a:sym typeface="Algerian"/>
              </a:rPr>
              <a:t>Dept. of ISE</a:t>
            </a:r>
          </a:p>
        </p:txBody>
      </p:sp>
    </p:spTree>
    <p:extLst>
      <p:ext uri="{BB962C8B-B14F-4D97-AF65-F5344CB8AC3E}">
        <p14:creationId xmlns:p14="http://schemas.microsoft.com/office/powerpoint/2010/main" val="287705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dirty="0"/>
              <a:t>30/10/2014</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
        <p:nvSpPr>
          <p:cNvPr id="2" name="Rectangle 1"/>
          <p:cNvSpPr/>
          <p:nvPr/>
        </p:nvSpPr>
        <p:spPr>
          <a:xfrm>
            <a:off x="700088" y="5080157"/>
            <a:ext cx="7700962" cy="923330"/>
          </a:xfrm>
          <a:prstGeom prst="rect">
            <a:avLst/>
          </a:prstGeom>
        </p:spPr>
        <p:txBody>
          <a:bodyPr wrap="square">
            <a:spAutoFit/>
          </a:bodyPr>
          <a:lstStyle/>
          <a:p>
            <a:r>
              <a:rPr lang="en-US" dirty="0"/>
              <a:t>{Gross National Product</a:t>
            </a:r>
            <a:r>
              <a:rPr lang="en-US" dirty="0">
                <a:solidFill>
                  <a:srgbClr val="001D35"/>
                </a:solidFill>
                <a:latin typeface="Google Sans"/>
              </a:rPr>
              <a:t>, is an economic metric that measures the total value of all final goods and services produced by a country's residents within a specific time frame.}</a:t>
            </a:r>
            <a:endParaRPr lang="en-IN" dirty="0"/>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solidFill>
                  <a:srgbClr val="FF0000"/>
                </a:solidFill>
              </a:rPr>
              <a:t>Software specification</a:t>
            </a:r>
            <a:r>
              <a:rPr lang="en-GB" dirty="0"/>
              <a:t>, where customers and engineers define the software that is to be produced and the constraints on its operation.</a:t>
            </a:r>
          </a:p>
          <a:p>
            <a:r>
              <a:rPr lang="en-GB" b="1" dirty="0">
                <a:solidFill>
                  <a:srgbClr val="FF0000"/>
                </a:solidFill>
              </a:rPr>
              <a:t>Software development</a:t>
            </a:r>
            <a:r>
              <a:rPr lang="en-GB" dirty="0"/>
              <a:t>, where the software is designed and programmed.</a:t>
            </a:r>
          </a:p>
          <a:p>
            <a:r>
              <a:rPr lang="en-GB" b="1" dirty="0">
                <a:solidFill>
                  <a:srgbClr val="FF0000"/>
                </a:solidFill>
              </a:rPr>
              <a:t>Software validation</a:t>
            </a:r>
            <a:r>
              <a:rPr lang="en-GB" dirty="0"/>
              <a:t>, where the software is checked to ensure that it is what the customer requires.</a:t>
            </a:r>
          </a:p>
          <a:p>
            <a:r>
              <a:rPr lang="en-GB" b="1" dirty="0">
                <a:solidFill>
                  <a:srgbClr val="FF0000"/>
                </a:solidFill>
              </a:rPr>
              <a:t>Software evolution</a:t>
            </a:r>
            <a:r>
              <a:rPr lang="en-GB" dirty="0"/>
              <a:t>,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b="1" dirty="0">
                <a:solidFill>
                  <a:srgbClr val="FF0000"/>
                </a:solidFill>
              </a:rPr>
              <a:t>Heterogeneity </a:t>
            </a:r>
          </a:p>
          <a:p>
            <a:pPr lvl="1" algn="just"/>
            <a:r>
              <a:rPr lang="en-GB" dirty="0"/>
              <a:t>Increasingly, systems are required to operate as distributed systems across networks that include different types of computer and mobile devices. </a:t>
            </a:r>
          </a:p>
          <a:p>
            <a:r>
              <a:rPr lang="en-GB" b="1" dirty="0">
                <a:solidFill>
                  <a:srgbClr val="FF0000"/>
                </a:solidFill>
              </a:rPr>
              <a:t>Business and social change </a:t>
            </a:r>
          </a:p>
          <a:p>
            <a:pPr lvl="1" algn="just"/>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b="1" dirty="0">
                <a:solidFill>
                  <a:srgbClr val="FF0000"/>
                </a:solidFill>
              </a:rPr>
              <a:t>Security and trust </a:t>
            </a:r>
          </a:p>
          <a:p>
            <a:pPr lvl="1" algn="just"/>
            <a:r>
              <a:rPr lang="en-GB" dirty="0"/>
              <a:t>As software is intertwined with all aspects of our lives, it is essential that we can trust that software. </a:t>
            </a:r>
          </a:p>
          <a:p>
            <a:r>
              <a:rPr lang="en-GB" b="1" dirty="0">
                <a:solidFill>
                  <a:srgbClr val="FF0000"/>
                </a:solidFill>
              </a:rPr>
              <a:t>Scale</a:t>
            </a:r>
          </a:p>
          <a:p>
            <a:pPr lvl="1" algn="just"/>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pPr algn="just"/>
            <a:r>
              <a:rPr lang="en-US" dirty="0"/>
              <a:t>The software engineering methods and tools used depend on the </a:t>
            </a:r>
            <a:r>
              <a:rPr lang="en-US" dirty="0">
                <a:solidFill>
                  <a:srgbClr val="FF0000"/>
                </a:solidFill>
              </a:rPr>
              <a:t>type of application being developed</a:t>
            </a:r>
            <a:r>
              <a:rPr lang="en-US" dirty="0"/>
              <a:t>, the </a:t>
            </a:r>
            <a:r>
              <a:rPr lang="en-US" dirty="0">
                <a:solidFill>
                  <a:srgbClr val="FF0000"/>
                </a:solidFill>
              </a:rPr>
              <a:t>requirements of the customer </a:t>
            </a:r>
            <a:r>
              <a:rPr lang="en-US" dirty="0"/>
              <a:t>and the </a:t>
            </a:r>
            <a:r>
              <a:rPr lang="en-US" dirty="0">
                <a:solidFill>
                  <a:srgbClr val="FF0000"/>
                </a:solidFill>
              </a:rPr>
              <a:t>background of the development team</a:t>
            </a:r>
            <a:r>
              <a:rPr lang="en-US" dirty="0"/>
              <a:t>.</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b="1" dirty="0">
                <a:solidFill>
                  <a:srgbClr val="FF0000"/>
                </a:solidFill>
              </a:rPr>
              <a:t>Stand-alone applications </a:t>
            </a:r>
          </a:p>
          <a:p>
            <a:pPr lvl="1" algn="just"/>
            <a:r>
              <a:rPr lang="en-GB" dirty="0"/>
              <a:t>These are application systems that run on a local computer, such as a PC. They include all necessary functionality and do </a:t>
            </a:r>
            <a:r>
              <a:rPr lang="en-GB" dirty="0">
                <a:solidFill>
                  <a:srgbClr val="FF0000"/>
                </a:solidFill>
              </a:rPr>
              <a:t>not need to be connected to a network</a:t>
            </a:r>
            <a:r>
              <a:rPr lang="en-GB" dirty="0"/>
              <a:t>. </a:t>
            </a:r>
          </a:p>
          <a:p>
            <a:r>
              <a:rPr lang="en-GB" b="1" dirty="0">
                <a:solidFill>
                  <a:srgbClr val="FF0000"/>
                </a:solidFill>
              </a:rPr>
              <a:t>Interactive transaction-based applications</a:t>
            </a:r>
            <a:r>
              <a:rPr lang="en-GB" i="1" dirty="0"/>
              <a:t> </a:t>
            </a:r>
          </a:p>
          <a:p>
            <a:pPr lvl="1" algn="just"/>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b="1" dirty="0">
                <a:solidFill>
                  <a:srgbClr val="FF0000"/>
                </a:solidFill>
              </a:rPr>
              <a:t>Embedded control systems </a:t>
            </a:r>
          </a:p>
          <a:p>
            <a:pPr lvl="1" algn="just"/>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b="1" dirty="0">
                <a:solidFill>
                  <a:srgbClr val="FF0000"/>
                </a:solidFill>
              </a:rPr>
              <a:t>Batch processing systems </a:t>
            </a:r>
          </a:p>
          <a:p>
            <a:pPr lvl="1" algn="just"/>
            <a:r>
              <a:rPr lang="en-GB" dirty="0"/>
              <a:t>These are business systems that are designed to process data in large batches. They process large numbers of individual inputs to create corresponding outputs. </a:t>
            </a:r>
          </a:p>
          <a:p>
            <a:r>
              <a:rPr lang="en-GB" b="1" dirty="0">
                <a:solidFill>
                  <a:srgbClr val="FF0000"/>
                </a:solidFill>
              </a:rPr>
              <a:t>Entertainment systems </a:t>
            </a:r>
          </a:p>
          <a:p>
            <a:pPr lvl="1"/>
            <a:r>
              <a:rPr lang="en-GB" dirty="0"/>
              <a:t>These are systems that are primarily for personal use and which are intended to entertain the user. </a:t>
            </a:r>
          </a:p>
          <a:p>
            <a:r>
              <a:rPr lang="en-GB" b="1" dirty="0">
                <a:solidFill>
                  <a:srgbClr val="FF0000"/>
                </a:solidFill>
              </a:rPr>
              <a:t>Systems for </a:t>
            </a:r>
            <a:r>
              <a:rPr lang="en-GB" b="1" dirty="0" err="1">
                <a:solidFill>
                  <a:srgbClr val="FF0000"/>
                </a:solidFill>
              </a:rPr>
              <a:t>modeling</a:t>
            </a:r>
            <a:r>
              <a:rPr lang="en-GB" b="1" dirty="0">
                <a:solidFill>
                  <a:srgbClr val="FF0000"/>
                </a:solidFill>
              </a:rPr>
              <a:t> and simulation </a:t>
            </a:r>
          </a:p>
          <a:p>
            <a:pPr lvl="1" algn="just"/>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b="1" dirty="0">
                <a:solidFill>
                  <a:srgbClr val="FF0000"/>
                </a:solidFill>
              </a:rPr>
              <a:t>Data collection systems </a:t>
            </a:r>
            <a:r>
              <a:rPr lang="en-GB" i="1" dirty="0"/>
              <a:t>	</a:t>
            </a:r>
          </a:p>
          <a:p>
            <a:pPr lvl="1"/>
            <a:r>
              <a:rPr lang="en-GB" dirty="0"/>
              <a:t>These are systems that collect data from their environment using a set of sensors and send that data to other systems for processing. </a:t>
            </a:r>
          </a:p>
          <a:p>
            <a:r>
              <a:rPr lang="en-GB" b="1" dirty="0">
                <a:solidFill>
                  <a:srgbClr val="FF0000"/>
                </a:solidFill>
              </a:rPr>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a:t>
            </a:r>
            <a:r>
              <a:rPr lang="en-GB" dirty="0">
                <a:solidFill>
                  <a:srgbClr val="FF0000"/>
                </a:solidFill>
              </a:rPr>
              <a:t>managed and understood development process</a:t>
            </a:r>
            <a:r>
              <a:rPr lang="en-GB" dirty="0"/>
              <a:t>. Of course, different processes are used for different types of software.</a:t>
            </a:r>
          </a:p>
          <a:p>
            <a:pPr lvl="1"/>
            <a:r>
              <a:rPr lang="en-GB" dirty="0">
                <a:solidFill>
                  <a:srgbClr val="FF0000"/>
                </a:solidFill>
              </a:rPr>
              <a:t>Dependability and performance </a:t>
            </a:r>
            <a:r>
              <a:rPr lang="en-GB" dirty="0"/>
              <a:t>are important for all types of system. </a:t>
            </a:r>
          </a:p>
          <a:p>
            <a:pPr lvl="1"/>
            <a:r>
              <a:rPr lang="en-GB" dirty="0"/>
              <a:t>Understanding and managing the </a:t>
            </a:r>
            <a:r>
              <a:rPr lang="en-GB" dirty="0">
                <a:solidFill>
                  <a:srgbClr val="FF0000"/>
                </a:solidFill>
              </a:rPr>
              <a:t>software specification and requirements </a:t>
            </a:r>
            <a:r>
              <a:rPr lang="en-GB" dirty="0"/>
              <a:t>(what the software should do) are important. </a:t>
            </a:r>
          </a:p>
          <a:p>
            <a:pPr lvl="1"/>
            <a:r>
              <a:rPr lang="en-GB" dirty="0"/>
              <a:t>Where appropriate, you should </a:t>
            </a:r>
            <a:r>
              <a:rPr lang="en-GB" dirty="0">
                <a:solidFill>
                  <a:srgbClr val="FF0000"/>
                </a:solidFill>
              </a:rPr>
              <a:t>reuse software that has already been developed </a:t>
            </a:r>
            <a:r>
              <a:rPr lang="en-GB" dirty="0"/>
              <a:t>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dirty="0"/>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a:t>
            </a:r>
            <a:r>
              <a:rPr lang="en-US" dirty="0">
                <a:solidFill>
                  <a:srgbClr val="FF0000"/>
                </a:solidFill>
              </a:rPr>
              <a:t>web-based systems</a:t>
            </a:r>
            <a:r>
              <a:rPr lang="en-US" dirty="0"/>
              <a:t> rather than local systems.</a:t>
            </a:r>
          </a:p>
          <a:p>
            <a:r>
              <a:rPr lang="en-US" dirty="0"/>
              <a:t>Web services (discussed in Chapter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  </a:t>
            </a:r>
          </a:p>
          <a:p>
            <a:r>
              <a:rPr lang="en-GB" dirty="0"/>
              <a:t>Rich interfaces</a:t>
            </a:r>
          </a:p>
          <a:p>
            <a:pPr lvl="1"/>
            <a:r>
              <a:rPr lang="en-GB" dirty="0"/>
              <a:t>Interface development technologies such as AJAX and HTML5 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27</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pPr algn="just"/>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gn="just">
              <a:lnSpc>
                <a:spcPct val="90000"/>
              </a:lnSpc>
            </a:pPr>
            <a:r>
              <a:rPr lang="en-GB" dirty="0"/>
              <a:t>The </a:t>
            </a:r>
            <a:r>
              <a:rPr lang="en-GB" dirty="0">
                <a:solidFill>
                  <a:srgbClr val="FF0000"/>
                </a:solidFill>
              </a:rPr>
              <a:t>professional societies </a:t>
            </a:r>
            <a:r>
              <a:rPr lang="en-GB" dirty="0"/>
              <a:t>in the US have cooperated to produce a code of ethical practice.</a:t>
            </a:r>
          </a:p>
          <a:p>
            <a:pPr algn="just">
              <a:lnSpc>
                <a:spcPct val="90000"/>
              </a:lnSpc>
            </a:pPr>
            <a:r>
              <a:rPr lang="en-GB" dirty="0"/>
              <a:t>Members of these organisations sign up to the </a:t>
            </a:r>
            <a:r>
              <a:rPr lang="en-GB" dirty="0">
                <a:solidFill>
                  <a:srgbClr val="FF0000"/>
                </a:solidFill>
              </a:rPr>
              <a:t>code of practice when they join</a:t>
            </a:r>
            <a:r>
              <a:rPr lang="en-GB" dirty="0"/>
              <a:t>.</a:t>
            </a:r>
          </a:p>
          <a:p>
            <a:pPr algn="just">
              <a:lnSpc>
                <a:spcPct val="90000"/>
              </a:lnSpc>
            </a:pPr>
            <a:r>
              <a:rPr lang="en-GB" dirty="0"/>
              <a:t>The </a:t>
            </a:r>
            <a:r>
              <a:rPr lang="en-GB" dirty="0">
                <a:solidFill>
                  <a:srgbClr val="FF0000"/>
                </a:solidFill>
              </a:rPr>
              <a:t>Code contains eight Principles </a:t>
            </a:r>
            <a:r>
              <a:rPr lang="en-GB" dirty="0"/>
              <a:t>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a:xfrm>
            <a:off x="300038" y="1600200"/>
            <a:ext cx="8229600" cy="4525963"/>
          </a:xfrm>
        </p:spPr>
        <p:txBody>
          <a:bodyPr/>
          <a:lstStyle/>
          <a:p>
            <a:pPr lvl="1" algn="just"/>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lgn="just"/>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34</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0722"/>
            <a:ext cx="8229600" cy="1143000"/>
          </a:xfrm>
        </p:spPr>
        <p:txBody>
          <a:bodyPr/>
          <a:lstStyle/>
          <a:p>
            <a:pPr algn="ctr"/>
            <a:r>
              <a:rPr lang="en-US" dirty="0"/>
              <a:t>Case studies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35</a:t>
            </a:fld>
            <a:endParaRPr lang="en-US"/>
          </a:p>
        </p:txBody>
      </p:sp>
    </p:spTree>
    <p:extLst>
      <p:ext uri="{BB962C8B-B14F-4D97-AF65-F5344CB8AC3E}">
        <p14:creationId xmlns:p14="http://schemas.microsoft.com/office/powerpoint/2010/main" val="3981197308"/>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 </a:t>
            </a:r>
          </a:p>
          <a:p>
            <a:pPr lvl="1"/>
            <a:r>
              <a:rPr lang="en-US" dirty="0"/>
              <a:t>Mentcare. 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a:p>
            <a:r>
              <a:rPr lang="en-US" dirty="0" err="1"/>
              <a:t>iLearn</a:t>
            </a:r>
            <a:r>
              <a:rPr lang="en-US" dirty="0"/>
              <a:t>: a digital learning environment</a:t>
            </a:r>
          </a:p>
          <a:p>
            <a:pPr lvl="1"/>
            <a:r>
              <a:rPr lang="en-US" dirty="0"/>
              <a:t>A system to support learning in schools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38</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a:t>
            </a:r>
          </a:p>
        </p:txBody>
      </p:sp>
      <p:sp>
        <p:nvSpPr>
          <p:cNvPr id="3" name="Content Placeholder 2"/>
          <p:cNvSpPr>
            <a:spLocks noGrp="1"/>
          </p:cNvSpPr>
          <p:nvPr>
            <p:ph idx="1"/>
          </p:nvPr>
        </p:nvSpPr>
        <p:spPr/>
        <p:txBody>
          <a:bodyPr/>
          <a:lstStyle/>
          <a:p>
            <a:r>
              <a:rPr lang="en-GB" dirty="0"/>
              <a:t>Mentcare is an information system that is intended for use in clinics. </a:t>
            </a:r>
          </a:p>
          <a:p>
            <a:r>
              <a:rPr lang="en-GB" dirty="0"/>
              <a:t>It makes use of a centralized database of patient information but has also been designed to run on a PC, so that it may be accessed and used from sites that do not have secure network connectivity. </a:t>
            </a:r>
          </a:p>
          <a:p>
            <a:r>
              <a:rPr lang="en-GB" dirty="0"/>
              <a:t>When the local systems have secure network access, they use patient information in the database but they can download and use local copies of patient records when they are disconnected.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goals</a:t>
            </a:r>
          </a:p>
        </p:txBody>
      </p:sp>
      <p:sp>
        <p:nvSpPr>
          <p:cNvPr id="3" name="Content Placeholder 2"/>
          <p:cNvSpPr>
            <a:spLocks noGrp="1"/>
          </p:cNvSpPr>
          <p:nvPr>
            <p:ph idx="1"/>
          </p:nvPr>
        </p:nvSpPr>
        <p:spPr/>
        <p:txBody>
          <a:bodyPr/>
          <a:lstStyle/>
          <a:p>
            <a:r>
              <a:rPr lang="en-GB" dirty="0"/>
              <a:t>To generate management information that allows health service managers to assess performance against local and government targets.</a:t>
            </a:r>
          </a:p>
          <a:p>
            <a:r>
              <a:rPr lang="en-GB" dirty="0"/>
              <a:t>To provide medical staff with timely information to support the treatment of patients.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44</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Mentcare system</a:t>
            </a:r>
            <a:endParaRPr lang="en-US" dirty="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799" y="1784350"/>
            <a:ext cx="5071533" cy="4259210"/>
          </a:xfrm>
          <a:prstGeom prst="rect">
            <a:avLst/>
          </a:prstGeom>
        </p:spPr>
      </p:pic>
      <p:sp>
        <p:nvSpPr>
          <p:cNvPr id="4" name="Footer Placeholder 3"/>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 of the Mentcare system</a:t>
            </a:r>
          </a:p>
        </p:txBody>
      </p:sp>
      <p:sp>
        <p:nvSpPr>
          <p:cNvPr id="3" name="Content Placeholder 2"/>
          <p:cNvSpPr>
            <a:spLocks noGrp="1"/>
          </p:cNvSpPr>
          <p:nvPr>
            <p:ph idx="1"/>
          </p:nvPr>
        </p:nvSpPr>
        <p:spPr>
          <a:xfrm>
            <a:off x="457200" y="1600200"/>
            <a:ext cx="8473992" cy="4525963"/>
          </a:xfrm>
        </p:spPr>
        <p:txBody>
          <a:bodyPr/>
          <a:lstStyle/>
          <a:p>
            <a:r>
              <a:rPr lang="en-GB" dirty="0"/>
              <a:t>Individual care management </a:t>
            </a:r>
          </a:p>
          <a:p>
            <a:pPr lvl="1"/>
            <a:r>
              <a:rPr lang="en-GB" dirty="0"/>
              <a:t>Clinicians can create records for patients, edit the information in the system, view patient history, etc. The system supports data summaries so that doctors can quickly learn about the key problems and treatments that have been prescribed.</a:t>
            </a:r>
          </a:p>
          <a:p>
            <a:r>
              <a:rPr lang="en-GB" dirty="0"/>
              <a:t>Patient monitoring </a:t>
            </a:r>
          </a:p>
          <a:p>
            <a:pPr lvl="1"/>
            <a:r>
              <a:rPr lang="en-GB" dirty="0"/>
              <a:t>The system monitors the records of patients that are involved in treatment and issues warnings if possible problems are detected. </a:t>
            </a:r>
          </a:p>
          <a:p>
            <a:r>
              <a:rPr lang="en-GB" dirty="0"/>
              <a:t>Administrative reporting </a:t>
            </a:r>
          </a:p>
          <a:p>
            <a:pPr lvl="1"/>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system concerns</a:t>
            </a:r>
          </a:p>
        </p:txBody>
      </p:sp>
      <p:sp>
        <p:nvSpPr>
          <p:cNvPr id="3" name="Content Placeholder 2"/>
          <p:cNvSpPr>
            <a:spLocks noGrp="1"/>
          </p:cNvSpPr>
          <p:nvPr>
            <p:ph idx="1"/>
          </p:nvPr>
        </p:nvSpPr>
        <p:spPr/>
        <p:txBody>
          <a:bodyPr/>
          <a:lstStyle/>
          <a:p>
            <a:r>
              <a:rPr lang="en-US" dirty="0"/>
              <a:t>Privacy</a:t>
            </a:r>
          </a:p>
          <a:p>
            <a:pPr lvl="1"/>
            <a:r>
              <a:rPr lang="en-GB" dirty="0"/>
              <a:t>It is essential that patient information is confidential and is never disclosed to anyone apart from authorised medical staff and the patient themselves. </a:t>
            </a:r>
            <a:endParaRPr lang="en-US" dirty="0"/>
          </a:p>
          <a:p>
            <a:r>
              <a:rPr lang="en-US" dirty="0"/>
              <a:t>Safety</a:t>
            </a:r>
          </a:p>
          <a:p>
            <a:pPr lvl="1"/>
            <a:r>
              <a:rPr lang="en-GB" dirty="0"/>
              <a:t>Some mental illnesses cause patients to become suicidal or a danger to other people. Wherever possible, the system should warn medical staff about potentially suicidal or dangerous patients. </a:t>
            </a:r>
          </a:p>
          <a:p>
            <a:pPr lvl="1"/>
            <a:r>
              <a:rPr lang="en-GB" dirty="0"/>
              <a:t>The system must be available when needed otherwise safety may be compromised and it may be impossible to prescribe the correct medication to patients.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48</a:t>
            </a:fld>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49</a:t>
            </a:fld>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50</a:t>
            </a:fld>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51</a:t>
            </a:fld>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 digital learning environment</a:t>
            </a:r>
          </a:p>
        </p:txBody>
      </p:sp>
      <p:sp>
        <p:nvSpPr>
          <p:cNvPr id="3" name="Content Placeholder 2"/>
          <p:cNvSpPr>
            <a:spLocks noGrp="1"/>
          </p:cNvSpPr>
          <p:nvPr>
            <p:ph idx="1"/>
          </p:nvPr>
        </p:nvSpPr>
        <p:spPr/>
        <p:txBody>
          <a:bodyPr/>
          <a:lstStyle/>
          <a:p>
            <a:r>
              <a:rPr lang="en-GB" dirty="0"/>
              <a:t>A digital learning environment is a framework in which a set of general-purpose and specially designed tools for learning may be embedded plus a set of applications that are geared to the needs of the learners using the system. </a:t>
            </a:r>
          </a:p>
          <a:p>
            <a:r>
              <a:rPr lang="en-GB" dirty="0"/>
              <a:t>The tools included in each version of the environment are chosen by teachers and learners to suit their specific needs. </a:t>
            </a:r>
          </a:p>
          <a:p>
            <a:pPr lvl="1"/>
            <a:r>
              <a:rPr lang="en-GB" dirty="0"/>
              <a:t>These can be general applications such as </a:t>
            </a:r>
            <a:r>
              <a:rPr lang="en-GB" dirty="0" err="1"/>
              <a:t>spreadsheets</a:t>
            </a:r>
            <a:r>
              <a:rPr lang="en-GB" dirty="0"/>
              <a:t>,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52</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systems</a:t>
            </a:r>
          </a:p>
        </p:txBody>
      </p:sp>
      <p:sp>
        <p:nvSpPr>
          <p:cNvPr id="3" name="Content Placeholder 2"/>
          <p:cNvSpPr>
            <a:spLocks noGrp="1"/>
          </p:cNvSpPr>
          <p:nvPr>
            <p:ph idx="1"/>
          </p:nvPr>
        </p:nvSpPr>
        <p:spPr/>
        <p:txBody>
          <a:bodyPr/>
          <a:lstStyle/>
          <a:p>
            <a:r>
              <a:rPr lang="en-GB" dirty="0"/>
              <a:t>The system is a service-oriented system with all system components considered to be a replaceable service.</a:t>
            </a:r>
          </a:p>
          <a:p>
            <a:r>
              <a:rPr lang="en-GB" dirty="0"/>
              <a:t>This allows the system to be updated incrementally as new services become available.</a:t>
            </a:r>
          </a:p>
          <a:p>
            <a:r>
              <a:rPr lang="en-GB" dirty="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53</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services</a:t>
            </a:r>
          </a:p>
        </p:txBody>
      </p:sp>
      <p:sp>
        <p:nvSpPr>
          <p:cNvPr id="3" name="Content Placeholder 2"/>
          <p:cNvSpPr>
            <a:spLocks noGrp="1"/>
          </p:cNvSpPr>
          <p:nvPr>
            <p:ph idx="1"/>
          </p:nvPr>
        </p:nvSpPr>
        <p:spPr/>
        <p:txBody>
          <a:bodyPr/>
          <a:lstStyle/>
          <a:p>
            <a:r>
              <a:rPr lang="en-GB" i="1" dirty="0"/>
              <a:t>Utility services</a:t>
            </a:r>
            <a:r>
              <a:rPr lang="en-GB" dirty="0"/>
              <a:t> that provide basic application-independent functionality and which may be used by other services in the system. </a:t>
            </a:r>
          </a:p>
          <a:p>
            <a:r>
              <a:rPr lang="en-GB" i="1" dirty="0"/>
              <a:t>Application services</a:t>
            </a:r>
            <a:r>
              <a:rPr lang="en-GB" dirty="0"/>
              <a:t> that provide specific applications such as email, conferencing, photo sharing etc. and access to specific educational content such as scientific films or historical resources. </a:t>
            </a:r>
          </a:p>
          <a:p>
            <a:r>
              <a:rPr lang="en-GB" i="1" dirty="0"/>
              <a:t>Configuration services</a:t>
            </a:r>
            <a:r>
              <a:rPr lang="en-GB" dirty="0"/>
              <a:t> 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54</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architecture</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55</a:t>
            </a:fld>
            <a:endParaRPr lang="en-US"/>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 integration</a:t>
            </a:r>
          </a:p>
        </p:txBody>
      </p:sp>
      <p:sp>
        <p:nvSpPr>
          <p:cNvPr id="3" name="Content Placeholder 2"/>
          <p:cNvSpPr>
            <a:spLocks noGrp="1"/>
          </p:cNvSpPr>
          <p:nvPr>
            <p:ph idx="1"/>
          </p:nvPr>
        </p:nvSpPr>
        <p:spPr/>
        <p:txBody>
          <a:bodyPr/>
          <a:lstStyle/>
          <a:p>
            <a:r>
              <a:rPr lang="en-US" i="1" dirty="0"/>
              <a:t>Integrated services </a:t>
            </a:r>
            <a:r>
              <a:rPr lang="en-US" dirty="0"/>
              <a:t>are services which offer an API (application programming interface) and which can be accessed by other services through that API.  Direct service-to-service communication is therefore possible. </a:t>
            </a:r>
          </a:p>
          <a:p>
            <a:r>
              <a:rPr lang="en-US" i="1" dirty="0"/>
              <a:t>Independent services</a:t>
            </a:r>
            <a:r>
              <a:rPr lang="en-US" dirty="0"/>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a:t>
            </a:r>
            <a:r>
              <a:rPr lang="en-GB" dirty="0"/>
              <a:t>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56</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57</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58</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2109</TotalTime>
  <Words>4482</Words>
  <Application>Microsoft Office PowerPoint</Application>
  <PresentationFormat>On-screen Show (4:3)</PresentationFormat>
  <Paragraphs>452</Paragraphs>
  <Slides>58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Algerian</vt:lpstr>
      <vt:lpstr>Arial</vt:lpstr>
      <vt:lpstr>Calibri</vt:lpstr>
      <vt:lpstr>Google Sans</vt:lpstr>
      <vt:lpstr>Wingdings</vt:lpstr>
      <vt:lpstr>SE10 slides</vt:lpstr>
      <vt:lpstr>PowerPoint Presentation</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Case studies</vt:lpstr>
      <vt:lpstr>Ethical dilemmas</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DELL</cp:lastModifiedBy>
  <cp:revision>47</cp:revision>
  <dcterms:created xsi:type="dcterms:W3CDTF">2009-12-29T10:39:27Z</dcterms:created>
  <dcterms:modified xsi:type="dcterms:W3CDTF">2025-08-19T04:10:18Z</dcterms:modified>
</cp:coreProperties>
</file>